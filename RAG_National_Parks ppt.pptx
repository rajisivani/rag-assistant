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7"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99EFE0-176C-BF40-ADAF-142FB9854DB4}" v="9" dt="2026-03-11T14:28:33.799"/>
    <p1510:client id="{F09C9169-75F0-4253-B302-F1AABC6102BC}" v="80" dt="2026-03-11T16:58:19.9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11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rugesan, Raji Sivani" userId="S::dal373069@utdallas.edu::84081fa7-4f08-486b-9a31-d35702a060e4" providerId="AD" clId="Web-{43836371-7549-631A-B4ED-D2882F2BE7A4}"/>
    <pc:docChg chg="modSld">
      <pc:chgData name="Murugesan, Raji Sivani" userId="S::dal373069@utdallas.edu::84081fa7-4f08-486b-9a31-d35702a060e4" providerId="AD" clId="Web-{43836371-7549-631A-B4ED-D2882F2BE7A4}" dt="2026-03-11T13:33:49.324" v="220"/>
      <pc:docMkLst>
        <pc:docMk/>
      </pc:docMkLst>
      <pc:sldChg chg="modNotes">
        <pc:chgData name="Murugesan, Raji Sivani" userId="S::dal373069@utdallas.edu::84081fa7-4f08-486b-9a31-d35702a060e4" providerId="AD" clId="Web-{43836371-7549-631A-B4ED-D2882F2BE7A4}" dt="2026-03-11T04:52:24.433" v="193"/>
        <pc:sldMkLst>
          <pc:docMk/>
          <pc:sldMk cId="0" sldId="256"/>
        </pc:sldMkLst>
      </pc:sldChg>
      <pc:sldChg chg="modNotes">
        <pc:chgData name="Murugesan, Raji Sivani" userId="S::dal373069@utdallas.edu::84081fa7-4f08-486b-9a31-d35702a060e4" providerId="AD" clId="Web-{43836371-7549-631A-B4ED-D2882F2BE7A4}" dt="2026-03-11T04:15:01.773" v="94"/>
        <pc:sldMkLst>
          <pc:docMk/>
          <pc:sldMk cId="0" sldId="265"/>
        </pc:sldMkLst>
      </pc:sldChg>
      <pc:sldChg chg="modNotes">
        <pc:chgData name="Murugesan, Raji Sivani" userId="S::dal373069@utdallas.edu::84081fa7-4f08-486b-9a31-d35702a060e4" providerId="AD" clId="Web-{43836371-7549-631A-B4ED-D2882F2BE7A4}" dt="2026-03-11T13:33:49.324" v="220"/>
        <pc:sldMkLst>
          <pc:docMk/>
          <pc:sldMk cId="0" sldId="267"/>
        </pc:sldMkLst>
      </pc:sldChg>
    </pc:docChg>
  </pc:docChgLst>
  <pc:docChgLst>
    <pc:chgData name="Murugesan, Raji Sivani" userId="S::dal373069@utdallas.edu::84081fa7-4f08-486b-9a31-d35702a060e4" providerId="AD" clId="Web-{0834A8F7-E945-F2DC-3D92-A9085BDBF919}"/>
    <pc:docChg chg="modSld">
      <pc:chgData name="Murugesan, Raji Sivani" userId="S::dal373069@utdallas.edu::84081fa7-4f08-486b-9a31-d35702a060e4" providerId="AD" clId="Web-{0834A8F7-E945-F2DC-3D92-A9085BDBF919}" dt="2026-03-04T14:42:13.515" v="81"/>
      <pc:docMkLst>
        <pc:docMk/>
      </pc:docMkLst>
      <pc:sldChg chg="modSp modNotes">
        <pc:chgData name="Murugesan, Raji Sivani" userId="S::dal373069@utdallas.edu::84081fa7-4f08-486b-9a31-d35702a060e4" providerId="AD" clId="Web-{0834A8F7-E945-F2DC-3D92-A9085BDBF919}" dt="2026-03-04T14:42:13.515" v="81"/>
        <pc:sldMkLst>
          <pc:docMk/>
          <pc:sldMk cId="0" sldId="257"/>
        </pc:sldMkLst>
        <pc:spChg chg="mod">
          <ac:chgData name="Murugesan, Raji Sivani" userId="S::dal373069@utdallas.edu::84081fa7-4f08-486b-9a31-d35702a060e4" providerId="AD" clId="Web-{0834A8F7-E945-F2DC-3D92-A9085BDBF919}" dt="2026-03-04T14:41:06.639" v="77" actId="20577"/>
          <ac:spMkLst>
            <pc:docMk/>
            <pc:sldMk cId="0" sldId="257"/>
            <ac:spMk id="23" creationId="{00000000-0000-0000-0000-000000000000}"/>
          </ac:spMkLst>
        </pc:spChg>
        <pc:spChg chg="mod">
          <ac:chgData name="Murugesan, Raji Sivani" userId="S::dal373069@utdallas.edu::84081fa7-4f08-486b-9a31-d35702a060e4" providerId="AD" clId="Web-{0834A8F7-E945-F2DC-3D92-A9085BDBF919}" dt="2026-03-04T14:41:32.389" v="79" actId="20577"/>
          <ac:spMkLst>
            <pc:docMk/>
            <pc:sldMk cId="0" sldId="257"/>
            <ac:spMk id="24" creationId="{00000000-0000-0000-0000-000000000000}"/>
          </ac:spMkLst>
        </pc:spChg>
      </pc:sldChg>
      <pc:sldChg chg="modNotes">
        <pc:chgData name="Murugesan, Raji Sivani" userId="S::dal373069@utdallas.edu::84081fa7-4f08-486b-9a31-d35702a060e4" providerId="AD" clId="Web-{0834A8F7-E945-F2DC-3D92-A9085BDBF919}" dt="2026-03-04T14:32:33.051" v="53"/>
        <pc:sldMkLst>
          <pc:docMk/>
          <pc:sldMk cId="0" sldId="265"/>
        </pc:sldMkLst>
      </pc:sldChg>
      <pc:sldChg chg="modNotes">
        <pc:chgData name="Murugesan, Raji Sivani" userId="S::dal373069@utdallas.edu::84081fa7-4f08-486b-9a31-d35702a060e4" providerId="AD" clId="Web-{0834A8F7-E945-F2DC-3D92-A9085BDBF919}" dt="2026-03-04T14:39:52.340" v="62"/>
        <pc:sldMkLst>
          <pc:docMk/>
          <pc:sldMk cId="0" sldId="267"/>
        </pc:sldMkLst>
      </pc:sldChg>
    </pc:docChg>
  </pc:docChgLst>
  <pc:docChgLst>
    <pc:chgData name="Rameshbabu, Naveenkumar" userId="bc17b6a5-67e4-48a7-b312-8367d93313c5" providerId="ADAL" clId="{B6DA93FE-1117-4B61-9BCF-442AD8A89623}"/>
    <pc:docChg chg="undo redo custSel addSld delSld modSld">
      <pc:chgData name="Rameshbabu, Naveenkumar" userId="bc17b6a5-67e4-48a7-b312-8367d93313c5" providerId="ADAL" clId="{B6DA93FE-1117-4B61-9BCF-442AD8A89623}" dt="2026-03-11T16:58:19.921" v="505" actId="1076"/>
      <pc:docMkLst>
        <pc:docMk/>
      </pc:docMkLst>
      <pc:sldChg chg="addSp modSp mod modNotesTx">
        <pc:chgData name="Rameshbabu, Naveenkumar" userId="bc17b6a5-67e4-48a7-b312-8367d93313c5" providerId="ADAL" clId="{B6DA93FE-1117-4B61-9BCF-442AD8A89623}" dt="2026-03-11T16:58:19.921" v="505" actId="1076"/>
        <pc:sldMkLst>
          <pc:docMk/>
          <pc:sldMk cId="0" sldId="256"/>
        </pc:sldMkLst>
        <pc:spChg chg="mod">
          <ac:chgData name="Rameshbabu, Naveenkumar" userId="bc17b6a5-67e4-48a7-b312-8367d93313c5" providerId="ADAL" clId="{B6DA93FE-1117-4B61-9BCF-442AD8A89623}" dt="2026-03-11T16:58:19.921" v="505" actId="1076"/>
          <ac:spMkLst>
            <pc:docMk/>
            <pc:sldMk cId="0" sldId="256"/>
            <ac:spMk id="3" creationId="{00000000-0000-0000-0000-000000000000}"/>
          </ac:spMkLst>
        </pc:spChg>
        <pc:spChg chg="mod">
          <ac:chgData name="Rameshbabu, Naveenkumar" userId="bc17b6a5-67e4-48a7-b312-8367d93313c5" providerId="ADAL" clId="{B6DA93FE-1117-4B61-9BCF-442AD8A89623}" dt="2026-03-11T16:48:16.593" v="461" actId="14100"/>
          <ac:spMkLst>
            <pc:docMk/>
            <pc:sldMk cId="0" sldId="256"/>
            <ac:spMk id="4" creationId="{00000000-0000-0000-0000-000000000000}"/>
          </ac:spMkLst>
        </pc:spChg>
        <pc:spChg chg="mod">
          <ac:chgData name="Rameshbabu, Naveenkumar" userId="bc17b6a5-67e4-48a7-b312-8367d93313c5" providerId="ADAL" clId="{B6DA93FE-1117-4B61-9BCF-442AD8A89623}" dt="2026-03-11T16:48:09.109" v="460" actId="20577"/>
          <ac:spMkLst>
            <pc:docMk/>
            <pc:sldMk cId="0" sldId="256"/>
            <ac:spMk id="8" creationId="{00000000-0000-0000-0000-000000000000}"/>
          </ac:spMkLst>
        </pc:spChg>
        <pc:spChg chg="mod">
          <ac:chgData name="Rameshbabu, Naveenkumar" userId="bc17b6a5-67e4-48a7-b312-8367d93313c5" providerId="ADAL" clId="{B6DA93FE-1117-4B61-9BCF-442AD8A89623}" dt="2026-03-11T16:54:15.531" v="466" actId="1076"/>
          <ac:spMkLst>
            <pc:docMk/>
            <pc:sldMk cId="0" sldId="256"/>
            <ac:spMk id="15" creationId="{00000000-0000-0000-0000-000000000000}"/>
          </ac:spMkLst>
        </pc:spChg>
        <pc:spChg chg="add mod">
          <ac:chgData name="Rameshbabu, Naveenkumar" userId="bc17b6a5-67e4-48a7-b312-8367d93313c5" providerId="ADAL" clId="{B6DA93FE-1117-4B61-9BCF-442AD8A89623}" dt="2026-03-11T16:55:59.345" v="504" actId="20577"/>
          <ac:spMkLst>
            <pc:docMk/>
            <pc:sldMk cId="0" sldId="256"/>
            <ac:spMk id="17" creationId="{1604FF36-738E-604C-A0F7-C7059FCDD9AD}"/>
          </ac:spMkLst>
        </pc:spChg>
      </pc:sldChg>
      <pc:sldChg chg="modNotesTx">
        <pc:chgData name="Rameshbabu, Naveenkumar" userId="bc17b6a5-67e4-48a7-b312-8367d93313c5" providerId="ADAL" clId="{B6DA93FE-1117-4B61-9BCF-442AD8A89623}" dt="2026-03-02T19:11:47.334" v="78" actId="20577"/>
        <pc:sldMkLst>
          <pc:docMk/>
          <pc:sldMk cId="0" sldId="257"/>
        </pc:sldMkLst>
      </pc:sldChg>
      <pc:sldChg chg="addSp delSp modSp mod modNotesTx">
        <pc:chgData name="Rameshbabu, Naveenkumar" userId="bc17b6a5-67e4-48a7-b312-8367d93313c5" providerId="ADAL" clId="{B6DA93FE-1117-4B61-9BCF-442AD8A89623}" dt="2026-03-11T16:12:32.686" v="433" actId="22"/>
        <pc:sldMkLst>
          <pc:docMk/>
          <pc:sldMk cId="0" sldId="258"/>
        </pc:sldMkLst>
        <pc:spChg chg="mod">
          <ac:chgData name="Rameshbabu, Naveenkumar" userId="bc17b6a5-67e4-48a7-b312-8367d93313c5" providerId="ADAL" clId="{B6DA93FE-1117-4B61-9BCF-442AD8A89623}" dt="2026-03-04T03:17:38.537" v="198" actId="14100"/>
          <ac:spMkLst>
            <pc:docMk/>
            <pc:sldMk cId="0" sldId="258"/>
            <ac:spMk id="6" creationId="{00000000-0000-0000-0000-000000000000}"/>
          </ac:spMkLst>
        </pc:spChg>
        <pc:spChg chg="mod">
          <ac:chgData name="Rameshbabu, Naveenkumar" userId="bc17b6a5-67e4-48a7-b312-8367d93313c5" providerId="ADAL" clId="{B6DA93FE-1117-4B61-9BCF-442AD8A89623}" dt="2026-03-04T03:17:33.016" v="197" actId="14100"/>
          <ac:spMkLst>
            <pc:docMk/>
            <pc:sldMk cId="0" sldId="258"/>
            <ac:spMk id="7" creationId="{00000000-0000-0000-0000-000000000000}"/>
          </ac:spMkLst>
        </pc:spChg>
        <pc:spChg chg="mod">
          <ac:chgData name="Rameshbabu, Naveenkumar" userId="bc17b6a5-67e4-48a7-b312-8367d93313c5" providerId="ADAL" clId="{B6DA93FE-1117-4B61-9BCF-442AD8A89623}" dt="2026-03-07T23:19:05.012" v="339" actId="20577"/>
          <ac:spMkLst>
            <pc:docMk/>
            <pc:sldMk cId="0" sldId="258"/>
            <ac:spMk id="19" creationId="{00000000-0000-0000-0000-000000000000}"/>
          </ac:spMkLst>
        </pc:spChg>
        <pc:spChg chg="add del">
          <ac:chgData name="Rameshbabu, Naveenkumar" userId="bc17b6a5-67e4-48a7-b312-8367d93313c5" providerId="ADAL" clId="{B6DA93FE-1117-4B61-9BCF-442AD8A89623}" dt="2026-03-07T23:19:29.021" v="341" actId="478"/>
          <ac:spMkLst>
            <pc:docMk/>
            <pc:sldMk cId="0" sldId="258"/>
            <ac:spMk id="26" creationId="{00000000-0000-0000-0000-000000000000}"/>
          </ac:spMkLst>
        </pc:spChg>
        <pc:spChg chg="mod">
          <ac:chgData name="Rameshbabu, Naveenkumar" userId="bc17b6a5-67e4-48a7-b312-8367d93313c5" providerId="ADAL" clId="{B6DA93FE-1117-4B61-9BCF-442AD8A89623}" dt="2026-03-11T14:25:08.964" v="427" actId="20577"/>
          <ac:spMkLst>
            <pc:docMk/>
            <pc:sldMk cId="0" sldId="258"/>
            <ac:spMk id="52" creationId="{00000000-0000-0000-0000-000000000000}"/>
          </ac:spMkLst>
        </pc:spChg>
        <pc:spChg chg="add del">
          <ac:chgData name="Rameshbabu, Naveenkumar" userId="bc17b6a5-67e4-48a7-b312-8367d93313c5" providerId="ADAL" clId="{B6DA93FE-1117-4B61-9BCF-442AD8A89623}" dt="2026-03-11T16:12:32.686" v="433" actId="22"/>
          <ac:spMkLst>
            <pc:docMk/>
            <pc:sldMk cId="0" sldId="258"/>
            <ac:spMk id="69" creationId="{6711DC12-8842-6506-48FA-0090A94B05DE}"/>
          </ac:spMkLst>
        </pc:spChg>
      </pc:sldChg>
      <pc:sldChg chg="addSp delSp modSp mod">
        <pc:chgData name="Rameshbabu, Naveenkumar" userId="bc17b6a5-67e4-48a7-b312-8367d93313c5" providerId="ADAL" clId="{B6DA93FE-1117-4B61-9BCF-442AD8A89623}" dt="2026-03-07T23:22:16.156" v="412" actId="20577"/>
        <pc:sldMkLst>
          <pc:docMk/>
          <pc:sldMk cId="0" sldId="259"/>
        </pc:sldMkLst>
        <pc:spChg chg="mod">
          <ac:chgData name="Rameshbabu, Naveenkumar" userId="bc17b6a5-67e4-48a7-b312-8367d93313c5" providerId="ADAL" clId="{B6DA93FE-1117-4B61-9BCF-442AD8A89623}" dt="2026-03-02T19:17:37.952" v="103" actId="255"/>
          <ac:spMkLst>
            <pc:docMk/>
            <pc:sldMk cId="0" sldId="259"/>
            <ac:spMk id="2" creationId="{00000000-0000-0000-0000-000000000000}"/>
          </ac:spMkLst>
        </pc:spChg>
        <pc:spChg chg="mod">
          <ac:chgData name="Rameshbabu, Naveenkumar" userId="bc17b6a5-67e4-48a7-b312-8367d93313c5" providerId="ADAL" clId="{B6DA93FE-1117-4B61-9BCF-442AD8A89623}" dt="2026-03-07T23:22:16.156" v="412" actId="20577"/>
          <ac:spMkLst>
            <pc:docMk/>
            <pc:sldMk cId="0" sldId="259"/>
            <ac:spMk id="7" creationId="{00000000-0000-0000-0000-000000000000}"/>
          </ac:spMkLst>
        </pc:spChg>
        <pc:spChg chg="mod">
          <ac:chgData name="Rameshbabu, Naveenkumar" userId="bc17b6a5-67e4-48a7-b312-8367d93313c5" providerId="ADAL" clId="{B6DA93FE-1117-4B61-9BCF-442AD8A89623}" dt="2026-03-07T23:21:28.587" v="384" actId="1076"/>
          <ac:spMkLst>
            <pc:docMk/>
            <pc:sldMk cId="0" sldId="259"/>
            <ac:spMk id="8" creationId="{00000000-0000-0000-0000-000000000000}"/>
          </ac:spMkLst>
        </pc:spChg>
        <pc:spChg chg="mod">
          <ac:chgData name="Rameshbabu, Naveenkumar" userId="bc17b6a5-67e4-48a7-b312-8367d93313c5" providerId="ADAL" clId="{B6DA93FE-1117-4B61-9BCF-442AD8A89623}" dt="2026-03-07T23:19:52.740" v="351" actId="20577"/>
          <ac:spMkLst>
            <pc:docMk/>
            <pc:sldMk cId="0" sldId="259"/>
            <ac:spMk id="12" creationId="{00000000-0000-0000-0000-000000000000}"/>
          </ac:spMkLst>
        </pc:spChg>
        <pc:spChg chg="mod">
          <ac:chgData name="Rameshbabu, Naveenkumar" userId="bc17b6a5-67e4-48a7-b312-8367d93313c5" providerId="ADAL" clId="{B6DA93FE-1117-4B61-9BCF-442AD8A89623}" dt="2026-03-07T23:20:30.930" v="365" actId="20577"/>
          <ac:spMkLst>
            <pc:docMk/>
            <pc:sldMk cId="0" sldId="259"/>
            <ac:spMk id="15" creationId="{00000000-0000-0000-0000-000000000000}"/>
          </ac:spMkLst>
        </pc:spChg>
        <pc:spChg chg="mod">
          <ac:chgData name="Rameshbabu, Naveenkumar" userId="bc17b6a5-67e4-48a7-b312-8367d93313c5" providerId="ADAL" clId="{B6DA93FE-1117-4B61-9BCF-442AD8A89623}" dt="2026-03-07T23:21:16.834" v="377" actId="20577"/>
          <ac:spMkLst>
            <pc:docMk/>
            <pc:sldMk cId="0" sldId="259"/>
            <ac:spMk id="18" creationId="{00000000-0000-0000-0000-000000000000}"/>
          </ac:spMkLst>
        </pc:spChg>
        <pc:spChg chg="mod">
          <ac:chgData name="Rameshbabu, Naveenkumar" userId="bc17b6a5-67e4-48a7-b312-8367d93313c5" providerId="ADAL" clId="{B6DA93FE-1117-4B61-9BCF-442AD8A89623}" dt="2026-03-07T23:21:34.325" v="390" actId="20577"/>
          <ac:spMkLst>
            <pc:docMk/>
            <pc:sldMk cId="0" sldId="259"/>
            <ac:spMk id="21" creationId="{00000000-0000-0000-0000-000000000000}"/>
          </ac:spMkLst>
        </pc:spChg>
        <pc:spChg chg="mod">
          <ac:chgData name="Rameshbabu, Naveenkumar" userId="bc17b6a5-67e4-48a7-b312-8367d93313c5" providerId="ADAL" clId="{B6DA93FE-1117-4B61-9BCF-442AD8A89623}" dt="2026-03-07T23:19:40.189" v="345" actId="20577"/>
          <ac:spMkLst>
            <pc:docMk/>
            <pc:sldMk cId="0" sldId="259"/>
            <ac:spMk id="22" creationId="{00000000-0000-0000-0000-000000000000}"/>
          </ac:spMkLst>
        </pc:spChg>
        <pc:spChg chg="mod">
          <ac:chgData name="Rameshbabu, Naveenkumar" userId="bc17b6a5-67e4-48a7-b312-8367d93313c5" providerId="ADAL" clId="{B6DA93FE-1117-4B61-9BCF-442AD8A89623}" dt="2026-03-02T19:13:46.930" v="80" actId="1076"/>
          <ac:spMkLst>
            <pc:docMk/>
            <pc:sldMk cId="0" sldId="259"/>
            <ac:spMk id="23" creationId="{00000000-0000-0000-0000-000000000000}"/>
          </ac:spMkLst>
        </pc:spChg>
        <pc:spChg chg="mod">
          <ac:chgData name="Rameshbabu, Naveenkumar" userId="bc17b6a5-67e4-48a7-b312-8367d93313c5" providerId="ADAL" clId="{B6DA93FE-1117-4B61-9BCF-442AD8A89623}" dt="2026-03-02T19:15:38.188" v="93" actId="1076"/>
          <ac:spMkLst>
            <pc:docMk/>
            <pc:sldMk cId="0" sldId="259"/>
            <ac:spMk id="24" creationId="{00000000-0000-0000-0000-000000000000}"/>
          </ac:spMkLst>
        </pc:spChg>
        <pc:spChg chg="mod">
          <ac:chgData name="Rameshbabu, Naveenkumar" userId="bc17b6a5-67e4-48a7-b312-8367d93313c5" providerId="ADAL" clId="{B6DA93FE-1117-4B61-9BCF-442AD8A89623}" dt="2026-03-02T19:15:42.942" v="94" actId="1076"/>
          <ac:spMkLst>
            <pc:docMk/>
            <pc:sldMk cId="0" sldId="259"/>
            <ac:spMk id="26" creationId="{00000000-0000-0000-0000-000000000000}"/>
          </ac:spMkLst>
        </pc:spChg>
        <pc:spChg chg="mod">
          <ac:chgData name="Rameshbabu, Naveenkumar" userId="bc17b6a5-67e4-48a7-b312-8367d93313c5" providerId="ADAL" clId="{B6DA93FE-1117-4B61-9BCF-442AD8A89623}" dt="2026-03-02T19:14:59.381" v="90" actId="1076"/>
          <ac:spMkLst>
            <pc:docMk/>
            <pc:sldMk cId="0" sldId="259"/>
            <ac:spMk id="28" creationId="{00000000-0000-0000-0000-000000000000}"/>
          </ac:spMkLst>
        </pc:spChg>
        <pc:spChg chg="mod">
          <ac:chgData name="Rameshbabu, Naveenkumar" userId="bc17b6a5-67e4-48a7-b312-8367d93313c5" providerId="ADAL" clId="{B6DA93FE-1117-4B61-9BCF-442AD8A89623}" dt="2026-03-02T19:14:49.359" v="89" actId="1076"/>
          <ac:spMkLst>
            <pc:docMk/>
            <pc:sldMk cId="0" sldId="259"/>
            <ac:spMk id="29" creationId="{00000000-0000-0000-0000-000000000000}"/>
          </ac:spMkLst>
        </pc:spChg>
        <pc:spChg chg="mod">
          <ac:chgData name="Rameshbabu, Naveenkumar" userId="bc17b6a5-67e4-48a7-b312-8367d93313c5" providerId="ADAL" clId="{B6DA93FE-1117-4B61-9BCF-442AD8A89623}" dt="2026-03-02T19:16:24.813" v="95" actId="1076"/>
          <ac:spMkLst>
            <pc:docMk/>
            <pc:sldMk cId="0" sldId="259"/>
            <ac:spMk id="30" creationId="{00000000-0000-0000-0000-000000000000}"/>
          </ac:spMkLst>
        </pc:spChg>
        <pc:spChg chg="mod">
          <ac:chgData name="Rameshbabu, Naveenkumar" userId="bc17b6a5-67e4-48a7-b312-8367d93313c5" providerId="ADAL" clId="{B6DA93FE-1117-4B61-9BCF-442AD8A89623}" dt="2026-03-02T19:16:36.730" v="99" actId="1076"/>
          <ac:spMkLst>
            <pc:docMk/>
            <pc:sldMk cId="0" sldId="259"/>
            <ac:spMk id="32" creationId="{00000000-0000-0000-0000-000000000000}"/>
          </ac:spMkLst>
        </pc:spChg>
        <pc:spChg chg="mod">
          <ac:chgData name="Rameshbabu, Naveenkumar" userId="bc17b6a5-67e4-48a7-b312-8367d93313c5" providerId="ADAL" clId="{B6DA93FE-1117-4B61-9BCF-442AD8A89623}" dt="2026-03-02T19:16:52.867" v="100" actId="1076"/>
          <ac:spMkLst>
            <pc:docMk/>
            <pc:sldMk cId="0" sldId="259"/>
            <ac:spMk id="33" creationId="{00000000-0000-0000-0000-000000000000}"/>
          </ac:spMkLst>
        </pc:spChg>
        <pc:spChg chg="mod">
          <ac:chgData name="Rameshbabu, Naveenkumar" userId="bc17b6a5-67e4-48a7-b312-8367d93313c5" providerId="ADAL" clId="{B6DA93FE-1117-4B61-9BCF-442AD8A89623}" dt="2026-03-02T19:17:01.475" v="101" actId="1076"/>
          <ac:spMkLst>
            <pc:docMk/>
            <pc:sldMk cId="0" sldId="259"/>
            <ac:spMk id="36" creationId="{00000000-0000-0000-0000-000000000000}"/>
          </ac:spMkLst>
        </pc:spChg>
        <pc:spChg chg="mod">
          <ac:chgData name="Rameshbabu, Naveenkumar" userId="bc17b6a5-67e4-48a7-b312-8367d93313c5" providerId="ADAL" clId="{B6DA93FE-1117-4B61-9BCF-442AD8A89623}" dt="2026-03-07T23:21:45.550" v="400" actId="20577"/>
          <ac:spMkLst>
            <pc:docMk/>
            <pc:sldMk cId="0" sldId="259"/>
            <ac:spMk id="38" creationId="{00000000-0000-0000-0000-000000000000}"/>
          </ac:spMkLst>
        </pc:spChg>
      </pc:sldChg>
      <pc:sldChg chg="modSp mod">
        <pc:chgData name="Rameshbabu, Naveenkumar" userId="bc17b6a5-67e4-48a7-b312-8367d93313c5" providerId="ADAL" clId="{B6DA93FE-1117-4B61-9BCF-442AD8A89623}" dt="2026-03-11T14:34:11.390" v="431" actId="20577"/>
        <pc:sldMkLst>
          <pc:docMk/>
          <pc:sldMk cId="0" sldId="260"/>
        </pc:sldMkLst>
        <pc:spChg chg="mod">
          <ac:chgData name="Rameshbabu, Naveenkumar" userId="bc17b6a5-67e4-48a7-b312-8367d93313c5" providerId="ADAL" clId="{B6DA93FE-1117-4B61-9BCF-442AD8A89623}" dt="2026-03-02T19:18:51.019" v="105" actId="255"/>
          <ac:spMkLst>
            <pc:docMk/>
            <pc:sldMk cId="0" sldId="260"/>
            <ac:spMk id="2" creationId="{00000000-0000-0000-0000-000000000000}"/>
          </ac:spMkLst>
        </pc:spChg>
        <pc:spChg chg="mod">
          <ac:chgData name="Rameshbabu, Naveenkumar" userId="bc17b6a5-67e4-48a7-b312-8367d93313c5" providerId="ADAL" clId="{B6DA93FE-1117-4B61-9BCF-442AD8A89623}" dt="2026-03-11T14:34:11.390" v="431" actId="20577"/>
          <ac:spMkLst>
            <pc:docMk/>
            <pc:sldMk cId="0" sldId="260"/>
            <ac:spMk id="40" creationId="{00000000-0000-0000-0000-000000000000}"/>
          </ac:spMkLst>
        </pc:spChg>
      </pc:sldChg>
      <pc:sldChg chg="modSp mod">
        <pc:chgData name="Rameshbabu, Naveenkumar" userId="bc17b6a5-67e4-48a7-b312-8367d93313c5" providerId="ADAL" clId="{B6DA93FE-1117-4B61-9BCF-442AD8A89623}" dt="2026-03-07T23:23:03.261" v="424" actId="20577"/>
        <pc:sldMkLst>
          <pc:docMk/>
          <pc:sldMk cId="0" sldId="261"/>
        </pc:sldMkLst>
        <pc:spChg chg="mod">
          <ac:chgData name="Rameshbabu, Naveenkumar" userId="bc17b6a5-67e4-48a7-b312-8367d93313c5" providerId="ADAL" clId="{B6DA93FE-1117-4B61-9BCF-442AD8A89623}" dt="2026-03-07T23:23:03.261" v="424" actId="20577"/>
          <ac:spMkLst>
            <pc:docMk/>
            <pc:sldMk cId="0" sldId="261"/>
            <ac:spMk id="30" creationId="{00000000-0000-0000-0000-000000000000}"/>
          </ac:spMkLst>
        </pc:spChg>
        <pc:spChg chg="mod">
          <ac:chgData name="Rameshbabu, Naveenkumar" userId="bc17b6a5-67e4-48a7-b312-8367d93313c5" providerId="ADAL" clId="{B6DA93FE-1117-4B61-9BCF-442AD8A89623}" dt="2026-03-07T23:22:51.035" v="418" actId="20577"/>
          <ac:spMkLst>
            <pc:docMk/>
            <pc:sldMk cId="0" sldId="261"/>
            <ac:spMk id="39" creationId="{00000000-0000-0000-0000-000000000000}"/>
          </ac:spMkLst>
        </pc:spChg>
      </pc:sldChg>
      <pc:sldChg chg="add">
        <pc:chgData name="Rameshbabu, Naveenkumar" userId="bc17b6a5-67e4-48a7-b312-8367d93313c5" providerId="ADAL" clId="{B6DA93FE-1117-4B61-9BCF-442AD8A89623}" dt="2026-03-07T23:24:46.933" v="425"/>
        <pc:sldMkLst>
          <pc:docMk/>
          <pc:sldMk cId="0" sldId="263"/>
        </pc:sldMkLst>
      </pc:sldChg>
      <pc:sldChg chg="addSp delSp modSp mod setBg">
        <pc:chgData name="Rameshbabu, Naveenkumar" userId="bc17b6a5-67e4-48a7-b312-8367d93313c5" providerId="ADAL" clId="{B6DA93FE-1117-4B61-9BCF-442AD8A89623}" dt="2026-03-07T22:43:33.950" v="329" actId="14100"/>
        <pc:sldMkLst>
          <pc:docMk/>
          <pc:sldMk cId="0" sldId="265"/>
        </pc:sldMkLst>
        <pc:spChg chg="mod ord">
          <ac:chgData name="Rameshbabu, Naveenkumar" userId="bc17b6a5-67e4-48a7-b312-8367d93313c5" providerId="ADAL" clId="{B6DA93FE-1117-4B61-9BCF-442AD8A89623}" dt="2026-03-07T22:42:52.702" v="327" actId="20577"/>
          <ac:spMkLst>
            <pc:docMk/>
            <pc:sldMk cId="0" sldId="265"/>
            <ac:spMk id="2" creationId="{00000000-0000-0000-0000-000000000000}"/>
          </ac:spMkLst>
        </pc:spChg>
        <pc:spChg chg="add">
          <ac:chgData name="Rameshbabu, Naveenkumar" userId="bc17b6a5-67e4-48a7-b312-8367d93313c5" providerId="ADAL" clId="{B6DA93FE-1117-4B61-9BCF-442AD8A89623}" dt="2026-03-07T22:41:49.772" v="312" actId="26606"/>
          <ac:spMkLst>
            <pc:docMk/>
            <pc:sldMk cId="0" sldId="265"/>
            <ac:spMk id="80" creationId="{49B447FE-DDA9-4B30-828A-59FC569124E2}"/>
          </ac:spMkLst>
        </pc:spChg>
        <pc:spChg chg="add">
          <ac:chgData name="Rameshbabu, Naveenkumar" userId="bc17b6a5-67e4-48a7-b312-8367d93313c5" providerId="ADAL" clId="{B6DA93FE-1117-4B61-9BCF-442AD8A89623}" dt="2026-03-07T22:41:49.772" v="312" actId="26606"/>
          <ac:spMkLst>
            <pc:docMk/>
            <pc:sldMk cId="0" sldId="265"/>
            <ac:spMk id="82" creationId="{C3D487F7-9050-4871-B351-34A72ADB296C}"/>
          </ac:spMkLst>
        </pc:spChg>
        <pc:spChg chg="add">
          <ac:chgData name="Rameshbabu, Naveenkumar" userId="bc17b6a5-67e4-48a7-b312-8367d93313c5" providerId="ADAL" clId="{B6DA93FE-1117-4B61-9BCF-442AD8A89623}" dt="2026-03-07T22:41:49.772" v="312" actId="26606"/>
          <ac:spMkLst>
            <pc:docMk/>
            <pc:sldMk cId="0" sldId="265"/>
            <ac:spMk id="84" creationId="{F43C27DD-EF6A-4C48-9669-C2970E71A814}"/>
          </ac:spMkLst>
        </pc:spChg>
        <pc:spChg chg="add">
          <ac:chgData name="Rameshbabu, Naveenkumar" userId="bc17b6a5-67e4-48a7-b312-8367d93313c5" providerId="ADAL" clId="{B6DA93FE-1117-4B61-9BCF-442AD8A89623}" dt="2026-03-07T22:41:49.772" v="312" actId="26606"/>
          <ac:spMkLst>
            <pc:docMk/>
            <pc:sldMk cId="0" sldId="265"/>
            <ac:spMk id="86" creationId="{05A1AA86-B7E6-4C02-AA34-F1A25CD4CCBD}"/>
          </ac:spMkLst>
        </pc:spChg>
        <pc:spChg chg="add">
          <ac:chgData name="Rameshbabu, Naveenkumar" userId="bc17b6a5-67e4-48a7-b312-8367d93313c5" providerId="ADAL" clId="{B6DA93FE-1117-4B61-9BCF-442AD8A89623}" dt="2026-03-07T22:41:49.772" v="312" actId="26606"/>
          <ac:spMkLst>
            <pc:docMk/>
            <pc:sldMk cId="0" sldId="265"/>
            <ac:spMk id="88" creationId="{86C3B9CB-4E48-4726-B7B9-9E02F71B150F}"/>
          </ac:spMkLst>
        </pc:spChg>
        <pc:spChg chg="add">
          <ac:chgData name="Rameshbabu, Naveenkumar" userId="bc17b6a5-67e4-48a7-b312-8367d93313c5" providerId="ADAL" clId="{B6DA93FE-1117-4B61-9BCF-442AD8A89623}" dt="2026-03-07T22:41:49.772" v="312" actId="26606"/>
          <ac:spMkLst>
            <pc:docMk/>
            <pc:sldMk cId="0" sldId="265"/>
            <ac:spMk id="90" creationId="{C84384FE-1C88-4CAA-8FB8-2313A3AE734D}"/>
          </ac:spMkLst>
        </pc:spChg>
        <pc:picChg chg="add mod">
          <ac:chgData name="Rameshbabu, Naveenkumar" userId="bc17b6a5-67e4-48a7-b312-8367d93313c5" providerId="ADAL" clId="{B6DA93FE-1117-4B61-9BCF-442AD8A89623}" dt="2026-03-07T22:43:33.950" v="329" actId="14100"/>
          <ac:picMkLst>
            <pc:docMk/>
            <pc:sldMk cId="0" sldId="265"/>
            <ac:picMk id="4" creationId="{3A1BA48D-1FC3-7A06-C32E-63E0A043A30D}"/>
          </ac:picMkLst>
        </pc:picChg>
      </pc:sldChg>
      <pc:sldChg chg="modNotesTx">
        <pc:chgData name="Rameshbabu, Naveenkumar" userId="bc17b6a5-67e4-48a7-b312-8367d93313c5" providerId="ADAL" clId="{B6DA93FE-1117-4B61-9BCF-442AD8A89623}" dt="2026-03-04T04:10:25.817" v="228" actId="20577"/>
        <pc:sldMkLst>
          <pc:docMk/>
          <pc:sldMk cId="0" sldId="267"/>
        </pc:sldMkLst>
      </pc:sldChg>
    </pc:docChg>
  </pc:docChgLst>
  <pc:docChgLst>
    <pc:chgData name="Saravanan, Akhil" userId="S::dal849813@utdallas.edu::7d5bdc65-9f98-4b3f-b39b-93bf791e9199" providerId="AD" clId="Web-{323180A4-205B-CA7C-28D2-7B9C1DF8AFE6}"/>
    <pc:docChg chg="modSld">
      <pc:chgData name="Saravanan, Akhil" userId="S::dal849813@utdallas.edu::7d5bdc65-9f98-4b3f-b39b-93bf791e9199" providerId="AD" clId="Web-{323180A4-205B-CA7C-28D2-7B9C1DF8AFE6}" dt="2026-03-11T03:31:57.862" v="9"/>
      <pc:docMkLst>
        <pc:docMk/>
      </pc:docMkLst>
      <pc:sldChg chg="modNotes">
        <pc:chgData name="Saravanan, Akhil" userId="S::dal849813@utdallas.edu::7d5bdc65-9f98-4b3f-b39b-93bf791e9199" providerId="AD" clId="Web-{323180A4-205B-CA7C-28D2-7B9C1DF8AFE6}" dt="2026-03-11T03:31:57.862" v="9"/>
        <pc:sldMkLst>
          <pc:docMk/>
          <pc:sldMk cId="0" sldId="263"/>
        </pc:sldMkLst>
      </pc:sldChg>
    </pc:docChg>
  </pc:docChgLst>
  <pc:docChgLst>
    <pc:chgData name="Saravanan, Akhil" userId="7d5bdc65-9f98-4b3f-b39b-93bf791e9199" providerId="ADAL" clId="{68DAD061-CAC9-4DC5-AFC6-4CB95F2A921B}"/>
    <pc:docChg chg="modSld">
      <pc:chgData name="Saravanan, Akhil" userId="7d5bdc65-9f98-4b3f-b39b-93bf791e9199" providerId="ADAL" clId="{68DAD061-CAC9-4DC5-AFC6-4CB95F2A921B}" dt="2026-03-11T14:28:33.800" v="8" actId="20577"/>
      <pc:docMkLst>
        <pc:docMk/>
      </pc:docMkLst>
      <pc:sldChg chg="modNotesTx">
        <pc:chgData name="Saravanan, Akhil" userId="7d5bdc65-9f98-4b3f-b39b-93bf791e9199" providerId="ADAL" clId="{68DAD061-CAC9-4DC5-AFC6-4CB95F2A921B}" dt="2026-03-11T14:28:33.800" v="8" actId="20577"/>
        <pc:sldMkLst>
          <pc:docMk/>
          <pc:sldMk cId="0" sldId="263"/>
        </pc:sldMkLst>
      </pc:sldChg>
    </pc:docChg>
  </pc:docChgLst>
  <pc:docChgLst>
    <pc:chgData name="Saravanan, Akhil" userId="S::dal849813@utdallas.edu::7d5bdc65-9f98-4b3f-b39b-93bf791e9199" providerId="AD" clId="Web-{B7B3570B-83DB-21C0-8526-07A79270E63C}"/>
    <pc:docChg chg="modSld">
      <pc:chgData name="Saravanan, Akhil" userId="S::dal849813@utdallas.edu::7d5bdc65-9f98-4b3f-b39b-93bf791e9199" providerId="AD" clId="Web-{B7B3570B-83DB-21C0-8526-07A79270E63C}" dt="2026-03-03T03:40:44.557" v="4"/>
      <pc:docMkLst>
        <pc:docMk/>
      </pc:docMkLst>
      <pc:sldChg chg="modNotes">
        <pc:chgData name="Saravanan, Akhil" userId="S::dal849813@utdallas.edu::7d5bdc65-9f98-4b3f-b39b-93bf791e9199" providerId="AD" clId="Web-{B7B3570B-83DB-21C0-8526-07A79270E63C}" dt="2026-03-03T03:40:22.135" v="2"/>
        <pc:sldMkLst>
          <pc:docMk/>
          <pc:sldMk cId="0" sldId="261"/>
        </pc:sldMkLst>
      </pc:sldChg>
      <pc:sldChg chg="modNotes">
        <pc:chgData name="Saravanan, Akhil" userId="S::dal849813@utdallas.edu::7d5bdc65-9f98-4b3f-b39b-93bf791e9199" providerId="AD" clId="Web-{B7B3570B-83DB-21C0-8526-07A79270E63C}" dt="2026-03-03T03:40:44.557" v="4"/>
        <pc:sldMkLst>
          <pc:docMk/>
          <pc:sldMk cId="0" sldId="262"/>
        </pc:sldMkLst>
      </pc:sldChg>
    </pc:docChg>
  </pc:docChgLst>
  <pc:docChgLst>
    <pc:chgData name="Murugesan, Raji Sivani" userId="S::dal373069@utdallas.edu::84081fa7-4f08-486b-9a31-d35702a060e4" providerId="AD" clId="Web-{994DD119-BD27-08D2-C456-11168B4E3C3C}"/>
    <pc:docChg chg="modSld">
      <pc:chgData name="Murugesan, Raji Sivani" userId="S::dal373069@utdallas.edu::84081fa7-4f08-486b-9a31-d35702a060e4" providerId="AD" clId="Web-{994DD119-BD27-08D2-C456-11168B4E3C3C}" dt="2026-03-04T13:51:15.091" v="136"/>
      <pc:docMkLst>
        <pc:docMk/>
      </pc:docMkLst>
      <pc:sldChg chg="modSp modNotes">
        <pc:chgData name="Murugesan, Raji Sivani" userId="S::dal373069@utdallas.edu::84081fa7-4f08-486b-9a31-d35702a060e4" providerId="AD" clId="Web-{994DD119-BD27-08D2-C456-11168B4E3C3C}" dt="2026-03-04T03:19:20.035" v="94"/>
        <pc:sldMkLst>
          <pc:docMk/>
          <pc:sldMk cId="0" sldId="256"/>
        </pc:sldMkLst>
        <pc:spChg chg="mod">
          <ac:chgData name="Murugesan, Raji Sivani" userId="S::dal373069@utdallas.edu::84081fa7-4f08-486b-9a31-d35702a060e4" providerId="AD" clId="Web-{994DD119-BD27-08D2-C456-11168B4E3C3C}" dt="2026-03-04T03:06:00.750" v="76" actId="14100"/>
          <ac:spMkLst>
            <pc:docMk/>
            <pc:sldMk cId="0" sldId="256"/>
            <ac:spMk id="4" creationId="{00000000-0000-0000-0000-000000000000}"/>
          </ac:spMkLst>
        </pc:spChg>
        <pc:spChg chg="mod">
          <ac:chgData name="Murugesan, Raji Sivani" userId="S::dal373069@utdallas.edu::84081fa7-4f08-486b-9a31-d35702a060e4" providerId="AD" clId="Web-{994DD119-BD27-08D2-C456-11168B4E3C3C}" dt="2026-03-04T03:05:53.187" v="73" actId="1076"/>
          <ac:spMkLst>
            <pc:docMk/>
            <pc:sldMk cId="0" sldId="256"/>
            <ac:spMk id="5" creationId="{00000000-0000-0000-0000-000000000000}"/>
          </ac:spMkLst>
        </pc:spChg>
        <pc:spChg chg="mod">
          <ac:chgData name="Murugesan, Raji Sivani" userId="S::dal373069@utdallas.edu::84081fa7-4f08-486b-9a31-d35702a060e4" providerId="AD" clId="Web-{994DD119-BD27-08D2-C456-11168B4E3C3C}" dt="2026-03-04T03:05:53.187" v="74" actId="1076"/>
          <ac:spMkLst>
            <pc:docMk/>
            <pc:sldMk cId="0" sldId="256"/>
            <ac:spMk id="6" creationId="{00000000-0000-0000-0000-000000000000}"/>
          </ac:spMkLst>
        </pc:spChg>
        <pc:spChg chg="mod">
          <ac:chgData name="Murugesan, Raji Sivani" userId="S::dal373069@utdallas.edu::84081fa7-4f08-486b-9a31-d35702a060e4" providerId="AD" clId="Web-{994DD119-BD27-08D2-C456-11168B4E3C3C}" dt="2026-03-04T03:05:53.203" v="75" actId="1076"/>
          <ac:spMkLst>
            <pc:docMk/>
            <pc:sldMk cId="0" sldId="256"/>
            <ac:spMk id="7" creationId="{00000000-0000-0000-0000-000000000000}"/>
          </ac:spMkLst>
        </pc:spChg>
        <pc:spChg chg="mod">
          <ac:chgData name="Murugesan, Raji Sivani" userId="S::dal373069@utdallas.edu::84081fa7-4f08-486b-9a31-d35702a060e4" providerId="AD" clId="Web-{994DD119-BD27-08D2-C456-11168B4E3C3C}" dt="2026-03-04T03:05:41.406" v="71" actId="20577"/>
          <ac:spMkLst>
            <pc:docMk/>
            <pc:sldMk cId="0" sldId="256"/>
            <ac:spMk id="8" creationId="{00000000-0000-0000-0000-000000000000}"/>
          </ac:spMkLst>
        </pc:spChg>
      </pc:sldChg>
      <pc:sldChg chg="modNotes">
        <pc:chgData name="Murugesan, Raji Sivani" userId="S::dal373069@utdallas.edu::84081fa7-4f08-486b-9a31-d35702a060e4" providerId="AD" clId="Web-{994DD119-BD27-08D2-C456-11168B4E3C3C}" dt="2026-03-04T04:23:36.127" v="107"/>
        <pc:sldMkLst>
          <pc:docMk/>
          <pc:sldMk cId="0" sldId="257"/>
        </pc:sldMkLst>
      </pc:sldChg>
      <pc:sldChg chg="modNotes">
        <pc:chgData name="Murugesan, Raji Sivani" userId="S::dal373069@utdallas.edu::84081fa7-4f08-486b-9a31-d35702a060e4" providerId="AD" clId="Web-{994DD119-BD27-08D2-C456-11168B4E3C3C}" dt="2026-03-04T13:49:53.105" v="134"/>
        <pc:sldMkLst>
          <pc:docMk/>
          <pc:sldMk cId="0" sldId="265"/>
        </pc:sldMkLst>
      </pc:sldChg>
      <pc:sldChg chg="modNotes">
        <pc:chgData name="Murugesan, Raji Sivani" userId="S::dal373069@utdallas.edu::84081fa7-4f08-486b-9a31-d35702a060e4" providerId="AD" clId="Web-{994DD119-BD27-08D2-C456-11168B4E3C3C}" dt="2026-03-04T13:51:15.091" v="136"/>
        <pc:sldMkLst>
          <pc:docMk/>
          <pc:sldMk cId="0" sldId="267"/>
        </pc:sldMkLst>
      </pc:sldChg>
    </pc:docChg>
  </pc:docChgLst>
  <pc:docChgLst>
    <pc:chgData name="Saravanan, Akhil" userId="S::dal849813@utdallas.edu::7d5bdc65-9f98-4b3f-b39b-93bf791e9199" providerId="AD" clId="Web-{5EC39A1C-420F-38D5-F48E-6E44E3A19EFD}"/>
    <pc:docChg chg="modSld">
      <pc:chgData name="Saravanan, Akhil" userId="S::dal849813@utdallas.edu::7d5bdc65-9f98-4b3f-b39b-93bf791e9199" providerId="AD" clId="Web-{5EC39A1C-420F-38D5-F48E-6E44E3A19EFD}" dt="2026-03-11T04:11:53.726" v="5"/>
      <pc:docMkLst>
        <pc:docMk/>
      </pc:docMkLst>
      <pc:sldChg chg="modNotes">
        <pc:chgData name="Saravanan, Akhil" userId="S::dal849813@utdallas.edu::7d5bdc65-9f98-4b3f-b39b-93bf791e9199" providerId="AD" clId="Web-{5EC39A1C-420F-38D5-F48E-6E44E3A19EFD}" dt="2026-03-11T04:11:53.726" v="5"/>
        <pc:sldMkLst>
          <pc:docMk/>
          <pc:sldMk cId="0"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0384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 </a:t>
            </a:r>
            <a:r>
              <a:rPr lang="en-US" err="1"/>
              <a:t>everyone,before</a:t>
            </a:r>
            <a:r>
              <a:rPr lang="en-US"/>
              <a:t> introducing the title, I'll walk you through a small scenario </a:t>
            </a:r>
            <a:r>
              <a:rPr lang="en-US" err="1"/>
              <a:t>whe</a:t>
            </a:r>
            <a:r>
              <a:rPr lang="en-US"/>
              <a:t>re you’re </a:t>
            </a:r>
            <a:r>
              <a:rPr lang="en-US" b="1"/>
              <a:t>standing inside Yellowstone or Zion</a:t>
            </a:r>
            <a:r>
              <a:rPr lang="en-US"/>
              <a:t>, trying to check trail information or park details — and suddenly you </a:t>
            </a:r>
            <a:r>
              <a:rPr lang="en-US" b="1"/>
              <a:t>lose internet signal</a:t>
            </a:r>
            <a:r>
              <a:rPr lang="en-US"/>
              <a:t>. That’s actually very common in many national parks.</a:t>
            </a:r>
          </a:p>
          <a:p>
            <a:r>
              <a:rPr lang="en-US"/>
              <a:t>To address this we built our </a:t>
            </a:r>
            <a:r>
              <a:rPr lang="en-US" b="1"/>
              <a:t>USA National Parks RAG Assistant</a:t>
            </a:r>
            <a:r>
              <a:rPr lang="en-US"/>
              <a:t>, a conversational travel guide powered completely by a </a:t>
            </a:r>
            <a:r>
              <a:rPr lang="en-US" b="1"/>
              <a:t>local LLM.This</a:t>
            </a:r>
            <a:r>
              <a:rPr lang="en-US"/>
              <a:t> acts as a </a:t>
            </a:r>
            <a:r>
              <a:rPr lang="en-US" b="1"/>
              <a:t>one-stop place</a:t>
            </a:r>
            <a:r>
              <a:rPr lang="en-US"/>
              <a:t> to get the information they need, instead of searching through multiple pages across the internet.</a:t>
            </a:r>
          </a:p>
          <a:p>
            <a:endParaRPr lang="en-US"/>
          </a:p>
          <a:p>
            <a:r>
              <a:rPr lang="en-US"/>
              <a:t>Our goal was simple: if someone asks </a:t>
            </a:r>
            <a:r>
              <a:rPr lang="en-US" i="1"/>
              <a:t>any question about any of the 63 U.S. national parks</a:t>
            </a:r>
            <a:r>
              <a:rPr lang="en-US"/>
              <a:t>, the assistant should respond with </a:t>
            </a:r>
            <a:r>
              <a:rPr lang="en-US" b="1"/>
              <a:t>grounded information from our own park documents</a:t>
            </a:r>
            <a:r>
              <a:rPr lang="en-US"/>
              <a:t>, not random internet knowledge. </a:t>
            </a:r>
          </a:p>
          <a:p>
            <a:endParaRPr lang="en-US"/>
          </a:p>
          <a:p>
            <a:r>
              <a:rPr lang="en-US"/>
              <a:t>So what’s special here is the </a:t>
            </a:r>
            <a:r>
              <a:rPr lang="en-US" b="1"/>
              <a:t>100% local setup</a:t>
            </a:r>
            <a:r>
              <a:rPr lang="en-US"/>
              <a:t>: we use </a:t>
            </a:r>
            <a:r>
              <a:rPr lang="en-US" b="1" err="1"/>
              <a:t>ChromaDB</a:t>
            </a:r>
            <a:r>
              <a:rPr lang="en-US"/>
              <a:t> to store the knowledge base, </a:t>
            </a:r>
            <a:r>
              <a:rPr lang="en-US" b="1" err="1"/>
              <a:t>Ollama</a:t>
            </a:r>
            <a:r>
              <a:rPr lang="en-US"/>
              <a:t> to run both the embedding model and the LLM locally, and a </a:t>
            </a:r>
            <a:r>
              <a:rPr lang="en-US" b="1" err="1"/>
              <a:t>Streamlit</a:t>
            </a:r>
            <a:r>
              <a:rPr lang="en-US" b="1"/>
              <a:t> chat UI</a:t>
            </a:r>
            <a:r>
              <a:rPr lang="en-US"/>
              <a:t> so it feels like a real assistant. </a:t>
            </a:r>
          </a:p>
          <a:p>
            <a:endParaRPr lang="en-US"/>
          </a:p>
          <a:p>
            <a:r>
              <a:rPr lang="en-US"/>
              <a:t>And our  big promise is: </a:t>
            </a:r>
            <a:r>
              <a:rPr lang="en-US" b="1"/>
              <a:t>no API keys, no internet calls</a:t>
            </a:r>
            <a:r>
              <a:rPr lang="en-US"/>
              <a:t>, and answers should stay tied to the park content we indexed. In the next slide, I’ll quickly explain what our RAG pipeline does in this project, and then we’ll jump into a short demo.” </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“Instead of explaining RAG in theory, I’ll frame it as </a:t>
            </a:r>
            <a:r>
              <a:rPr lang="en-US" b="1"/>
              <a:t>what our system is doing</a:t>
            </a:r>
            <a:r>
              <a:rPr lang="en-US"/>
              <a:t>. Our knowledge base is </a:t>
            </a:r>
            <a:r>
              <a:rPr lang="en-US" b="1"/>
              <a:t>63 national park </a:t>
            </a:r>
            <a:r>
              <a:rPr lang="en-US"/>
              <a:t>visitor guide documents which we got from the national park services website. When a user asks something like </a:t>
            </a:r>
            <a:r>
              <a:rPr lang="en-US" i="1"/>
              <a:t>‘Where is Zion?’</a:t>
            </a:r>
            <a:r>
              <a:rPr lang="en-US"/>
              <a:t> we don’t want the model to guess — we want it to </a:t>
            </a:r>
            <a:r>
              <a:rPr lang="en-US" b="1"/>
              <a:t>look up the answer inside our park files first</a:t>
            </a:r>
            <a:r>
              <a:rPr lang="en-US"/>
              <a:t>. </a:t>
            </a:r>
          </a:p>
          <a:p>
            <a:endParaRPr lang="en-US"/>
          </a:p>
          <a:p>
            <a:r>
              <a:rPr lang="en-US"/>
              <a:t>So our pipeline has three steps:</a:t>
            </a:r>
          </a:p>
          <a:p>
            <a:pPr marL="171450" indent="-171450">
              <a:buFont typeface="Arial"/>
              <a:buChar char="•"/>
            </a:pPr>
            <a:r>
              <a:rPr lang="en-US" b="1"/>
              <a:t>Retrieval</a:t>
            </a:r>
            <a:r>
              <a:rPr lang="en-US"/>
              <a:t>: we search our </a:t>
            </a:r>
            <a:r>
              <a:rPr lang="en-US" err="1"/>
              <a:t>ChromaDB</a:t>
            </a:r>
            <a:r>
              <a:rPr lang="en-US"/>
              <a:t> vector store and pull the </a:t>
            </a:r>
            <a:r>
              <a:rPr lang="en-US" b="1"/>
              <a:t>top relevant chunks</a:t>
            </a:r>
            <a:r>
              <a:rPr lang="en-US"/>
              <a:t> from the park documents. </a:t>
            </a:r>
          </a:p>
          <a:p>
            <a:pPr marL="171450" indent="-171450">
              <a:buFont typeface="Arial"/>
              <a:buChar char="•"/>
            </a:pPr>
            <a:r>
              <a:rPr lang="en-US" b="1"/>
              <a:t>Augmented</a:t>
            </a:r>
            <a:r>
              <a:rPr lang="en-US"/>
              <a:t>: we attach those retrieved chunks as context to the user question, so the model is forced to answer based on what we found. </a:t>
            </a:r>
          </a:p>
          <a:p>
            <a:pPr marL="171450" indent="-171450">
              <a:buFont typeface="Arial"/>
              <a:buChar char="•"/>
            </a:pPr>
            <a:r>
              <a:rPr lang="en-US" b="1"/>
              <a:t>Generation</a:t>
            </a:r>
            <a:r>
              <a:rPr lang="en-US"/>
              <a:t>: our local LLM, </a:t>
            </a:r>
            <a:r>
              <a:rPr lang="en-US" b="1"/>
              <a:t>gemma2:2b</a:t>
            </a:r>
            <a:r>
              <a:rPr lang="en-US"/>
              <a:t>, reads that context and produces a helpful travel-style response. </a:t>
            </a:r>
          </a:p>
          <a:p>
            <a:endParaRPr lang="en-US"/>
          </a:p>
          <a:p>
            <a:r>
              <a:rPr lang="en-US"/>
              <a:t>The reason we built it this way is: LLMs have fixed training knowledge, but </a:t>
            </a:r>
            <a:r>
              <a:rPr lang="en-US" b="1"/>
              <a:t>our park details are in our documents</a:t>
            </a:r>
            <a:r>
              <a:rPr lang="en-US"/>
              <a:t>, so retrieval is what makes the answers </a:t>
            </a:r>
            <a:r>
              <a:rPr lang="en-US" i="1"/>
              <a:t>project-specific</a:t>
            </a:r>
            <a:r>
              <a:rPr lang="en-US"/>
              <a:t>. Now I’ll open the demo and run the first question live.” </a:t>
            </a:r>
          </a:p>
          <a:p>
            <a:endParaRPr lang="en-US"/>
          </a:p>
          <a:p>
            <a:r>
              <a:rPr lang="en-US"/>
              <a:t>“I’ll ask the first question now — and right before it returns the final answer, we’ll pause and continue with the architecture so you can see </a:t>
            </a:r>
            <a:r>
              <a:rPr lang="en-US" i="1"/>
              <a:t>exactly</a:t>
            </a:r>
            <a:r>
              <a:rPr lang="en-US"/>
              <a:t> how that answer is produced.”</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what you're looking at here is the full architecture of our RAG system. I want you to notice something important first — there are </a:t>
            </a:r>
            <a:r>
              <a:rPr lang="en-US" b="1"/>
              <a:t>two separate phases</a:t>
            </a:r>
            <a:r>
              <a:rPr lang="en-US"/>
              <a:t>, and understanding this separation is the key to understanding how RAG works.</a:t>
            </a:r>
          </a:p>
          <a:p>
            <a:r>
              <a:rPr lang="en-US"/>
              <a:t>The </a:t>
            </a:r>
            <a:r>
              <a:rPr lang="en-US" b="1"/>
              <a:t>top row is the Indexing phase</a:t>
            </a:r>
            <a:r>
              <a:rPr lang="en-US"/>
              <a:t>. This runs only once — the very first time we set up the system. We take all 63 national park documents, process them, convert them into vectors, and save everything permanently to disk. After this phase is done, the documents never need to be processed again. The knowledge is locked in.</a:t>
            </a:r>
          </a:p>
          <a:p>
            <a:r>
              <a:rPr lang="en-US"/>
              <a:t>The </a:t>
            </a:r>
            <a:r>
              <a:rPr lang="en-US" b="1"/>
              <a:t>bottom row is the Querying phase</a:t>
            </a:r>
            <a:r>
              <a:rPr lang="en-US"/>
              <a:t>. This runs every single time a user asks a question. The user types something into the chat, we convert that question into a vector using the exact same model, we search the database for the most similar content, and we hand those results to the language model to write the final answer.</a:t>
            </a:r>
          </a:p>
          <a:p>
            <a:r>
              <a:rPr lang="en-US"/>
              <a:t>Now here's the most important callout at the bottom of this slide — </a:t>
            </a:r>
            <a:r>
              <a:rPr lang="en-US" i="1"/>
              <a:t>same embedding model on both sides</a:t>
            </a:r>
            <a:r>
              <a:rPr lang="en-US"/>
              <a:t>. The documents and the questions must live in the same mathematical space. If you use different models, it's like translating documents into French and searching for them in Spanish — the numbers are incompatible and retrieval breaks entirely.</a:t>
            </a:r>
          </a:p>
          <a:p>
            <a:r>
              <a:rPr lang="en-US"/>
              <a:t>Every box in this diagram is a separate technical component, and we're going to zoom into each one. Let's start with the very first step — chunking."</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Think about it this way — imagine you have a 1,000 page encyclopedia and someone asks you a question. You wouldn't hand them the entire encyclopedia. You'd find the right page and give them just that. Chunking is exactly that idea applied to AI.</a:t>
            </a:r>
          </a:p>
          <a:p>
            <a:r>
              <a:rPr lang="en-US"/>
              <a:t>Our 63 park documents average around 1,000 words each. A language model can only read about 2,000 words at once in its context window. And we certainly cannot send the text of all 63 parks with every single question — that would be millions of words. So we break each document into smaller, searchable pieces called chunks.</a:t>
            </a:r>
          </a:p>
          <a:p>
            <a:r>
              <a:rPr lang="en-US"/>
              <a:t>Now, there are four main ways to do this. </a:t>
            </a:r>
            <a:r>
              <a:rPr lang="en-US" b="1"/>
              <a:t>Fixed Size</a:t>
            </a:r>
            <a:r>
              <a:rPr lang="en-US"/>
              <a:t> is the simplest — just cut every N words. Fast, but it can slice a sentence right in the middle, losing meaning. </a:t>
            </a:r>
            <a:r>
              <a:rPr lang="en-US" b="1"/>
              <a:t>Sentence and Paragraph splitting</a:t>
            </a:r>
            <a:r>
              <a:rPr lang="en-US"/>
              <a:t> respects natural language boundaries, but the chunk sizes become unpredictable. </a:t>
            </a:r>
            <a:r>
              <a:rPr lang="en-US" b="1"/>
              <a:t>Semantic chunking</a:t>
            </a:r>
            <a:r>
              <a:rPr lang="en-US"/>
              <a:t> uses AI to detect where the meaning shifts — the most intelligent approach, but far too slow for our CPU-only machine.</a:t>
            </a:r>
          </a:p>
          <a:p>
            <a:r>
              <a:rPr lang="en-US"/>
              <a:t>We chose </a:t>
            </a:r>
            <a:r>
              <a:rPr lang="en-US" b="1"/>
              <a:t>Fixed Size with Overlap</a:t>
            </a:r>
            <a:r>
              <a:rPr lang="en-US"/>
              <a:t> — and here's why that overlap matters. Look at the diagram on the right. Chunk 0 covers words 0 to 200. Chunk 1 doesn't start at 201 — it starts at 180. Those 20 shared words are the overlap. This means that if a key piece of information falls right at the boundary between two chunks — like a sentence that starts at word 195 — it still appears fully in the next chunk. We never lose context at the edges.</a:t>
            </a:r>
          </a:p>
          <a:p>
            <a:r>
              <a:rPr lang="en-US"/>
              <a:t>Our final configuration is chunk size of 200 words with 20 words of overlap, giving us roughly 5 to 6 chunks per park document and around 380 chunks total across the entire knowledge base."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Embeddings are the heart of why RAG works. Instead of matching exact words, we convert text to numbers that represent meaning. nomic-embed-text was chosen because it's the best performing local embedding model that runs on CPU, it's only 274MB, and critically — it's the same model we use on both sides. When we index a document AND when we embed a user question, we use the exact same model. This is non-negotiable — using different models would make the number spaces incompatible and retrieval would completely break.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ChromaDB</a:t>
            </a:r>
            <a:r>
              <a:rPr lang="en-US"/>
              <a:t> is our vector database. Instead of storing normal text like SQL, it stores embeddings — which are numerical representations of meaning.</a:t>
            </a:r>
          </a:p>
          <a:p>
            <a:r>
              <a:rPr lang="en-US"/>
              <a:t>We stored about 514 chunk vectors from all 63 parks. When a user asks a question, we convert it into a vector using the same embedding model, then </a:t>
            </a:r>
            <a:r>
              <a:rPr lang="en-US" err="1"/>
              <a:t>ChromaDB</a:t>
            </a:r>
            <a:r>
              <a:rPr lang="en-US"/>
              <a:t> compares it to all stored vectors using cosine similarity.</a:t>
            </a:r>
          </a:p>
          <a:p>
            <a:r>
              <a:rPr lang="en-US"/>
              <a:t>Cosine similarity measures how close two meanings are based on the angle between vectors. The top 3 most similar chunks are retrieved in under one second.</a:t>
            </a:r>
          </a:p>
          <a:p>
            <a:r>
              <a:rPr lang="en-US"/>
              <a:t>So basically, </a:t>
            </a:r>
            <a:r>
              <a:rPr lang="en-US" err="1"/>
              <a:t>ChromaDB</a:t>
            </a:r>
            <a:r>
              <a:rPr lang="en-US"/>
              <a:t> is our semantic search engine running completely locally.”</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retrieval, we pass the top chunks to our language model, gemma2:2b.</a:t>
            </a:r>
          </a:p>
          <a:p>
            <a:r>
              <a:rPr lang="en-US"/>
              <a:t>We tested three models, and gemma2 gave the best balance between size, speed, and quality for our 8GB RAM system.</a:t>
            </a:r>
          </a:p>
          <a:p>
            <a:r>
              <a:rPr lang="en-US"/>
              <a:t>The model follows strict system rules: it must answer only from the provided context, mention the park name, and say ‘I don’t know’ if the information isn’t available.</a:t>
            </a:r>
          </a:p>
          <a:p>
            <a:r>
              <a:rPr lang="en-US"/>
              <a:t>So </a:t>
            </a:r>
            <a:r>
              <a:rPr lang="en-US" err="1"/>
              <a:t>ChromaDB</a:t>
            </a:r>
            <a:r>
              <a:rPr lang="en-US"/>
              <a:t> finds the right information, and the LLM turns it into a clear, human-readable answer — all running locally through Ollama.”</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shows </a:t>
            </a:r>
            <a:r>
              <a:rPr lang="en-US" b="1"/>
              <a:t>why conversation memory is important in AI systems.</a:t>
            </a:r>
            <a:endParaRPr lang="en-US"/>
          </a:p>
          <a:p>
            <a:r>
              <a:rPr lang="en-US"/>
              <a:t>On the </a:t>
            </a:r>
            <a:r>
              <a:rPr lang="en-US" b="1"/>
              <a:t>left side</a:t>
            </a:r>
            <a:r>
              <a:rPr lang="en-US"/>
              <a:t>, we see what happens </a:t>
            </a:r>
            <a:r>
              <a:rPr lang="en-US" b="1"/>
              <a:t>without memory</a:t>
            </a:r>
            <a:r>
              <a:rPr lang="en-US"/>
              <a:t>.</a:t>
            </a:r>
            <a:br>
              <a:rPr lang="en-US">
                <a:cs typeface="+mn-lt"/>
              </a:rPr>
            </a:br>
            <a:r>
              <a:rPr lang="en-US"/>
              <a:t> The user asks where Yellowstone is, and the AI answers correctly. But when the user asks a follow-up question about entry fees, the AI cannot understand the context because it </a:t>
            </a:r>
            <a:r>
              <a:rPr lang="en-US" b="1"/>
              <a:t>doesn’t remember the previous question</a:t>
            </a:r>
            <a:r>
              <a:rPr lang="en-US"/>
              <a:t>. So it responds saying it doesn’t know which park the user means.</a:t>
            </a:r>
          </a:p>
          <a:p>
            <a:r>
              <a:rPr lang="en-US"/>
              <a:t>On the </a:t>
            </a:r>
            <a:r>
              <a:rPr lang="en-US" b="1"/>
              <a:t>right side</a:t>
            </a:r>
            <a:r>
              <a:rPr lang="en-US"/>
              <a:t>, we see the same conversation </a:t>
            </a:r>
            <a:r>
              <a:rPr lang="en-US" b="1"/>
              <a:t>with memory enabled</a:t>
            </a:r>
            <a:r>
              <a:rPr lang="en-US"/>
              <a:t>.</a:t>
            </a:r>
            <a:br>
              <a:rPr lang="en-US"/>
            </a:br>
            <a:r>
              <a:rPr lang="en-US"/>
              <a:t> Here, the system remembers that the user was talking about Yellowstone, so it can correctly answer the follow-up question about the entry fee. This makes the conversation feel </a:t>
            </a:r>
            <a:r>
              <a:rPr lang="en-US" b="1"/>
              <a:t>more natural and human-like</a:t>
            </a:r>
            <a:r>
              <a:rPr lang="en-US"/>
              <a:t>.</a:t>
            </a:r>
          </a:p>
          <a:p>
            <a:r>
              <a:rPr lang="en-US"/>
              <a:t>To do this, the system keeps a </a:t>
            </a:r>
            <a:r>
              <a:rPr lang="en-US" b="1"/>
              <a:t>rolling window of the last six messages</a:t>
            </a:r>
            <a:r>
              <a:rPr lang="en-US"/>
              <a:t>.These messages are sent along with the new question so the model understands the </a:t>
            </a:r>
            <a:r>
              <a:rPr lang="en-US" b="1"/>
              <a:t>context and references</a:t>
            </a:r>
            <a:r>
              <a:rPr lang="en-US"/>
              <a:t>.</a:t>
            </a:r>
          </a:p>
          <a:p>
            <a:r>
              <a:rPr lang="en-US"/>
              <a:t>Older messages are dropped over time to </a:t>
            </a:r>
            <a:r>
              <a:rPr lang="en-US" b="1"/>
              <a:t>save memory and computation</a:t>
            </a:r>
            <a:r>
              <a:rPr lang="en-US"/>
              <a:t>.</a:t>
            </a:r>
          </a:p>
          <a:p>
            <a:r>
              <a:rPr lang="en-US"/>
              <a:t>Finally, in RAG systems, databases like </a:t>
            </a:r>
            <a:r>
              <a:rPr lang="en-US" b="1"/>
              <a:t>ChromaDB usually see only the current query</a:t>
            </a:r>
            <a:r>
              <a:rPr lang="en-US"/>
              <a:t>. So a function like </a:t>
            </a:r>
            <a:r>
              <a:rPr lang="en-US" b="1"/>
              <a:t>enrich_query()</a:t>
            </a:r>
            <a:r>
              <a:rPr lang="en-US"/>
              <a:t> adds recent conversation history to the search query, helping retrieve the </a:t>
            </a:r>
            <a:r>
              <a:rPr lang="en-US" b="1"/>
              <a:t>correct documents for follow-up questions</a:t>
            </a:r>
            <a:r>
              <a:rPr lang="en-US"/>
              <a:t>.</a:t>
            </a:r>
          </a:p>
          <a:p>
            <a:endParaRPr lang="en-US"/>
          </a:p>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We've already asked a few </a:t>
            </a:r>
            <a:r>
              <a:rPr lang="en-US" err="1"/>
              <a:t>qns</a:t>
            </a:r>
            <a:r>
              <a:rPr lang="en-US"/>
              <a:t> and pasted those here.</a:t>
            </a:r>
          </a:p>
          <a:p>
            <a:r>
              <a:rPr lang="en-US"/>
              <a:t>In the first example, we asked for </a:t>
            </a:r>
            <a:r>
              <a:rPr lang="en-US" b="1"/>
              <a:t>an overview of Yellowstone National Park</a:t>
            </a:r>
            <a:r>
              <a:rPr lang="en-US"/>
              <a:t>, and the assistant returns key information about the park.</a:t>
            </a:r>
          </a:p>
          <a:p>
            <a:r>
              <a:rPr lang="en-US"/>
              <a:t>Next, we asked a </a:t>
            </a:r>
            <a:r>
              <a:rPr lang="en-US" b="1"/>
              <a:t>follow-up question about entry fees</a:t>
            </a:r>
            <a:r>
              <a:rPr lang="en-US"/>
              <a:t>. Because the system keeps conversation context, it understands that we are still referring to Yellowstone and gives the correct answer.</a:t>
            </a:r>
          </a:p>
          <a:p>
            <a:r>
              <a:rPr lang="en-US"/>
              <a:t>In the final example, we asked about the </a:t>
            </a:r>
            <a:r>
              <a:rPr lang="en-US" b="1"/>
              <a:t>nearest airports to Glacier National Park</a:t>
            </a:r>
            <a:r>
              <a:rPr lang="en-US"/>
              <a:t>, and the assistant retrieves that information from the Glacier park document.</a:t>
            </a:r>
          </a:p>
          <a:p>
            <a:r>
              <a:rPr lang="en-US"/>
              <a:t>The key idea here is that the system </a:t>
            </a:r>
            <a:r>
              <a:rPr lang="en-US" b="1"/>
              <a:t>retrieves the right park information and can handle follow-up questions</a:t>
            </a:r>
            <a:r>
              <a:rPr lang="en-US"/>
              <a:t>, making the interaction feel like a natural conversation.</a:t>
            </a:r>
          </a:p>
          <a:p>
            <a:r>
              <a:rPr lang="en-US"/>
              <a:t>You can also see the </a:t>
            </a:r>
            <a:r>
              <a:rPr lang="en-US" b="1"/>
              <a:t>conversation history in the interface</a:t>
            </a:r>
            <a:r>
              <a:rPr lang="en-US"/>
              <a:t>. In our system, we keep the </a:t>
            </a:r>
            <a:r>
              <a:rPr lang="en-US" b="1"/>
              <a:t>last six questions and responses in memory</a:t>
            </a:r>
            <a:r>
              <a:rPr lang="en-US"/>
              <a:t> to maintain context while keeping the system efficient.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system works end-to-end. Park documents are embedded and stored in </a:t>
            </a:r>
            <a:r>
              <a:rPr lang="en-US" dirty="0" err="1"/>
              <a:t>ChromaDB</a:t>
            </a:r>
            <a:r>
              <a:rPr lang="en-US" dirty="0"/>
              <a:t>, relevant chunks are retrieved for each query, and LLM generates the response through the chat interface with conversation memory.</a:t>
            </a:r>
          </a:p>
          <a:p>
            <a:endParaRPr lang="en-US" dirty="0"/>
          </a:p>
          <a:p>
            <a:r>
              <a:rPr lang="en-US"/>
              <a:t>There are a few practical limitations. Since we built this on our personal laptops, everything runs on CPU, so responses can be slower compared to cloud systems with GPUs. With GPU or cloud resources, the same system could respond much faster.</a:t>
            </a:r>
          </a:p>
          <a:p>
            <a:r>
              <a:rPr lang="en-US"/>
              <a:t>Our assistant already works well with the park documents we indexed. In the future, we can improve it by adding more sources like park PDFs, official websites, or guidebooks to make the knowledge base richer.</a:t>
            </a:r>
          </a:p>
          <a:p>
            <a:r>
              <a:rPr lang="en-US" dirty="0"/>
              <a:t>We are also planning on improving the retrieval quality for better chunking or reranking methods.</a:t>
            </a:r>
          </a:p>
          <a:p>
            <a:r>
              <a:rPr lang="en-US" dirty="0"/>
              <a:t>The important point is that these are not problems with the architecture itself — they are mainly resource and scale limits. Our architecture is modular and flexible, we can easily swap the LLM, embedding model, or even the document collection simply by changing one line in the configuration. We believe our </a:t>
            </a:r>
            <a:r>
              <a:rPr lang="en-US" dirty="0" err="1"/>
              <a:t>syste</a:t>
            </a:r>
            <a:r>
              <a:rPr lang="en-US" dirty="0"/>
              <a:t>m can easily expand into a more powerful travel assistant.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5669280" y="-1097280"/>
            <a:ext cx="5029200" cy="5029200"/>
          </a:xfrm>
          <a:prstGeom prst="ellipse">
            <a:avLst/>
          </a:prstGeom>
          <a:solidFill>
            <a:srgbClr val="0EA5E9">
              <a:alpha val="8000"/>
            </a:srgbClr>
          </a:solidFill>
          <a:ln w="12700">
            <a:solidFill>
              <a:srgbClr val="0EA5E9">
                <a:alpha val="12000"/>
              </a:srgbClr>
            </a:solidFill>
            <a:prstDash val="solid"/>
          </a:ln>
        </p:spPr>
        <p:txBody>
          <a:bodyPr/>
          <a:lstStyle/>
          <a:p>
            <a:endParaRPr lang="en-US"/>
          </a:p>
        </p:txBody>
      </p:sp>
      <p:sp>
        <p:nvSpPr>
          <p:cNvPr id="3" name="Shape 1"/>
          <p:cNvSpPr/>
          <p:nvPr/>
        </p:nvSpPr>
        <p:spPr>
          <a:xfrm>
            <a:off x="6858000" y="2661359"/>
            <a:ext cx="2926080" cy="2926080"/>
          </a:xfrm>
          <a:prstGeom prst="ellipse">
            <a:avLst/>
          </a:prstGeom>
          <a:solidFill>
            <a:srgbClr val="10B981">
              <a:alpha val="6000"/>
            </a:srgbClr>
          </a:solidFill>
          <a:ln w="12700">
            <a:solidFill>
              <a:srgbClr val="10B981">
                <a:alpha val="10000"/>
              </a:srgbClr>
            </a:solidFill>
            <a:prstDash val="solid"/>
          </a:ln>
        </p:spPr>
        <p:txBody>
          <a:bodyPr/>
          <a:lstStyle/>
          <a:p>
            <a:endParaRPr lang="en-US"/>
          </a:p>
        </p:txBody>
      </p:sp>
      <p:sp>
        <p:nvSpPr>
          <p:cNvPr id="4" name="Shape 2"/>
          <p:cNvSpPr/>
          <p:nvPr/>
        </p:nvSpPr>
        <p:spPr>
          <a:xfrm>
            <a:off x="457200" y="921055"/>
            <a:ext cx="45719" cy="3190307"/>
          </a:xfrm>
          <a:prstGeom prst="rect">
            <a:avLst/>
          </a:prstGeom>
          <a:solidFill>
            <a:srgbClr val="0EA5E9"/>
          </a:solidFill>
          <a:ln w="12700">
            <a:solidFill>
              <a:srgbClr val="0EA5E9"/>
            </a:solidFill>
            <a:prstDash val="solid"/>
          </a:ln>
        </p:spPr>
        <p:txBody>
          <a:bodyPr/>
          <a:lstStyle/>
          <a:p>
            <a:endParaRPr lang="en-US"/>
          </a:p>
        </p:txBody>
      </p:sp>
      <p:sp>
        <p:nvSpPr>
          <p:cNvPr id="5" name="Text 3"/>
          <p:cNvSpPr/>
          <p:nvPr/>
        </p:nvSpPr>
        <p:spPr>
          <a:xfrm>
            <a:off x="685800" y="921055"/>
            <a:ext cx="6858000" cy="292608"/>
          </a:xfrm>
          <a:prstGeom prst="rect">
            <a:avLst/>
          </a:prstGeom>
          <a:noFill/>
          <a:ln/>
        </p:spPr>
        <p:txBody>
          <a:bodyPr wrap="square" lIns="0" tIns="0" rIns="0" bIns="0" rtlCol="0" anchor="ctr"/>
          <a:lstStyle/>
          <a:p>
            <a:pPr marL="0" indent="0" algn="l">
              <a:buNone/>
            </a:pPr>
            <a:r>
              <a:rPr lang="en-US" sz="900" b="1" kern="0" spc="300">
                <a:solidFill>
                  <a:srgbClr val="64748B"/>
                </a:solidFill>
                <a:latin typeface="Trebuchet MS" pitchFamily="34" charset="0"/>
                <a:ea typeface="Trebuchet MS" pitchFamily="34" charset="-122"/>
                <a:cs typeface="Trebuchet MS" pitchFamily="34" charset="-120"/>
              </a:rPr>
              <a:t>WEEK 6 ASSIGNMENT  ·  AGENTIC AI  ·  UTD</a:t>
            </a:r>
            <a:endParaRPr lang="en-US" sz="900"/>
          </a:p>
        </p:txBody>
      </p:sp>
      <p:sp>
        <p:nvSpPr>
          <p:cNvPr id="6" name="Text 4"/>
          <p:cNvSpPr/>
          <p:nvPr/>
        </p:nvSpPr>
        <p:spPr>
          <a:xfrm>
            <a:off x="685800" y="1305103"/>
            <a:ext cx="7772400" cy="777240"/>
          </a:xfrm>
          <a:prstGeom prst="rect">
            <a:avLst/>
          </a:prstGeom>
          <a:noFill/>
          <a:ln/>
        </p:spPr>
        <p:txBody>
          <a:bodyPr wrap="square" lIns="0" tIns="0" rIns="0" bIns="0" rtlCol="0" anchor="ctr"/>
          <a:lstStyle/>
          <a:p>
            <a:pPr marL="0" indent="0" algn="l">
              <a:buNone/>
            </a:pPr>
            <a:r>
              <a:rPr lang="en-US" sz="4800" b="1">
                <a:solidFill>
                  <a:srgbClr val="F1F5F9"/>
                </a:solidFill>
                <a:latin typeface="Trebuchet MS" pitchFamily="34" charset="0"/>
                <a:ea typeface="Trebuchet MS" pitchFamily="34" charset="-122"/>
                <a:cs typeface="Trebuchet MS" pitchFamily="34" charset="-120"/>
              </a:rPr>
              <a:t>USA National Parks</a:t>
            </a:r>
            <a:endParaRPr lang="en-US" sz="4800"/>
          </a:p>
        </p:txBody>
      </p:sp>
      <p:sp>
        <p:nvSpPr>
          <p:cNvPr id="7" name="Text 5"/>
          <p:cNvSpPr/>
          <p:nvPr/>
        </p:nvSpPr>
        <p:spPr>
          <a:xfrm>
            <a:off x="685800" y="2036623"/>
            <a:ext cx="7772400" cy="777240"/>
          </a:xfrm>
          <a:prstGeom prst="rect">
            <a:avLst/>
          </a:prstGeom>
          <a:noFill/>
          <a:ln/>
        </p:spPr>
        <p:txBody>
          <a:bodyPr wrap="square" lIns="0" tIns="0" rIns="0" bIns="0" rtlCol="0" anchor="ctr"/>
          <a:lstStyle/>
          <a:p>
            <a:pPr marL="0" indent="0" algn="l">
              <a:buNone/>
            </a:pPr>
            <a:r>
              <a:rPr lang="en-US" sz="4800" b="1">
                <a:solidFill>
                  <a:srgbClr val="0EA5E9"/>
                </a:solidFill>
                <a:latin typeface="Trebuchet MS" pitchFamily="34" charset="0"/>
                <a:ea typeface="Trebuchet MS" pitchFamily="34" charset="-122"/>
                <a:cs typeface="Trebuchet MS" pitchFamily="34" charset="-120"/>
              </a:rPr>
              <a:t>RAG Assistant</a:t>
            </a:r>
            <a:endParaRPr lang="en-US" sz="4800"/>
          </a:p>
        </p:txBody>
      </p:sp>
      <p:sp>
        <p:nvSpPr>
          <p:cNvPr id="8" name="Text 6"/>
          <p:cNvSpPr/>
          <p:nvPr/>
        </p:nvSpPr>
        <p:spPr>
          <a:xfrm>
            <a:off x="685800" y="3154680"/>
            <a:ext cx="6858000" cy="821513"/>
          </a:xfrm>
          <a:prstGeom prst="rect">
            <a:avLst/>
          </a:prstGeom>
          <a:noFill/>
          <a:ln/>
        </p:spPr>
        <p:txBody>
          <a:bodyPr wrap="square" lIns="0" tIns="0" rIns="0" bIns="0" rtlCol="0" anchor="ctr"/>
          <a:lstStyle/>
          <a:p>
            <a:pPr marL="0" indent="0" algn="l">
              <a:buNone/>
            </a:pPr>
            <a:r>
              <a:rPr lang="en-US" sz="1400" dirty="0">
                <a:solidFill>
                  <a:srgbClr val="64748B"/>
                </a:solidFill>
                <a:latin typeface="Trebuchet MS" pitchFamily="34" charset="0"/>
                <a:ea typeface="Trebuchet MS" pitchFamily="34" charset="-122"/>
                <a:cs typeface="Trebuchet MS" pitchFamily="34" charset="-120"/>
              </a:rPr>
              <a:t>A Conversational Travel Guide Powered by Local LLM</a:t>
            </a:r>
          </a:p>
          <a:p>
            <a:endParaRPr lang="en-US" sz="1100" dirty="0">
              <a:solidFill>
                <a:srgbClr val="64748B"/>
              </a:solidFill>
              <a:latin typeface="Trebuchet MS"/>
            </a:endParaRPr>
          </a:p>
          <a:p>
            <a:r>
              <a:rPr lang="en-US" sz="1100" dirty="0">
                <a:solidFill>
                  <a:srgbClr val="64748B"/>
                </a:solidFill>
                <a:latin typeface="Trebuchet MS"/>
              </a:rPr>
              <a:t>Presented by</a:t>
            </a:r>
          </a:p>
          <a:p>
            <a:r>
              <a:rPr lang="en-US" sz="1100" dirty="0">
                <a:solidFill>
                  <a:srgbClr val="64748B"/>
                </a:solidFill>
                <a:latin typeface="Trebuchet MS"/>
              </a:rPr>
              <a:t>GROUP Lion kings</a:t>
            </a:r>
            <a:endParaRPr lang="en-US" dirty="0"/>
          </a:p>
          <a:p>
            <a:r>
              <a:rPr lang="en-US" sz="1100" dirty="0">
                <a:solidFill>
                  <a:srgbClr val="64748B"/>
                </a:solidFill>
                <a:latin typeface="Trebuchet MS"/>
              </a:rPr>
              <a:t>Raji Sivani Murugesan</a:t>
            </a:r>
          </a:p>
          <a:p>
            <a:r>
              <a:rPr lang="en-US" sz="1100" dirty="0">
                <a:solidFill>
                  <a:srgbClr val="64748B"/>
                </a:solidFill>
                <a:latin typeface="Trebuchet MS"/>
              </a:rPr>
              <a:t>Naveenkumar Rameshbabu</a:t>
            </a:r>
          </a:p>
          <a:p>
            <a:r>
              <a:rPr lang="en-US" sz="1100" dirty="0">
                <a:solidFill>
                  <a:srgbClr val="64748B"/>
                </a:solidFill>
                <a:latin typeface="Trebuchet MS"/>
              </a:rPr>
              <a:t>Akhil Saravanan</a:t>
            </a:r>
          </a:p>
          <a:p>
            <a:endParaRPr lang="en-US" sz="1400" dirty="0">
              <a:solidFill>
                <a:srgbClr val="64748B"/>
              </a:solidFill>
              <a:latin typeface="Trebuchet MS"/>
            </a:endParaRPr>
          </a:p>
        </p:txBody>
      </p:sp>
      <p:sp>
        <p:nvSpPr>
          <p:cNvPr id="9" name="Shape 7"/>
          <p:cNvSpPr/>
          <p:nvPr/>
        </p:nvSpPr>
        <p:spPr>
          <a:xfrm>
            <a:off x="685800" y="4206240"/>
            <a:ext cx="1508760" cy="347472"/>
          </a:xfrm>
          <a:prstGeom prst="rect">
            <a:avLst/>
          </a:prstGeom>
          <a:solidFill>
            <a:srgbClr val="0EA5E9">
              <a:alpha val="18000"/>
            </a:srgbClr>
          </a:solidFill>
          <a:ln w="12700">
            <a:solidFill>
              <a:srgbClr val="0EA5E9">
                <a:alpha val="45000"/>
              </a:srgbClr>
            </a:solidFill>
            <a:prstDash val="solid"/>
          </a:ln>
        </p:spPr>
        <p:txBody>
          <a:bodyPr/>
          <a:lstStyle/>
          <a:p>
            <a:endParaRPr lang="en-US"/>
          </a:p>
        </p:txBody>
      </p:sp>
      <p:sp>
        <p:nvSpPr>
          <p:cNvPr id="10" name="Text 8"/>
          <p:cNvSpPr/>
          <p:nvPr/>
        </p:nvSpPr>
        <p:spPr>
          <a:xfrm>
            <a:off x="685800" y="4206240"/>
            <a:ext cx="1508760" cy="347472"/>
          </a:xfrm>
          <a:prstGeom prst="rect">
            <a:avLst/>
          </a:prstGeom>
          <a:noFill/>
          <a:ln/>
        </p:spPr>
        <p:txBody>
          <a:bodyPr wrap="square" lIns="0" tIns="0" rIns="0" bIns="0" rtlCol="0" anchor="ctr"/>
          <a:lstStyle/>
          <a:p>
            <a:pPr marL="0" indent="0" algn="ctr">
              <a:buNone/>
            </a:pPr>
            <a:r>
              <a:rPr lang="en-US" sz="1000" b="1">
                <a:solidFill>
                  <a:srgbClr val="0EA5E9"/>
                </a:solidFill>
                <a:latin typeface="Trebuchet MS" pitchFamily="34" charset="0"/>
                <a:ea typeface="Trebuchet MS" pitchFamily="34" charset="-122"/>
                <a:cs typeface="Trebuchet MS" pitchFamily="34" charset="-120"/>
              </a:rPr>
              <a:t>63 Parks</a:t>
            </a:r>
            <a:endParaRPr lang="en-US" sz="1000"/>
          </a:p>
        </p:txBody>
      </p:sp>
      <p:sp>
        <p:nvSpPr>
          <p:cNvPr id="11" name="Shape 9"/>
          <p:cNvSpPr/>
          <p:nvPr/>
        </p:nvSpPr>
        <p:spPr>
          <a:xfrm>
            <a:off x="2331720" y="4206240"/>
            <a:ext cx="1508760" cy="347472"/>
          </a:xfrm>
          <a:prstGeom prst="rect">
            <a:avLst/>
          </a:prstGeom>
          <a:solidFill>
            <a:srgbClr val="10B981">
              <a:alpha val="18000"/>
            </a:srgbClr>
          </a:solidFill>
          <a:ln w="12700">
            <a:solidFill>
              <a:srgbClr val="10B981">
                <a:alpha val="45000"/>
              </a:srgbClr>
            </a:solidFill>
            <a:prstDash val="solid"/>
          </a:ln>
        </p:spPr>
        <p:txBody>
          <a:bodyPr/>
          <a:lstStyle/>
          <a:p>
            <a:endParaRPr lang="en-US"/>
          </a:p>
        </p:txBody>
      </p:sp>
      <p:sp>
        <p:nvSpPr>
          <p:cNvPr id="12" name="Text 10"/>
          <p:cNvSpPr/>
          <p:nvPr/>
        </p:nvSpPr>
        <p:spPr>
          <a:xfrm>
            <a:off x="2331720" y="4206240"/>
            <a:ext cx="1508760" cy="347472"/>
          </a:xfrm>
          <a:prstGeom prst="rect">
            <a:avLst/>
          </a:prstGeom>
          <a:noFill/>
          <a:ln/>
        </p:spPr>
        <p:txBody>
          <a:bodyPr wrap="square" lIns="0" tIns="0" rIns="0" bIns="0" rtlCol="0" anchor="ctr"/>
          <a:lstStyle/>
          <a:p>
            <a:pPr marL="0" indent="0" algn="ctr">
              <a:buNone/>
            </a:pPr>
            <a:r>
              <a:rPr lang="en-US" sz="1000" b="1">
                <a:solidFill>
                  <a:srgbClr val="10B981"/>
                </a:solidFill>
                <a:latin typeface="Trebuchet MS" pitchFamily="34" charset="0"/>
                <a:ea typeface="Trebuchet MS" pitchFamily="34" charset="-122"/>
                <a:cs typeface="Trebuchet MS" pitchFamily="34" charset="-120"/>
              </a:rPr>
              <a:t>100% Local</a:t>
            </a:r>
            <a:endParaRPr lang="en-US" sz="1000"/>
          </a:p>
        </p:txBody>
      </p:sp>
      <p:sp>
        <p:nvSpPr>
          <p:cNvPr id="13" name="Shape 11"/>
          <p:cNvSpPr/>
          <p:nvPr/>
        </p:nvSpPr>
        <p:spPr>
          <a:xfrm>
            <a:off x="3977640" y="4206240"/>
            <a:ext cx="1508760" cy="347472"/>
          </a:xfrm>
          <a:prstGeom prst="rect">
            <a:avLst/>
          </a:prstGeom>
          <a:solidFill>
            <a:srgbClr val="F59E0B">
              <a:alpha val="18000"/>
            </a:srgbClr>
          </a:solidFill>
          <a:ln w="12700">
            <a:solidFill>
              <a:srgbClr val="F59E0B">
                <a:alpha val="45000"/>
              </a:srgbClr>
            </a:solidFill>
            <a:prstDash val="solid"/>
          </a:ln>
        </p:spPr>
        <p:txBody>
          <a:bodyPr/>
          <a:lstStyle/>
          <a:p>
            <a:endParaRPr lang="en-US"/>
          </a:p>
        </p:txBody>
      </p:sp>
      <p:sp>
        <p:nvSpPr>
          <p:cNvPr id="14" name="Text 12"/>
          <p:cNvSpPr/>
          <p:nvPr/>
        </p:nvSpPr>
        <p:spPr>
          <a:xfrm>
            <a:off x="3977640" y="4206240"/>
            <a:ext cx="1508760" cy="347472"/>
          </a:xfrm>
          <a:prstGeom prst="rect">
            <a:avLst/>
          </a:prstGeom>
          <a:noFill/>
          <a:ln/>
        </p:spPr>
        <p:txBody>
          <a:bodyPr wrap="square" lIns="0" tIns="0" rIns="0" bIns="0" rtlCol="0" anchor="ctr"/>
          <a:lstStyle/>
          <a:p>
            <a:pPr marL="0" indent="0" algn="ctr">
              <a:buNone/>
            </a:pPr>
            <a:r>
              <a:rPr lang="en-US" sz="1000" b="1">
                <a:solidFill>
                  <a:srgbClr val="F59E0B"/>
                </a:solidFill>
                <a:latin typeface="Trebuchet MS" pitchFamily="34" charset="0"/>
                <a:ea typeface="Trebuchet MS" pitchFamily="34" charset="-122"/>
                <a:cs typeface="Trebuchet MS" pitchFamily="34" charset="-120"/>
              </a:rPr>
              <a:t>ChromaDB + Ollama</a:t>
            </a:r>
            <a:endParaRPr lang="en-US" sz="1000"/>
          </a:p>
        </p:txBody>
      </p:sp>
      <p:sp>
        <p:nvSpPr>
          <p:cNvPr id="15" name="Shape 13"/>
          <p:cNvSpPr/>
          <p:nvPr/>
        </p:nvSpPr>
        <p:spPr>
          <a:xfrm>
            <a:off x="5623560" y="4202184"/>
            <a:ext cx="1508760" cy="347472"/>
          </a:xfrm>
          <a:prstGeom prst="rect">
            <a:avLst/>
          </a:prstGeom>
          <a:solidFill>
            <a:srgbClr val="0EA5E9">
              <a:alpha val="18000"/>
            </a:srgbClr>
          </a:solidFill>
          <a:ln w="12700">
            <a:solidFill>
              <a:srgbClr val="0EA5E9">
                <a:alpha val="45000"/>
              </a:srgbClr>
            </a:solidFill>
            <a:prstDash val="solid"/>
          </a:ln>
        </p:spPr>
        <p:txBody>
          <a:bodyPr/>
          <a:lstStyle/>
          <a:p>
            <a:endParaRPr lang="en-US" dirty="0"/>
          </a:p>
        </p:txBody>
      </p:sp>
      <p:sp>
        <p:nvSpPr>
          <p:cNvPr id="16" name="Text 14"/>
          <p:cNvSpPr/>
          <p:nvPr/>
        </p:nvSpPr>
        <p:spPr>
          <a:xfrm>
            <a:off x="5623560" y="4206240"/>
            <a:ext cx="1508760" cy="347472"/>
          </a:xfrm>
          <a:prstGeom prst="rect">
            <a:avLst/>
          </a:prstGeom>
          <a:noFill/>
          <a:ln/>
        </p:spPr>
        <p:txBody>
          <a:bodyPr wrap="square" lIns="0" tIns="0" rIns="0" bIns="0" rtlCol="0" anchor="ctr"/>
          <a:lstStyle/>
          <a:p>
            <a:pPr marL="0" indent="0" algn="ctr">
              <a:buNone/>
            </a:pPr>
            <a:r>
              <a:rPr lang="en-US" sz="1000" b="1" dirty="0" err="1">
                <a:solidFill>
                  <a:srgbClr val="0EA5E9"/>
                </a:solidFill>
                <a:latin typeface="Trebuchet MS" pitchFamily="34" charset="0"/>
                <a:ea typeface="Trebuchet MS" pitchFamily="34" charset="-122"/>
                <a:cs typeface="Trebuchet MS" pitchFamily="34" charset="-120"/>
              </a:rPr>
              <a:t>Streamlit</a:t>
            </a:r>
            <a:r>
              <a:rPr lang="en-US" sz="1000" b="1" dirty="0">
                <a:solidFill>
                  <a:srgbClr val="0EA5E9"/>
                </a:solidFill>
                <a:latin typeface="Trebuchet MS" pitchFamily="34" charset="0"/>
                <a:ea typeface="Trebuchet MS" pitchFamily="34" charset="-122"/>
                <a:cs typeface="Trebuchet MS" pitchFamily="34" charset="-120"/>
              </a:rPr>
              <a:t> UI</a:t>
            </a:r>
            <a:endParaRPr lang="en-US" sz="1000" dirty="0"/>
          </a:p>
        </p:txBody>
      </p:sp>
      <p:sp>
        <p:nvSpPr>
          <p:cNvPr id="17" name="Shape 13">
            <a:extLst>
              <a:ext uri="{FF2B5EF4-FFF2-40B4-BE49-F238E27FC236}">
                <a16:creationId xmlns:a16="http://schemas.microsoft.com/office/drawing/2014/main" id="{1604FF36-738E-604C-A0F7-C7059FCDD9AD}"/>
              </a:ext>
            </a:extLst>
          </p:cNvPr>
          <p:cNvSpPr/>
          <p:nvPr/>
        </p:nvSpPr>
        <p:spPr>
          <a:xfrm>
            <a:off x="7269480" y="4202184"/>
            <a:ext cx="1508760" cy="347472"/>
          </a:xfrm>
          <a:prstGeom prst="rect">
            <a:avLst/>
          </a:prstGeom>
          <a:solidFill>
            <a:srgbClr val="0EA5E9">
              <a:alpha val="18000"/>
            </a:srgbClr>
          </a:solidFill>
          <a:ln w="12700">
            <a:solidFill>
              <a:srgbClr val="0EA5E9">
                <a:alpha val="45000"/>
              </a:srgbClr>
            </a:solidFill>
            <a:prstDash val="solid"/>
          </a:ln>
        </p:spPr>
        <p:txBody>
          <a:bodyPr/>
          <a:lstStyle/>
          <a:p>
            <a:pPr algn="ctr"/>
            <a:r>
              <a:rPr lang="en-US" sz="1000" b="1" dirty="0">
                <a:solidFill>
                  <a:srgbClr val="0EA5E9"/>
                </a:solidFill>
                <a:latin typeface="Trebuchet MS" pitchFamily="34" charset="0"/>
              </a:rPr>
              <a:t>Error handling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E"/>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30352"/>
          </a:xfrm>
          <a:prstGeom prst="rect">
            <a:avLst/>
          </a:prstGeom>
          <a:noFill/>
          <a:ln/>
        </p:spPr>
        <p:txBody>
          <a:bodyPr wrap="square" lIns="0" tIns="0" rIns="0" bIns="0" rtlCol="0" anchor="ctr"/>
          <a:lstStyle/>
          <a:p>
            <a:pPr marL="0" indent="0" algn="l">
              <a:buNone/>
            </a:pPr>
            <a:r>
              <a:rPr lang="en-US" sz="2800" b="1">
                <a:solidFill>
                  <a:srgbClr val="0EA5E9"/>
                </a:solidFill>
                <a:latin typeface="Trebuchet MS" pitchFamily="34" charset="0"/>
                <a:ea typeface="Trebuchet MS" pitchFamily="34" charset="-122"/>
                <a:cs typeface="Trebuchet MS" pitchFamily="34" charset="-120"/>
              </a:rPr>
              <a:t>What is Retrieval-Augmented Generation?</a:t>
            </a:r>
            <a:endParaRPr lang="en-US" sz="2800"/>
          </a:p>
        </p:txBody>
      </p:sp>
      <p:sp>
        <p:nvSpPr>
          <p:cNvPr id="3" name="Shape 1"/>
          <p:cNvSpPr/>
          <p:nvPr/>
        </p:nvSpPr>
        <p:spPr>
          <a:xfrm>
            <a:off x="457200" y="896112"/>
            <a:ext cx="8229600" cy="27432"/>
          </a:xfrm>
          <a:prstGeom prst="rect">
            <a:avLst/>
          </a:prstGeom>
          <a:solidFill>
            <a:srgbClr val="0EA5E9">
              <a:alpha val="40000"/>
            </a:srgbClr>
          </a:solidFill>
          <a:ln w="12700">
            <a:solidFill>
              <a:srgbClr val="0EA5E9">
                <a:alpha val="40000"/>
              </a:srgbClr>
            </a:solidFill>
            <a:prstDash val="solid"/>
          </a:ln>
        </p:spPr>
        <p:txBody>
          <a:bodyPr/>
          <a:lstStyle/>
          <a:p>
            <a:endParaRPr lang="en-US"/>
          </a:p>
        </p:txBody>
      </p:sp>
      <p:sp>
        <p:nvSpPr>
          <p:cNvPr id="4" name="Shape 2"/>
          <p:cNvSpPr/>
          <p:nvPr/>
        </p:nvSpPr>
        <p:spPr>
          <a:xfrm>
            <a:off x="457200" y="1005840"/>
            <a:ext cx="2606040" cy="192024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5" name="Text 3"/>
          <p:cNvSpPr/>
          <p:nvPr/>
        </p:nvSpPr>
        <p:spPr>
          <a:xfrm>
            <a:off x="594360" y="1078992"/>
            <a:ext cx="640080" cy="777240"/>
          </a:xfrm>
          <a:prstGeom prst="rect">
            <a:avLst/>
          </a:prstGeom>
          <a:noFill/>
          <a:ln/>
        </p:spPr>
        <p:txBody>
          <a:bodyPr wrap="square" lIns="0" tIns="0" rIns="0" bIns="0" rtlCol="0" anchor="ctr"/>
          <a:lstStyle/>
          <a:p>
            <a:pPr marL="0" indent="0" algn="l">
              <a:buNone/>
            </a:pPr>
            <a:r>
              <a:rPr lang="en-US" sz="4200" b="1">
                <a:solidFill>
                  <a:srgbClr val="0EA5E9"/>
                </a:solidFill>
                <a:latin typeface="Trebuchet MS" pitchFamily="34" charset="0"/>
                <a:ea typeface="Trebuchet MS" pitchFamily="34" charset="-122"/>
                <a:cs typeface="Trebuchet MS" pitchFamily="34" charset="-120"/>
              </a:rPr>
              <a:t>R</a:t>
            </a:r>
            <a:endParaRPr lang="en-US" sz="4200"/>
          </a:p>
        </p:txBody>
      </p:sp>
      <p:sp>
        <p:nvSpPr>
          <p:cNvPr id="6" name="Text 4"/>
          <p:cNvSpPr/>
          <p:nvPr/>
        </p:nvSpPr>
        <p:spPr>
          <a:xfrm>
            <a:off x="1234440" y="1188720"/>
            <a:ext cx="1691640" cy="384048"/>
          </a:xfrm>
          <a:prstGeom prst="rect">
            <a:avLst/>
          </a:prstGeom>
          <a:noFill/>
          <a:ln/>
        </p:spPr>
        <p:txBody>
          <a:bodyPr wrap="square" lIns="0" tIns="0" rIns="0" bIns="0" rtlCol="0" anchor="ctr"/>
          <a:lstStyle/>
          <a:p>
            <a:pPr marL="0" indent="0" algn="l">
              <a:buNone/>
            </a:pPr>
            <a:r>
              <a:rPr lang="en-US" sz="1400" b="1">
                <a:solidFill>
                  <a:srgbClr val="F1F5F9"/>
                </a:solidFill>
                <a:latin typeface="Trebuchet MS" pitchFamily="34" charset="0"/>
                <a:ea typeface="Trebuchet MS" pitchFamily="34" charset="-122"/>
                <a:cs typeface="Trebuchet MS" pitchFamily="34" charset="-120"/>
              </a:rPr>
              <a:t>Retrieval</a:t>
            </a:r>
            <a:endParaRPr lang="en-US" sz="1400"/>
          </a:p>
        </p:txBody>
      </p:sp>
      <p:sp>
        <p:nvSpPr>
          <p:cNvPr id="7" name="Text 5"/>
          <p:cNvSpPr/>
          <p:nvPr/>
        </p:nvSpPr>
        <p:spPr>
          <a:xfrm>
            <a:off x="621792" y="1737360"/>
            <a:ext cx="2331720" cy="1005840"/>
          </a:xfrm>
          <a:prstGeom prst="rect">
            <a:avLst/>
          </a:prstGeom>
          <a:noFill/>
          <a:ln/>
        </p:spPr>
        <p:txBody>
          <a:bodyPr wrap="square" lIns="0" tIns="0" rIns="0" bIns="0" rtlCol="0" anchor="ctr"/>
          <a:lstStyle/>
          <a:p>
            <a:pPr marL="0" indent="0" algn="l">
              <a:buNone/>
            </a:pPr>
            <a:r>
              <a:rPr lang="en-US" sz="1000">
                <a:solidFill>
                  <a:srgbClr val="64748B"/>
                </a:solidFill>
                <a:latin typeface="Trebuchet MS" pitchFamily="34" charset="0"/>
                <a:ea typeface="Trebuchet MS" pitchFamily="34" charset="-122"/>
                <a:cs typeface="Trebuchet MS" pitchFamily="34" charset="-120"/>
              </a:rPr>
              <a:t>Search a knowledge base to find the most relevant pieces of information for the question asked.</a:t>
            </a:r>
            <a:endParaRPr lang="en-US" sz="1000"/>
          </a:p>
        </p:txBody>
      </p:sp>
      <p:sp>
        <p:nvSpPr>
          <p:cNvPr id="8" name="Shape 6"/>
          <p:cNvSpPr/>
          <p:nvPr/>
        </p:nvSpPr>
        <p:spPr>
          <a:xfrm>
            <a:off x="3291840" y="1005840"/>
            <a:ext cx="2606040" cy="192024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9" name="Text 7"/>
          <p:cNvSpPr/>
          <p:nvPr/>
        </p:nvSpPr>
        <p:spPr>
          <a:xfrm>
            <a:off x="3429000" y="1078992"/>
            <a:ext cx="640080" cy="777240"/>
          </a:xfrm>
          <a:prstGeom prst="rect">
            <a:avLst/>
          </a:prstGeom>
          <a:noFill/>
          <a:ln/>
        </p:spPr>
        <p:txBody>
          <a:bodyPr wrap="square" lIns="0" tIns="0" rIns="0" bIns="0" rtlCol="0" anchor="ctr"/>
          <a:lstStyle/>
          <a:p>
            <a:pPr marL="0" indent="0" algn="l">
              <a:buNone/>
            </a:pPr>
            <a:r>
              <a:rPr lang="en-US" sz="4200" b="1">
                <a:solidFill>
                  <a:srgbClr val="10B981"/>
                </a:solidFill>
                <a:latin typeface="Trebuchet MS" pitchFamily="34" charset="0"/>
                <a:ea typeface="Trebuchet MS" pitchFamily="34" charset="-122"/>
                <a:cs typeface="Trebuchet MS" pitchFamily="34" charset="-120"/>
              </a:rPr>
              <a:t>A</a:t>
            </a:r>
            <a:endParaRPr lang="en-US" sz="4200"/>
          </a:p>
        </p:txBody>
      </p:sp>
      <p:sp>
        <p:nvSpPr>
          <p:cNvPr id="10" name="Text 8"/>
          <p:cNvSpPr/>
          <p:nvPr/>
        </p:nvSpPr>
        <p:spPr>
          <a:xfrm>
            <a:off x="4069080" y="1188720"/>
            <a:ext cx="1691640" cy="384048"/>
          </a:xfrm>
          <a:prstGeom prst="rect">
            <a:avLst/>
          </a:prstGeom>
          <a:noFill/>
          <a:ln/>
        </p:spPr>
        <p:txBody>
          <a:bodyPr wrap="square" lIns="0" tIns="0" rIns="0" bIns="0" rtlCol="0" anchor="ctr"/>
          <a:lstStyle/>
          <a:p>
            <a:pPr marL="0" indent="0" algn="l">
              <a:buNone/>
            </a:pPr>
            <a:r>
              <a:rPr lang="en-US" sz="1400" b="1">
                <a:solidFill>
                  <a:srgbClr val="F1F5F9"/>
                </a:solidFill>
                <a:latin typeface="Trebuchet MS" pitchFamily="34" charset="0"/>
                <a:ea typeface="Trebuchet MS" pitchFamily="34" charset="-122"/>
                <a:cs typeface="Trebuchet MS" pitchFamily="34" charset="-120"/>
              </a:rPr>
              <a:t>Augmented</a:t>
            </a:r>
            <a:endParaRPr lang="en-US" sz="1400"/>
          </a:p>
        </p:txBody>
      </p:sp>
      <p:sp>
        <p:nvSpPr>
          <p:cNvPr id="11" name="Text 9"/>
          <p:cNvSpPr/>
          <p:nvPr/>
        </p:nvSpPr>
        <p:spPr>
          <a:xfrm>
            <a:off x="3456432" y="1737360"/>
            <a:ext cx="2331720" cy="1005840"/>
          </a:xfrm>
          <a:prstGeom prst="rect">
            <a:avLst/>
          </a:prstGeom>
          <a:noFill/>
          <a:ln/>
        </p:spPr>
        <p:txBody>
          <a:bodyPr wrap="square" lIns="0" tIns="0" rIns="0" bIns="0" rtlCol="0" anchor="ctr"/>
          <a:lstStyle/>
          <a:p>
            <a:pPr marL="0" indent="0" algn="l">
              <a:buNone/>
            </a:pPr>
            <a:r>
              <a:rPr lang="en-US" sz="1000">
                <a:solidFill>
                  <a:srgbClr val="64748B"/>
                </a:solidFill>
                <a:latin typeface="Trebuchet MS" pitchFamily="34" charset="0"/>
                <a:ea typeface="Trebuchet MS" pitchFamily="34" charset="-122"/>
                <a:cs typeface="Trebuchet MS" pitchFamily="34" charset="-120"/>
              </a:rPr>
              <a:t>Add the retrieved content as context to the question before passing it to the language model.</a:t>
            </a:r>
            <a:endParaRPr lang="en-US" sz="1000"/>
          </a:p>
        </p:txBody>
      </p:sp>
      <p:sp>
        <p:nvSpPr>
          <p:cNvPr id="12" name="Shape 10"/>
          <p:cNvSpPr/>
          <p:nvPr/>
        </p:nvSpPr>
        <p:spPr>
          <a:xfrm>
            <a:off x="6126480" y="1005840"/>
            <a:ext cx="2606040" cy="192024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13" name="Text 11"/>
          <p:cNvSpPr/>
          <p:nvPr/>
        </p:nvSpPr>
        <p:spPr>
          <a:xfrm>
            <a:off x="6263640" y="1078992"/>
            <a:ext cx="640080" cy="777240"/>
          </a:xfrm>
          <a:prstGeom prst="rect">
            <a:avLst/>
          </a:prstGeom>
          <a:noFill/>
          <a:ln/>
        </p:spPr>
        <p:txBody>
          <a:bodyPr wrap="square" lIns="0" tIns="0" rIns="0" bIns="0" rtlCol="0" anchor="ctr"/>
          <a:lstStyle/>
          <a:p>
            <a:pPr marL="0" indent="0" algn="l">
              <a:buNone/>
            </a:pPr>
            <a:r>
              <a:rPr lang="en-US" sz="4200" b="1">
                <a:solidFill>
                  <a:srgbClr val="F59E0B"/>
                </a:solidFill>
                <a:latin typeface="Trebuchet MS" pitchFamily="34" charset="0"/>
                <a:ea typeface="Trebuchet MS" pitchFamily="34" charset="-122"/>
                <a:cs typeface="Trebuchet MS" pitchFamily="34" charset="-120"/>
              </a:rPr>
              <a:t>G</a:t>
            </a:r>
            <a:endParaRPr lang="en-US" sz="4200"/>
          </a:p>
        </p:txBody>
      </p:sp>
      <p:sp>
        <p:nvSpPr>
          <p:cNvPr id="14" name="Text 12"/>
          <p:cNvSpPr/>
          <p:nvPr/>
        </p:nvSpPr>
        <p:spPr>
          <a:xfrm>
            <a:off x="6903720" y="1188720"/>
            <a:ext cx="1691640" cy="384048"/>
          </a:xfrm>
          <a:prstGeom prst="rect">
            <a:avLst/>
          </a:prstGeom>
          <a:noFill/>
          <a:ln/>
        </p:spPr>
        <p:txBody>
          <a:bodyPr wrap="square" lIns="0" tIns="0" rIns="0" bIns="0" rtlCol="0" anchor="ctr"/>
          <a:lstStyle/>
          <a:p>
            <a:pPr marL="0" indent="0" algn="l">
              <a:buNone/>
            </a:pPr>
            <a:r>
              <a:rPr lang="en-US" sz="1400" b="1">
                <a:solidFill>
                  <a:srgbClr val="F1F5F9"/>
                </a:solidFill>
                <a:latin typeface="Trebuchet MS" pitchFamily="34" charset="0"/>
                <a:ea typeface="Trebuchet MS" pitchFamily="34" charset="-122"/>
                <a:cs typeface="Trebuchet MS" pitchFamily="34" charset="-120"/>
              </a:rPr>
              <a:t>Generation</a:t>
            </a:r>
            <a:endParaRPr lang="en-US" sz="1400"/>
          </a:p>
        </p:txBody>
      </p:sp>
      <p:sp>
        <p:nvSpPr>
          <p:cNvPr id="15" name="Text 13"/>
          <p:cNvSpPr/>
          <p:nvPr/>
        </p:nvSpPr>
        <p:spPr>
          <a:xfrm>
            <a:off x="6291072" y="1737360"/>
            <a:ext cx="2331720" cy="1005840"/>
          </a:xfrm>
          <a:prstGeom prst="rect">
            <a:avLst/>
          </a:prstGeom>
          <a:noFill/>
          <a:ln/>
        </p:spPr>
        <p:txBody>
          <a:bodyPr wrap="square" lIns="0" tIns="0" rIns="0" bIns="0" rtlCol="0" anchor="ctr"/>
          <a:lstStyle/>
          <a:p>
            <a:pPr marL="0" indent="0" algn="l">
              <a:buNone/>
            </a:pPr>
            <a:r>
              <a:rPr lang="en-US" sz="1000">
                <a:solidFill>
                  <a:srgbClr val="64748B"/>
                </a:solidFill>
                <a:latin typeface="Trebuchet MS" pitchFamily="34" charset="0"/>
                <a:ea typeface="Trebuchet MS" pitchFamily="34" charset="-122"/>
                <a:cs typeface="Trebuchet MS" pitchFamily="34" charset="-120"/>
              </a:rPr>
              <a:t>The language model reads the context and writes a grounded, accurate answer.</a:t>
            </a:r>
            <a:endParaRPr lang="en-US" sz="1000"/>
          </a:p>
        </p:txBody>
      </p:sp>
      <p:sp>
        <p:nvSpPr>
          <p:cNvPr id="16" name="Shape 14"/>
          <p:cNvSpPr/>
          <p:nvPr/>
        </p:nvSpPr>
        <p:spPr>
          <a:xfrm>
            <a:off x="457200" y="3090672"/>
            <a:ext cx="3977640" cy="1719072"/>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17" name="Shape 15"/>
          <p:cNvSpPr/>
          <p:nvPr/>
        </p:nvSpPr>
        <p:spPr>
          <a:xfrm>
            <a:off x="457200" y="3090672"/>
            <a:ext cx="54864" cy="1719072"/>
          </a:xfrm>
          <a:prstGeom prst="rect">
            <a:avLst/>
          </a:prstGeom>
          <a:solidFill>
            <a:srgbClr val="0EA5E9"/>
          </a:solidFill>
          <a:ln w="12700">
            <a:solidFill>
              <a:srgbClr val="0EA5E9"/>
            </a:solidFill>
            <a:prstDash val="solid"/>
          </a:ln>
        </p:spPr>
        <p:txBody>
          <a:bodyPr/>
          <a:lstStyle/>
          <a:p>
            <a:endParaRPr lang="en-US"/>
          </a:p>
        </p:txBody>
      </p:sp>
      <p:sp>
        <p:nvSpPr>
          <p:cNvPr id="18" name="Text 16"/>
          <p:cNvSpPr/>
          <p:nvPr/>
        </p:nvSpPr>
        <p:spPr>
          <a:xfrm>
            <a:off x="658368" y="3163824"/>
            <a:ext cx="3657600" cy="329184"/>
          </a:xfrm>
          <a:prstGeom prst="rect">
            <a:avLst/>
          </a:prstGeom>
          <a:noFill/>
          <a:ln/>
        </p:spPr>
        <p:txBody>
          <a:bodyPr wrap="square" lIns="0" tIns="0" rIns="0" bIns="0" rtlCol="0" anchor="ctr"/>
          <a:lstStyle/>
          <a:p>
            <a:pPr marL="0" indent="0" algn="l">
              <a:buNone/>
            </a:pPr>
            <a:r>
              <a:rPr lang="en-US" sz="1300" b="1">
                <a:solidFill>
                  <a:srgbClr val="0EA5E9"/>
                </a:solidFill>
                <a:latin typeface="Trebuchet MS" pitchFamily="34" charset="0"/>
                <a:ea typeface="Trebuchet MS" pitchFamily="34" charset="-122"/>
                <a:cs typeface="Trebuchet MS" pitchFamily="34" charset="-120"/>
              </a:rPr>
              <a:t>Why RAG Exists</a:t>
            </a:r>
            <a:endParaRPr lang="en-US" sz="1300"/>
          </a:p>
        </p:txBody>
      </p:sp>
      <p:sp>
        <p:nvSpPr>
          <p:cNvPr id="19" name="Text 17"/>
          <p:cNvSpPr/>
          <p:nvPr/>
        </p:nvSpPr>
        <p:spPr>
          <a:xfrm>
            <a:off x="658368" y="3566160"/>
            <a:ext cx="3611880" cy="1170432"/>
          </a:xfrm>
          <a:prstGeom prst="rect">
            <a:avLst/>
          </a:prstGeom>
          <a:noFill/>
          <a:ln/>
        </p:spPr>
        <p:txBody>
          <a:bodyPr wrap="square" lIns="0" tIns="0" rIns="0" bIns="0" rtlCol="0" anchor="ctr"/>
          <a:lstStyle/>
          <a:p>
            <a:pPr marL="0" indent="0" algn="l">
              <a:spcAft>
                <a:spcPts val="400"/>
              </a:spcAft>
              <a:buNone/>
            </a:pPr>
            <a:r>
              <a:rPr lang="en-US" sz="1050" b="1">
                <a:solidFill>
                  <a:srgbClr val="0EA5E9"/>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Language models have fixed training knowledge</a:t>
            </a:r>
            <a:endParaRPr lang="en-US" sz="1050"/>
          </a:p>
          <a:p>
            <a:pPr marL="0" indent="0" algn="l">
              <a:spcAft>
                <a:spcPts val="400"/>
              </a:spcAft>
              <a:buNone/>
            </a:pPr>
            <a:r>
              <a:rPr lang="en-US" sz="1050" b="1">
                <a:solidFill>
                  <a:srgbClr val="0EA5E9"/>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RAG gives them access to YOUR specific documents</a:t>
            </a:r>
            <a:endParaRPr lang="en-US" sz="1050"/>
          </a:p>
          <a:p>
            <a:pPr marL="0" indent="0" algn="l">
              <a:spcAft>
                <a:spcPts val="400"/>
              </a:spcAft>
              <a:buNone/>
            </a:pPr>
            <a:r>
              <a:rPr lang="en-US" sz="1050" b="1">
                <a:solidFill>
                  <a:srgbClr val="0EA5E9"/>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Every answer is grounded in real retrieved content</a:t>
            </a:r>
            <a:endParaRPr lang="en-US" sz="1050"/>
          </a:p>
          <a:p>
            <a:pPr marL="0" indent="0" algn="l">
              <a:spcAft>
                <a:spcPts val="400"/>
              </a:spcAft>
              <a:buNone/>
            </a:pPr>
            <a:r>
              <a:rPr lang="en-US" sz="1050" b="1">
                <a:solidFill>
                  <a:srgbClr val="0EA5E9"/>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Not based on memorized training data</a:t>
            </a:r>
            <a:endParaRPr lang="en-US" sz="1050"/>
          </a:p>
        </p:txBody>
      </p:sp>
      <p:sp>
        <p:nvSpPr>
          <p:cNvPr id="20" name="Shape 18"/>
          <p:cNvSpPr/>
          <p:nvPr/>
        </p:nvSpPr>
        <p:spPr>
          <a:xfrm>
            <a:off x="4709160" y="3090672"/>
            <a:ext cx="3977640" cy="1719072"/>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21" name="Shape 19"/>
          <p:cNvSpPr/>
          <p:nvPr/>
        </p:nvSpPr>
        <p:spPr>
          <a:xfrm>
            <a:off x="4709160" y="3090672"/>
            <a:ext cx="54864" cy="1719072"/>
          </a:xfrm>
          <a:prstGeom prst="rect">
            <a:avLst/>
          </a:prstGeom>
          <a:solidFill>
            <a:srgbClr val="0EA5E9"/>
          </a:solidFill>
          <a:ln w="12700">
            <a:solidFill>
              <a:srgbClr val="0EA5E9"/>
            </a:solidFill>
            <a:prstDash val="solid"/>
          </a:ln>
        </p:spPr>
        <p:txBody>
          <a:bodyPr/>
          <a:lstStyle/>
          <a:p>
            <a:endParaRPr lang="en-US"/>
          </a:p>
        </p:txBody>
      </p:sp>
      <p:sp>
        <p:nvSpPr>
          <p:cNvPr id="22" name="Text 20"/>
          <p:cNvSpPr/>
          <p:nvPr/>
        </p:nvSpPr>
        <p:spPr>
          <a:xfrm>
            <a:off x="4910328" y="3163824"/>
            <a:ext cx="3657600" cy="329184"/>
          </a:xfrm>
          <a:prstGeom prst="rect">
            <a:avLst/>
          </a:prstGeom>
          <a:noFill/>
          <a:ln/>
        </p:spPr>
        <p:txBody>
          <a:bodyPr wrap="square" lIns="0" tIns="0" rIns="0" bIns="0" rtlCol="0" anchor="ctr"/>
          <a:lstStyle/>
          <a:p>
            <a:pPr marL="0" indent="0" algn="l">
              <a:buNone/>
            </a:pPr>
            <a:r>
              <a:rPr lang="en-US" sz="1300" b="1">
                <a:solidFill>
                  <a:srgbClr val="10B981"/>
                </a:solidFill>
                <a:latin typeface="Trebuchet MS" pitchFamily="34" charset="0"/>
                <a:ea typeface="Trebuchet MS" pitchFamily="34" charset="-122"/>
                <a:cs typeface="Trebuchet MS" pitchFamily="34" charset="-120"/>
              </a:rPr>
              <a:t>What Our RAG Does</a:t>
            </a:r>
            <a:endParaRPr lang="en-US" sz="1300"/>
          </a:p>
        </p:txBody>
      </p:sp>
      <p:sp>
        <p:nvSpPr>
          <p:cNvPr id="23" name="Text 21"/>
          <p:cNvSpPr/>
          <p:nvPr/>
        </p:nvSpPr>
        <p:spPr>
          <a:xfrm>
            <a:off x="4910328" y="3566160"/>
            <a:ext cx="3611880" cy="274320"/>
          </a:xfrm>
          <a:prstGeom prst="rect">
            <a:avLst/>
          </a:prstGeom>
          <a:noFill/>
          <a:ln/>
        </p:spPr>
        <p:txBody>
          <a:bodyPr wrap="square" lIns="0" tIns="0" rIns="0" bIns="0" rtlCol="0" anchor="ctr"/>
          <a:lstStyle/>
          <a:p>
            <a:r>
              <a:rPr lang="en-US" sz="1050" b="1">
                <a:solidFill>
                  <a:srgbClr val="10B981"/>
                </a:solidFill>
                <a:latin typeface="Trebuchet MS"/>
                <a:ea typeface="Trebuchet MS" pitchFamily="34" charset="-122"/>
                <a:cs typeface="Trebuchet MS" pitchFamily="34" charset="-120"/>
              </a:rPr>
              <a:t>Knowledge base  </a:t>
            </a:r>
            <a:r>
              <a:rPr lang="en-US" sz="1050">
                <a:solidFill>
                  <a:srgbClr val="64748B"/>
                </a:solidFill>
                <a:latin typeface="Trebuchet MS"/>
                <a:ea typeface="Trebuchet MS" pitchFamily="34" charset="-122"/>
                <a:cs typeface="Trebuchet MS" pitchFamily="34" charset="-120"/>
              </a:rPr>
              <a:t>63 US National Park documents (nps.gov)</a:t>
            </a:r>
            <a:endParaRPr lang="en-US" sz="1050"/>
          </a:p>
        </p:txBody>
      </p:sp>
      <p:sp>
        <p:nvSpPr>
          <p:cNvPr id="24" name="Text 22"/>
          <p:cNvSpPr/>
          <p:nvPr/>
        </p:nvSpPr>
        <p:spPr>
          <a:xfrm>
            <a:off x="4910328" y="3858768"/>
            <a:ext cx="3611880" cy="274320"/>
          </a:xfrm>
          <a:prstGeom prst="rect">
            <a:avLst/>
          </a:prstGeom>
          <a:noFill/>
          <a:ln/>
        </p:spPr>
        <p:txBody>
          <a:bodyPr wrap="square" lIns="0" tIns="0" rIns="0" bIns="0" rtlCol="0" anchor="ctr"/>
          <a:lstStyle/>
          <a:p>
            <a:pPr marL="0" indent="0" algn="l">
              <a:buNone/>
            </a:pPr>
            <a:r>
              <a:rPr lang="en-US" sz="1050" b="1">
                <a:solidFill>
                  <a:srgbClr val="10B981"/>
                </a:solidFill>
                <a:latin typeface="Trebuchet MS"/>
                <a:ea typeface="Trebuchet MS" pitchFamily="34" charset="-122"/>
                <a:cs typeface="Trebuchet MS" pitchFamily="34" charset="-120"/>
              </a:rPr>
              <a:t>User asks  </a:t>
            </a:r>
            <a:r>
              <a:rPr lang="en-US" sz="1050">
                <a:solidFill>
                  <a:srgbClr val="64748B"/>
                </a:solidFill>
                <a:latin typeface="Trebuchet MS"/>
                <a:ea typeface="Trebuchet MS" pitchFamily="34" charset="-122"/>
                <a:cs typeface="Trebuchet MS" pitchFamily="34" charset="-120"/>
              </a:rPr>
              <a:t>"Where is Zion?"</a:t>
            </a:r>
            <a:endParaRPr lang="en-US" sz="1050">
              <a:latin typeface="Trebuchet MS"/>
            </a:endParaRPr>
          </a:p>
        </p:txBody>
      </p:sp>
      <p:sp>
        <p:nvSpPr>
          <p:cNvPr id="25" name="Text 23"/>
          <p:cNvSpPr/>
          <p:nvPr/>
        </p:nvSpPr>
        <p:spPr>
          <a:xfrm>
            <a:off x="4910328" y="4151376"/>
            <a:ext cx="3611880" cy="274320"/>
          </a:xfrm>
          <a:prstGeom prst="rect">
            <a:avLst/>
          </a:prstGeom>
          <a:noFill/>
          <a:ln/>
        </p:spPr>
        <p:txBody>
          <a:bodyPr wrap="square" lIns="0" tIns="0" rIns="0" bIns="0" rtlCol="0" anchor="ctr"/>
          <a:lstStyle/>
          <a:p>
            <a:pPr marL="0" indent="0" algn="l">
              <a:buNone/>
            </a:pPr>
            <a:r>
              <a:rPr lang="en-US" sz="1050" b="1">
                <a:solidFill>
                  <a:srgbClr val="10B981"/>
                </a:solidFill>
                <a:latin typeface="Trebuchet MS" pitchFamily="34" charset="0"/>
                <a:ea typeface="Trebuchet MS" pitchFamily="34" charset="-122"/>
                <a:cs typeface="Trebuchet MS" pitchFamily="34" charset="-120"/>
              </a:rPr>
              <a:t>RAG retrieves  </a:t>
            </a:r>
            <a:r>
              <a:rPr lang="en-US" sz="1050">
                <a:solidFill>
                  <a:srgbClr val="64748B"/>
                </a:solidFill>
                <a:latin typeface="Trebuchet MS" pitchFamily="34" charset="0"/>
                <a:ea typeface="Trebuchet MS" pitchFamily="34" charset="-122"/>
                <a:cs typeface="Trebuchet MS" pitchFamily="34" charset="-120"/>
              </a:rPr>
              <a:t>Most relevant park chunks</a:t>
            </a:r>
            <a:endParaRPr lang="en-US" sz="1050"/>
          </a:p>
        </p:txBody>
      </p:sp>
      <p:sp>
        <p:nvSpPr>
          <p:cNvPr id="26" name="Text 24"/>
          <p:cNvSpPr/>
          <p:nvPr/>
        </p:nvSpPr>
        <p:spPr>
          <a:xfrm>
            <a:off x="4910328" y="4443984"/>
            <a:ext cx="3611880" cy="274320"/>
          </a:xfrm>
          <a:prstGeom prst="rect">
            <a:avLst/>
          </a:prstGeom>
          <a:noFill/>
          <a:ln/>
        </p:spPr>
        <p:txBody>
          <a:bodyPr wrap="square" lIns="0" tIns="0" rIns="0" bIns="0" rtlCol="0" anchor="ctr"/>
          <a:lstStyle/>
          <a:p>
            <a:pPr marL="0" indent="0" algn="l">
              <a:buNone/>
            </a:pPr>
            <a:r>
              <a:rPr lang="en-US" sz="1050" b="1">
                <a:solidFill>
                  <a:srgbClr val="10B981"/>
                </a:solidFill>
                <a:latin typeface="Trebuchet MS" pitchFamily="34" charset="0"/>
                <a:ea typeface="Trebuchet MS" pitchFamily="34" charset="-122"/>
                <a:cs typeface="Trebuchet MS" pitchFamily="34" charset="-120"/>
              </a:rPr>
              <a:t>LLM generates  </a:t>
            </a:r>
            <a:r>
              <a:rPr lang="en-US" sz="1050">
                <a:solidFill>
                  <a:srgbClr val="64748B"/>
                </a:solidFill>
                <a:latin typeface="Trebuchet MS" pitchFamily="34" charset="0"/>
                <a:ea typeface="Trebuchet MS" pitchFamily="34" charset="-122"/>
                <a:cs typeface="Trebuchet MS" pitchFamily="34" charset="-120"/>
              </a:rPr>
              <a:t>Answer grounded in those chunks</a:t>
            </a:r>
            <a:endParaRPr lang="en-US" sz="10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E"/>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30352"/>
          </a:xfrm>
          <a:prstGeom prst="rect">
            <a:avLst/>
          </a:prstGeom>
          <a:noFill/>
          <a:ln/>
        </p:spPr>
        <p:txBody>
          <a:bodyPr wrap="square" lIns="0" tIns="0" rIns="0" bIns="0" rtlCol="0" anchor="ctr"/>
          <a:lstStyle/>
          <a:p>
            <a:pPr marL="0" indent="0" algn="l">
              <a:buNone/>
            </a:pPr>
            <a:r>
              <a:rPr lang="en-US" sz="2800" b="1">
                <a:solidFill>
                  <a:srgbClr val="0EA5E9"/>
                </a:solidFill>
                <a:latin typeface="Trebuchet MS" pitchFamily="34" charset="0"/>
                <a:ea typeface="Trebuchet MS" pitchFamily="34" charset="-122"/>
                <a:cs typeface="Trebuchet MS" pitchFamily="34" charset="-120"/>
              </a:rPr>
              <a:t>System Architecture — How It All Connects</a:t>
            </a:r>
            <a:endParaRPr lang="en-US" sz="2800"/>
          </a:p>
        </p:txBody>
      </p:sp>
      <p:sp>
        <p:nvSpPr>
          <p:cNvPr id="3" name="Shape 1"/>
          <p:cNvSpPr/>
          <p:nvPr/>
        </p:nvSpPr>
        <p:spPr>
          <a:xfrm>
            <a:off x="457200" y="896112"/>
            <a:ext cx="8229600" cy="27432"/>
          </a:xfrm>
          <a:prstGeom prst="rect">
            <a:avLst/>
          </a:prstGeom>
          <a:solidFill>
            <a:srgbClr val="0EA5E9">
              <a:alpha val="40000"/>
            </a:srgbClr>
          </a:solidFill>
          <a:ln w="12700">
            <a:solidFill>
              <a:srgbClr val="0EA5E9">
                <a:alpha val="40000"/>
              </a:srgbClr>
            </a:solidFill>
            <a:prstDash val="solid"/>
          </a:ln>
        </p:spPr>
        <p:txBody>
          <a:bodyPr/>
          <a:lstStyle/>
          <a:p>
            <a:endParaRPr lang="en-US"/>
          </a:p>
        </p:txBody>
      </p:sp>
      <p:sp>
        <p:nvSpPr>
          <p:cNvPr id="4" name="Shape 2"/>
          <p:cNvSpPr/>
          <p:nvPr/>
        </p:nvSpPr>
        <p:spPr>
          <a:xfrm>
            <a:off x="457200" y="1024128"/>
            <a:ext cx="1828800" cy="274320"/>
          </a:xfrm>
          <a:prstGeom prst="rect">
            <a:avLst/>
          </a:prstGeom>
          <a:solidFill>
            <a:srgbClr val="0EA5E9">
              <a:alpha val="20000"/>
            </a:srgbClr>
          </a:solidFill>
          <a:ln w="12700">
            <a:solidFill>
              <a:srgbClr val="0EA5E9">
                <a:alpha val="40000"/>
              </a:srgbClr>
            </a:solidFill>
            <a:prstDash val="solid"/>
          </a:ln>
        </p:spPr>
        <p:txBody>
          <a:bodyPr/>
          <a:lstStyle/>
          <a:p>
            <a:endParaRPr lang="en-US"/>
          </a:p>
        </p:txBody>
      </p:sp>
      <p:sp>
        <p:nvSpPr>
          <p:cNvPr id="5" name="Text 3"/>
          <p:cNvSpPr/>
          <p:nvPr/>
        </p:nvSpPr>
        <p:spPr>
          <a:xfrm>
            <a:off x="457200" y="1024128"/>
            <a:ext cx="1828800" cy="274320"/>
          </a:xfrm>
          <a:prstGeom prst="rect">
            <a:avLst/>
          </a:prstGeom>
          <a:noFill/>
          <a:ln/>
        </p:spPr>
        <p:txBody>
          <a:bodyPr wrap="square" lIns="0" tIns="0" rIns="0" bIns="0" rtlCol="0" anchor="ctr"/>
          <a:lstStyle/>
          <a:p>
            <a:pPr marL="0" indent="0" algn="ctr">
              <a:buNone/>
            </a:pPr>
            <a:r>
              <a:rPr lang="en-US" sz="800" b="1" kern="0" spc="200">
                <a:solidFill>
                  <a:srgbClr val="0EA5E9"/>
                </a:solidFill>
                <a:latin typeface="Trebuchet MS" pitchFamily="34" charset="0"/>
                <a:ea typeface="Trebuchet MS" pitchFamily="34" charset="-122"/>
                <a:cs typeface="Trebuchet MS" pitchFamily="34" charset="-120"/>
              </a:rPr>
              <a:t>INDEXING  ·  RUNS ONCE</a:t>
            </a:r>
            <a:endParaRPr lang="en-US" sz="800"/>
          </a:p>
        </p:txBody>
      </p:sp>
      <p:sp>
        <p:nvSpPr>
          <p:cNvPr id="6" name="Shape 4"/>
          <p:cNvSpPr/>
          <p:nvPr/>
        </p:nvSpPr>
        <p:spPr>
          <a:xfrm>
            <a:off x="457199" y="2875341"/>
            <a:ext cx="2292875" cy="274320"/>
          </a:xfrm>
          <a:prstGeom prst="rect">
            <a:avLst/>
          </a:prstGeom>
          <a:solidFill>
            <a:srgbClr val="10B981">
              <a:alpha val="20000"/>
            </a:srgbClr>
          </a:solidFill>
          <a:ln w="12700">
            <a:solidFill>
              <a:srgbClr val="10B981">
                <a:alpha val="40000"/>
              </a:srgbClr>
            </a:solidFill>
            <a:prstDash val="solid"/>
          </a:ln>
        </p:spPr>
        <p:txBody>
          <a:bodyPr/>
          <a:lstStyle/>
          <a:p>
            <a:endParaRPr lang="en-US"/>
          </a:p>
        </p:txBody>
      </p:sp>
      <p:sp>
        <p:nvSpPr>
          <p:cNvPr id="7" name="Text 5"/>
          <p:cNvSpPr/>
          <p:nvPr/>
        </p:nvSpPr>
        <p:spPr>
          <a:xfrm>
            <a:off x="457200" y="2907792"/>
            <a:ext cx="2437254" cy="274320"/>
          </a:xfrm>
          <a:prstGeom prst="rect">
            <a:avLst/>
          </a:prstGeom>
          <a:noFill/>
          <a:ln/>
        </p:spPr>
        <p:txBody>
          <a:bodyPr wrap="square" lIns="0" tIns="0" rIns="0" bIns="0" rtlCol="0" anchor="ctr"/>
          <a:lstStyle/>
          <a:p>
            <a:pPr marL="0" indent="0" algn="ctr">
              <a:buNone/>
            </a:pPr>
            <a:r>
              <a:rPr lang="en-US" sz="800" b="1" kern="0" spc="200">
                <a:solidFill>
                  <a:srgbClr val="10B981"/>
                </a:solidFill>
                <a:latin typeface="Trebuchet MS" pitchFamily="34" charset="0"/>
                <a:ea typeface="Trebuchet MS" pitchFamily="34" charset="-122"/>
                <a:cs typeface="Trebuchet MS" pitchFamily="34" charset="-120"/>
              </a:rPr>
              <a:t>QUERYING  ·  EVERY QUESTION</a:t>
            </a:r>
            <a:endParaRPr lang="en-US" sz="800"/>
          </a:p>
        </p:txBody>
      </p:sp>
      <p:sp>
        <p:nvSpPr>
          <p:cNvPr id="8" name="Shape 6"/>
          <p:cNvSpPr/>
          <p:nvPr/>
        </p:nvSpPr>
        <p:spPr>
          <a:xfrm>
            <a:off x="457200" y="1353312"/>
            <a:ext cx="1600200" cy="960120"/>
          </a:xfrm>
          <a:prstGeom prst="rect">
            <a:avLst/>
          </a:prstGeom>
          <a:solidFill>
            <a:srgbClr val="111827"/>
          </a:solidFill>
          <a:ln w="12700">
            <a:solidFill>
              <a:srgbClr val="0EA5E9"/>
            </a:solidFill>
            <a:prstDash val="solid"/>
          </a:ln>
          <a:effectLst>
            <a:outerShdw blurRad="127000" dist="38100" dir="8100000" algn="bl" rotWithShape="0">
              <a:srgbClr val="000000">
                <a:alpha val="35000"/>
              </a:srgbClr>
            </a:outerShdw>
          </a:effectLst>
        </p:spPr>
        <p:txBody>
          <a:bodyPr/>
          <a:lstStyle/>
          <a:p>
            <a:endParaRPr lang="en-US"/>
          </a:p>
        </p:txBody>
      </p:sp>
      <p:sp>
        <p:nvSpPr>
          <p:cNvPr id="9" name="Shape 7"/>
          <p:cNvSpPr/>
          <p:nvPr/>
        </p:nvSpPr>
        <p:spPr>
          <a:xfrm>
            <a:off x="457200" y="1353312"/>
            <a:ext cx="1600200" cy="45720"/>
          </a:xfrm>
          <a:prstGeom prst="rect">
            <a:avLst/>
          </a:prstGeom>
          <a:solidFill>
            <a:srgbClr val="0EA5E9"/>
          </a:solidFill>
          <a:ln w="12700">
            <a:solidFill>
              <a:srgbClr val="0EA5E9"/>
            </a:solidFill>
            <a:prstDash val="solid"/>
          </a:ln>
        </p:spPr>
        <p:txBody>
          <a:bodyPr/>
          <a:lstStyle/>
          <a:p>
            <a:endParaRPr lang="en-US"/>
          </a:p>
        </p:txBody>
      </p:sp>
      <p:sp>
        <p:nvSpPr>
          <p:cNvPr id="10" name="Text 8"/>
          <p:cNvSpPr/>
          <p:nvPr/>
        </p:nvSpPr>
        <p:spPr>
          <a:xfrm>
            <a:off x="457200" y="1444752"/>
            <a:ext cx="1600200" cy="347472"/>
          </a:xfrm>
          <a:prstGeom prst="rect">
            <a:avLst/>
          </a:prstGeom>
          <a:noFill/>
          <a:ln/>
        </p:spPr>
        <p:txBody>
          <a:bodyPr wrap="square" lIns="0" tIns="0" rIns="0" bIns="0" rtlCol="0" anchor="ctr"/>
          <a:lstStyle/>
          <a:p>
            <a:pPr marL="0" indent="0" algn="ctr">
              <a:buNone/>
            </a:pPr>
            <a:r>
              <a:rPr lang="en-US" sz="2000">
                <a:solidFill>
                  <a:srgbClr val="0EA5E9"/>
                </a:solidFill>
                <a:latin typeface="Trebuchet MS" pitchFamily="34" charset="0"/>
                <a:ea typeface="Trebuchet MS" pitchFamily="34" charset="-122"/>
                <a:cs typeface="Trebuchet MS" pitchFamily="34" charset="-120"/>
              </a:rPr>
              <a:t>📄</a:t>
            </a:r>
            <a:endParaRPr lang="en-US" sz="2000"/>
          </a:p>
        </p:txBody>
      </p:sp>
      <p:sp>
        <p:nvSpPr>
          <p:cNvPr id="11" name="Text 9"/>
          <p:cNvSpPr/>
          <p:nvPr/>
        </p:nvSpPr>
        <p:spPr>
          <a:xfrm>
            <a:off x="457200" y="1792224"/>
            <a:ext cx="1600200" cy="256032"/>
          </a:xfrm>
          <a:prstGeom prst="rect">
            <a:avLst/>
          </a:prstGeom>
          <a:noFill/>
          <a:ln/>
        </p:spPr>
        <p:txBody>
          <a:bodyPr wrap="square" lIns="0" tIns="0" rIns="0" bIns="0" rtlCol="0" anchor="ctr"/>
          <a:lstStyle/>
          <a:p>
            <a:pPr marL="0" indent="0" algn="ctr">
              <a:buNone/>
            </a:pPr>
            <a:r>
              <a:rPr lang="en-US" sz="1000" b="1">
                <a:solidFill>
                  <a:srgbClr val="F1F5F9"/>
                </a:solidFill>
                <a:latin typeface="Trebuchet MS" pitchFamily="34" charset="0"/>
                <a:ea typeface="Trebuchet MS" pitchFamily="34" charset="-122"/>
                <a:cs typeface="Trebuchet MS" pitchFamily="34" charset="-120"/>
              </a:rPr>
              <a:t>Documents</a:t>
            </a:r>
            <a:endParaRPr lang="en-US" sz="1000"/>
          </a:p>
        </p:txBody>
      </p:sp>
      <p:sp>
        <p:nvSpPr>
          <p:cNvPr id="12" name="Text 10"/>
          <p:cNvSpPr/>
          <p:nvPr/>
        </p:nvSpPr>
        <p:spPr>
          <a:xfrm>
            <a:off x="457200" y="2029968"/>
            <a:ext cx="1600200" cy="237744"/>
          </a:xfrm>
          <a:prstGeom prst="rect">
            <a:avLst/>
          </a:prstGeom>
          <a:noFill/>
          <a:ln/>
        </p:spPr>
        <p:txBody>
          <a:bodyPr wrap="square" lIns="0" tIns="0" rIns="0" bIns="0" rtlCol="0" anchor="ctr"/>
          <a:lstStyle/>
          <a:p>
            <a:pPr marL="0" indent="0" algn="ctr">
              <a:buNone/>
            </a:pPr>
            <a:r>
              <a:rPr lang="en-US" sz="800">
                <a:solidFill>
                  <a:srgbClr val="64748B"/>
                </a:solidFill>
                <a:latin typeface="Trebuchet MS" pitchFamily="34" charset="0"/>
                <a:ea typeface="Trebuchet MS" pitchFamily="34" charset="-122"/>
                <a:cs typeface="Trebuchet MS" pitchFamily="34" charset="-120"/>
              </a:rPr>
              <a:t>63 park .txt files</a:t>
            </a:r>
            <a:endParaRPr lang="en-US" sz="800"/>
          </a:p>
        </p:txBody>
      </p:sp>
      <p:sp>
        <p:nvSpPr>
          <p:cNvPr id="13" name="Shape 11"/>
          <p:cNvSpPr/>
          <p:nvPr/>
        </p:nvSpPr>
        <p:spPr>
          <a:xfrm>
            <a:off x="2057400" y="1700784"/>
            <a:ext cx="274320" cy="27432"/>
          </a:xfrm>
          <a:prstGeom prst="rect">
            <a:avLst/>
          </a:prstGeom>
          <a:solidFill>
            <a:srgbClr val="64748B">
              <a:alpha val="70000"/>
            </a:srgbClr>
          </a:solidFill>
          <a:ln w="12700">
            <a:solidFill>
              <a:srgbClr val="64748B">
                <a:alpha val="70000"/>
              </a:srgbClr>
            </a:solidFill>
            <a:prstDash val="solid"/>
          </a:ln>
        </p:spPr>
        <p:txBody>
          <a:bodyPr/>
          <a:lstStyle/>
          <a:p>
            <a:endParaRPr lang="en-US"/>
          </a:p>
        </p:txBody>
      </p:sp>
      <p:sp>
        <p:nvSpPr>
          <p:cNvPr id="14" name="Text 12"/>
          <p:cNvSpPr/>
          <p:nvPr/>
        </p:nvSpPr>
        <p:spPr>
          <a:xfrm>
            <a:off x="2112264" y="1554480"/>
            <a:ext cx="182880" cy="256032"/>
          </a:xfrm>
          <a:prstGeom prst="rect">
            <a:avLst/>
          </a:prstGeom>
          <a:noFill/>
          <a:ln/>
        </p:spPr>
        <p:txBody>
          <a:bodyPr wrap="square" lIns="0" tIns="0" rIns="0" bIns="0" rtlCol="0" anchor="ctr"/>
          <a:lstStyle/>
          <a:p>
            <a:pPr marL="0" indent="0" algn="ctr">
              <a:buNone/>
            </a:pPr>
            <a:r>
              <a:rPr lang="en-US" sz="1000">
                <a:solidFill>
                  <a:srgbClr val="64748B"/>
                </a:solidFill>
                <a:latin typeface="Trebuchet MS" pitchFamily="34" charset="0"/>
                <a:ea typeface="Trebuchet MS" pitchFamily="34" charset="-122"/>
                <a:cs typeface="Trebuchet MS" pitchFamily="34" charset="-120"/>
              </a:rPr>
              <a:t>▶</a:t>
            </a:r>
            <a:endParaRPr lang="en-US" sz="1000"/>
          </a:p>
        </p:txBody>
      </p:sp>
      <p:sp>
        <p:nvSpPr>
          <p:cNvPr id="15" name="Shape 13"/>
          <p:cNvSpPr/>
          <p:nvPr/>
        </p:nvSpPr>
        <p:spPr>
          <a:xfrm>
            <a:off x="2532888" y="1353312"/>
            <a:ext cx="1600200" cy="960120"/>
          </a:xfrm>
          <a:prstGeom prst="rect">
            <a:avLst/>
          </a:prstGeom>
          <a:solidFill>
            <a:srgbClr val="111827"/>
          </a:solidFill>
          <a:ln w="12700">
            <a:solidFill>
              <a:srgbClr val="0EA5E9"/>
            </a:solidFill>
            <a:prstDash val="solid"/>
          </a:ln>
          <a:effectLst>
            <a:outerShdw blurRad="127000" dist="38100" dir="8100000" algn="bl" rotWithShape="0">
              <a:srgbClr val="000000">
                <a:alpha val="35000"/>
              </a:srgbClr>
            </a:outerShdw>
          </a:effectLst>
        </p:spPr>
        <p:txBody>
          <a:bodyPr/>
          <a:lstStyle/>
          <a:p>
            <a:endParaRPr lang="en-US"/>
          </a:p>
        </p:txBody>
      </p:sp>
      <p:sp>
        <p:nvSpPr>
          <p:cNvPr id="16" name="Shape 14"/>
          <p:cNvSpPr/>
          <p:nvPr/>
        </p:nvSpPr>
        <p:spPr>
          <a:xfrm>
            <a:off x="2532888" y="1353312"/>
            <a:ext cx="1600200" cy="45720"/>
          </a:xfrm>
          <a:prstGeom prst="rect">
            <a:avLst/>
          </a:prstGeom>
          <a:solidFill>
            <a:srgbClr val="0EA5E9"/>
          </a:solidFill>
          <a:ln w="12700">
            <a:solidFill>
              <a:srgbClr val="0EA5E9"/>
            </a:solidFill>
            <a:prstDash val="solid"/>
          </a:ln>
        </p:spPr>
        <p:txBody>
          <a:bodyPr/>
          <a:lstStyle/>
          <a:p>
            <a:endParaRPr lang="en-US"/>
          </a:p>
        </p:txBody>
      </p:sp>
      <p:sp>
        <p:nvSpPr>
          <p:cNvPr id="17" name="Text 15"/>
          <p:cNvSpPr/>
          <p:nvPr/>
        </p:nvSpPr>
        <p:spPr>
          <a:xfrm>
            <a:off x="2532888" y="1444752"/>
            <a:ext cx="1600200" cy="347472"/>
          </a:xfrm>
          <a:prstGeom prst="rect">
            <a:avLst/>
          </a:prstGeom>
          <a:noFill/>
          <a:ln/>
        </p:spPr>
        <p:txBody>
          <a:bodyPr wrap="square" lIns="0" tIns="0" rIns="0" bIns="0" rtlCol="0" anchor="ctr"/>
          <a:lstStyle/>
          <a:p>
            <a:pPr marL="0" indent="0" algn="ctr">
              <a:buNone/>
            </a:pPr>
            <a:r>
              <a:rPr lang="en-US" sz="2000">
                <a:solidFill>
                  <a:srgbClr val="0EA5E9"/>
                </a:solidFill>
                <a:latin typeface="Trebuchet MS" pitchFamily="34" charset="0"/>
                <a:ea typeface="Trebuchet MS" pitchFamily="34" charset="-122"/>
                <a:cs typeface="Trebuchet MS" pitchFamily="34" charset="-120"/>
              </a:rPr>
              <a:t>✂️</a:t>
            </a:r>
            <a:endParaRPr lang="en-US" sz="2000"/>
          </a:p>
        </p:txBody>
      </p:sp>
      <p:sp>
        <p:nvSpPr>
          <p:cNvPr id="18" name="Text 16"/>
          <p:cNvSpPr/>
          <p:nvPr/>
        </p:nvSpPr>
        <p:spPr>
          <a:xfrm>
            <a:off x="2532888" y="1792224"/>
            <a:ext cx="1600200" cy="256032"/>
          </a:xfrm>
          <a:prstGeom prst="rect">
            <a:avLst/>
          </a:prstGeom>
          <a:noFill/>
          <a:ln/>
        </p:spPr>
        <p:txBody>
          <a:bodyPr wrap="square" lIns="0" tIns="0" rIns="0" bIns="0" rtlCol="0" anchor="ctr"/>
          <a:lstStyle/>
          <a:p>
            <a:pPr marL="0" indent="0" algn="ctr">
              <a:buNone/>
            </a:pPr>
            <a:r>
              <a:rPr lang="en-US" sz="1000" b="1">
                <a:solidFill>
                  <a:srgbClr val="F1F5F9"/>
                </a:solidFill>
                <a:latin typeface="Trebuchet MS" pitchFamily="34" charset="0"/>
                <a:ea typeface="Trebuchet MS" pitchFamily="34" charset="-122"/>
                <a:cs typeface="Trebuchet MS" pitchFamily="34" charset="-120"/>
              </a:rPr>
              <a:t>Chunker</a:t>
            </a:r>
            <a:endParaRPr lang="en-US" sz="1000"/>
          </a:p>
        </p:txBody>
      </p:sp>
      <p:sp>
        <p:nvSpPr>
          <p:cNvPr id="19" name="Text 17"/>
          <p:cNvSpPr/>
          <p:nvPr/>
        </p:nvSpPr>
        <p:spPr>
          <a:xfrm>
            <a:off x="2532888" y="2029968"/>
            <a:ext cx="1600200" cy="237744"/>
          </a:xfrm>
          <a:prstGeom prst="rect">
            <a:avLst/>
          </a:prstGeom>
          <a:noFill/>
          <a:ln/>
        </p:spPr>
        <p:txBody>
          <a:bodyPr wrap="square" lIns="0" tIns="0" rIns="0" bIns="0" rtlCol="0" anchor="ctr"/>
          <a:lstStyle/>
          <a:p>
            <a:pPr marL="0" indent="0" algn="ctr">
              <a:buNone/>
            </a:pPr>
            <a:r>
              <a:rPr lang="en-US" sz="800">
                <a:solidFill>
                  <a:srgbClr val="64748B"/>
                </a:solidFill>
                <a:latin typeface="Trebuchet MS" pitchFamily="34" charset="0"/>
                <a:ea typeface="Trebuchet MS" pitchFamily="34" charset="-122"/>
                <a:cs typeface="Trebuchet MS" pitchFamily="34" charset="-120"/>
              </a:rPr>
              <a:t>150 words + 15 overlap</a:t>
            </a:r>
            <a:endParaRPr lang="en-US" sz="800"/>
          </a:p>
        </p:txBody>
      </p:sp>
      <p:sp>
        <p:nvSpPr>
          <p:cNvPr id="20" name="Shape 18"/>
          <p:cNvSpPr/>
          <p:nvPr/>
        </p:nvSpPr>
        <p:spPr>
          <a:xfrm>
            <a:off x="4133088" y="1700784"/>
            <a:ext cx="274320" cy="27432"/>
          </a:xfrm>
          <a:prstGeom prst="rect">
            <a:avLst/>
          </a:prstGeom>
          <a:solidFill>
            <a:srgbClr val="64748B">
              <a:alpha val="70000"/>
            </a:srgbClr>
          </a:solidFill>
          <a:ln w="12700">
            <a:solidFill>
              <a:srgbClr val="64748B">
                <a:alpha val="70000"/>
              </a:srgbClr>
            </a:solidFill>
            <a:prstDash val="solid"/>
          </a:ln>
        </p:spPr>
        <p:txBody>
          <a:bodyPr/>
          <a:lstStyle/>
          <a:p>
            <a:endParaRPr lang="en-US"/>
          </a:p>
        </p:txBody>
      </p:sp>
      <p:sp>
        <p:nvSpPr>
          <p:cNvPr id="21" name="Text 19"/>
          <p:cNvSpPr/>
          <p:nvPr/>
        </p:nvSpPr>
        <p:spPr>
          <a:xfrm>
            <a:off x="4187952" y="1554480"/>
            <a:ext cx="182880" cy="256032"/>
          </a:xfrm>
          <a:prstGeom prst="rect">
            <a:avLst/>
          </a:prstGeom>
          <a:noFill/>
          <a:ln/>
        </p:spPr>
        <p:txBody>
          <a:bodyPr wrap="square" lIns="0" tIns="0" rIns="0" bIns="0" rtlCol="0" anchor="ctr"/>
          <a:lstStyle/>
          <a:p>
            <a:pPr marL="0" indent="0" algn="ctr">
              <a:buNone/>
            </a:pPr>
            <a:r>
              <a:rPr lang="en-US" sz="1000">
                <a:solidFill>
                  <a:srgbClr val="64748B"/>
                </a:solidFill>
                <a:latin typeface="Trebuchet MS" pitchFamily="34" charset="0"/>
                <a:ea typeface="Trebuchet MS" pitchFamily="34" charset="-122"/>
                <a:cs typeface="Trebuchet MS" pitchFamily="34" charset="-120"/>
              </a:rPr>
              <a:t>▶</a:t>
            </a:r>
            <a:endParaRPr lang="en-US" sz="1000"/>
          </a:p>
        </p:txBody>
      </p:sp>
      <p:sp>
        <p:nvSpPr>
          <p:cNvPr id="22" name="Shape 20"/>
          <p:cNvSpPr/>
          <p:nvPr/>
        </p:nvSpPr>
        <p:spPr>
          <a:xfrm>
            <a:off x="4608576" y="1353312"/>
            <a:ext cx="1600200" cy="960120"/>
          </a:xfrm>
          <a:prstGeom prst="rect">
            <a:avLst/>
          </a:prstGeom>
          <a:solidFill>
            <a:srgbClr val="111827"/>
          </a:solidFill>
          <a:ln w="12700">
            <a:solidFill>
              <a:srgbClr val="0EA5E9"/>
            </a:solidFill>
            <a:prstDash val="solid"/>
          </a:ln>
          <a:effectLst>
            <a:outerShdw blurRad="127000" dist="38100" dir="8100000" algn="bl" rotWithShape="0">
              <a:srgbClr val="000000">
                <a:alpha val="35000"/>
              </a:srgbClr>
            </a:outerShdw>
          </a:effectLst>
        </p:spPr>
        <p:txBody>
          <a:bodyPr/>
          <a:lstStyle/>
          <a:p>
            <a:endParaRPr lang="en-US"/>
          </a:p>
        </p:txBody>
      </p:sp>
      <p:sp>
        <p:nvSpPr>
          <p:cNvPr id="23" name="Shape 21"/>
          <p:cNvSpPr/>
          <p:nvPr/>
        </p:nvSpPr>
        <p:spPr>
          <a:xfrm>
            <a:off x="4608576" y="1353312"/>
            <a:ext cx="1600200" cy="45720"/>
          </a:xfrm>
          <a:prstGeom prst="rect">
            <a:avLst/>
          </a:prstGeom>
          <a:solidFill>
            <a:srgbClr val="0EA5E9"/>
          </a:solidFill>
          <a:ln w="12700">
            <a:solidFill>
              <a:srgbClr val="0EA5E9"/>
            </a:solidFill>
            <a:prstDash val="solid"/>
          </a:ln>
        </p:spPr>
        <p:txBody>
          <a:bodyPr/>
          <a:lstStyle/>
          <a:p>
            <a:endParaRPr lang="en-US"/>
          </a:p>
        </p:txBody>
      </p:sp>
      <p:sp>
        <p:nvSpPr>
          <p:cNvPr id="24" name="Text 22"/>
          <p:cNvSpPr/>
          <p:nvPr/>
        </p:nvSpPr>
        <p:spPr>
          <a:xfrm>
            <a:off x="4608576" y="1444752"/>
            <a:ext cx="1600200" cy="347472"/>
          </a:xfrm>
          <a:prstGeom prst="rect">
            <a:avLst/>
          </a:prstGeom>
          <a:noFill/>
          <a:ln/>
        </p:spPr>
        <p:txBody>
          <a:bodyPr wrap="square" lIns="0" tIns="0" rIns="0" bIns="0" rtlCol="0" anchor="ctr"/>
          <a:lstStyle/>
          <a:p>
            <a:pPr marL="0" indent="0" algn="ctr">
              <a:buNone/>
            </a:pPr>
            <a:r>
              <a:rPr lang="en-US" sz="2000">
                <a:solidFill>
                  <a:srgbClr val="0EA5E9"/>
                </a:solidFill>
                <a:latin typeface="Trebuchet MS" pitchFamily="34" charset="0"/>
                <a:ea typeface="Trebuchet MS" pitchFamily="34" charset="-122"/>
                <a:cs typeface="Trebuchet MS" pitchFamily="34" charset="-120"/>
              </a:rPr>
              <a:t>🔢</a:t>
            </a:r>
            <a:endParaRPr lang="en-US" sz="2000"/>
          </a:p>
        </p:txBody>
      </p:sp>
      <p:sp>
        <p:nvSpPr>
          <p:cNvPr id="25" name="Text 23"/>
          <p:cNvSpPr/>
          <p:nvPr/>
        </p:nvSpPr>
        <p:spPr>
          <a:xfrm>
            <a:off x="4608576" y="1792224"/>
            <a:ext cx="1600200" cy="256032"/>
          </a:xfrm>
          <a:prstGeom prst="rect">
            <a:avLst/>
          </a:prstGeom>
          <a:noFill/>
          <a:ln/>
        </p:spPr>
        <p:txBody>
          <a:bodyPr wrap="square" lIns="0" tIns="0" rIns="0" bIns="0" rtlCol="0" anchor="ctr"/>
          <a:lstStyle/>
          <a:p>
            <a:pPr marL="0" indent="0" algn="ctr">
              <a:buNone/>
            </a:pPr>
            <a:r>
              <a:rPr lang="en-US" sz="1000" b="1">
                <a:solidFill>
                  <a:srgbClr val="F1F5F9"/>
                </a:solidFill>
                <a:latin typeface="Trebuchet MS" pitchFamily="34" charset="0"/>
                <a:ea typeface="Trebuchet MS" pitchFamily="34" charset="-122"/>
                <a:cs typeface="Trebuchet MS" pitchFamily="34" charset="-120"/>
              </a:rPr>
              <a:t>nomic-embed-text</a:t>
            </a:r>
            <a:endParaRPr lang="en-US" sz="1000"/>
          </a:p>
        </p:txBody>
      </p:sp>
      <p:sp>
        <p:nvSpPr>
          <p:cNvPr id="26" name="Text 24"/>
          <p:cNvSpPr/>
          <p:nvPr/>
        </p:nvSpPr>
        <p:spPr>
          <a:xfrm>
            <a:off x="4608576" y="2029968"/>
            <a:ext cx="1600200" cy="237744"/>
          </a:xfrm>
          <a:prstGeom prst="rect">
            <a:avLst/>
          </a:prstGeom>
          <a:noFill/>
          <a:ln/>
        </p:spPr>
        <p:txBody>
          <a:bodyPr wrap="square" lIns="0" tIns="0" rIns="0" bIns="0" rtlCol="0" anchor="ctr"/>
          <a:lstStyle/>
          <a:p>
            <a:pPr marL="0" indent="0" algn="ctr">
              <a:buNone/>
            </a:pPr>
            <a:r>
              <a:rPr lang="en-US" sz="800">
                <a:solidFill>
                  <a:srgbClr val="64748B"/>
                </a:solidFill>
                <a:latin typeface="Trebuchet MS" pitchFamily="34" charset="0"/>
                <a:ea typeface="Trebuchet MS" pitchFamily="34" charset="-122"/>
                <a:cs typeface="Trebuchet MS" pitchFamily="34" charset="-120"/>
              </a:rPr>
              <a:t>768-dim vectors</a:t>
            </a:r>
            <a:endParaRPr lang="en-US" sz="800"/>
          </a:p>
        </p:txBody>
      </p:sp>
      <p:sp>
        <p:nvSpPr>
          <p:cNvPr id="27" name="Shape 25"/>
          <p:cNvSpPr/>
          <p:nvPr/>
        </p:nvSpPr>
        <p:spPr>
          <a:xfrm>
            <a:off x="6208776" y="1700784"/>
            <a:ext cx="274320" cy="27432"/>
          </a:xfrm>
          <a:prstGeom prst="rect">
            <a:avLst/>
          </a:prstGeom>
          <a:solidFill>
            <a:srgbClr val="64748B">
              <a:alpha val="70000"/>
            </a:srgbClr>
          </a:solidFill>
          <a:ln w="12700">
            <a:solidFill>
              <a:srgbClr val="64748B">
                <a:alpha val="70000"/>
              </a:srgbClr>
            </a:solidFill>
            <a:prstDash val="solid"/>
          </a:ln>
        </p:spPr>
        <p:txBody>
          <a:bodyPr/>
          <a:lstStyle/>
          <a:p>
            <a:endParaRPr lang="en-US"/>
          </a:p>
        </p:txBody>
      </p:sp>
      <p:sp>
        <p:nvSpPr>
          <p:cNvPr id="28" name="Text 26"/>
          <p:cNvSpPr/>
          <p:nvPr/>
        </p:nvSpPr>
        <p:spPr>
          <a:xfrm>
            <a:off x="6263640" y="1554480"/>
            <a:ext cx="182880" cy="256032"/>
          </a:xfrm>
          <a:prstGeom prst="rect">
            <a:avLst/>
          </a:prstGeom>
          <a:noFill/>
          <a:ln/>
        </p:spPr>
        <p:txBody>
          <a:bodyPr wrap="square" lIns="0" tIns="0" rIns="0" bIns="0" rtlCol="0" anchor="ctr"/>
          <a:lstStyle/>
          <a:p>
            <a:pPr marL="0" indent="0" algn="ctr">
              <a:buNone/>
            </a:pPr>
            <a:r>
              <a:rPr lang="en-US" sz="1000">
                <a:solidFill>
                  <a:srgbClr val="64748B"/>
                </a:solidFill>
                <a:latin typeface="Trebuchet MS" pitchFamily="34" charset="0"/>
                <a:ea typeface="Trebuchet MS" pitchFamily="34" charset="-122"/>
                <a:cs typeface="Trebuchet MS" pitchFamily="34" charset="-120"/>
              </a:rPr>
              <a:t>▶</a:t>
            </a:r>
            <a:endParaRPr lang="en-US" sz="1000"/>
          </a:p>
        </p:txBody>
      </p:sp>
      <p:sp>
        <p:nvSpPr>
          <p:cNvPr id="29" name="Shape 27"/>
          <p:cNvSpPr/>
          <p:nvPr/>
        </p:nvSpPr>
        <p:spPr>
          <a:xfrm>
            <a:off x="6684264" y="1353312"/>
            <a:ext cx="1600200" cy="960120"/>
          </a:xfrm>
          <a:prstGeom prst="rect">
            <a:avLst/>
          </a:prstGeom>
          <a:solidFill>
            <a:srgbClr val="111827"/>
          </a:solidFill>
          <a:ln w="12700">
            <a:solidFill>
              <a:srgbClr val="0EA5E9"/>
            </a:solidFill>
            <a:prstDash val="solid"/>
          </a:ln>
          <a:effectLst>
            <a:outerShdw blurRad="127000" dist="38100" dir="8100000" algn="bl" rotWithShape="0">
              <a:srgbClr val="000000">
                <a:alpha val="35000"/>
              </a:srgbClr>
            </a:outerShdw>
          </a:effectLst>
        </p:spPr>
        <p:txBody>
          <a:bodyPr/>
          <a:lstStyle/>
          <a:p>
            <a:endParaRPr lang="en-US"/>
          </a:p>
        </p:txBody>
      </p:sp>
      <p:sp>
        <p:nvSpPr>
          <p:cNvPr id="30" name="Shape 28"/>
          <p:cNvSpPr/>
          <p:nvPr/>
        </p:nvSpPr>
        <p:spPr>
          <a:xfrm>
            <a:off x="6684264" y="1353312"/>
            <a:ext cx="1600200" cy="45720"/>
          </a:xfrm>
          <a:prstGeom prst="rect">
            <a:avLst/>
          </a:prstGeom>
          <a:solidFill>
            <a:srgbClr val="0EA5E9"/>
          </a:solidFill>
          <a:ln w="12700">
            <a:solidFill>
              <a:srgbClr val="0EA5E9"/>
            </a:solidFill>
            <a:prstDash val="solid"/>
          </a:ln>
        </p:spPr>
        <p:txBody>
          <a:bodyPr/>
          <a:lstStyle/>
          <a:p>
            <a:endParaRPr lang="en-US"/>
          </a:p>
        </p:txBody>
      </p:sp>
      <p:sp>
        <p:nvSpPr>
          <p:cNvPr id="31" name="Text 29"/>
          <p:cNvSpPr/>
          <p:nvPr/>
        </p:nvSpPr>
        <p:spPr>
          <a:xfrm>
            <a:off x="6684264" y="1444752"/>
            <a:ext cx="1600200" cy="347472"/>
          </a:xfrm>
          <a:prstGeom prst="rect">
            <a:avLst/>
          </a:prstGeom>
          <a:noFill/>
          <a:ln/>
        </p:spPr>
        <p:txBody>
          <a:bodyPr wrap="square" lIns="0" tIns="0" rIns="0" bIns="0" rtlCol="0" anchor="ctr"/>
          <a:lstStyle/>
          <a:p>
            <a:pPr marL="0" indent="0" algn="ctr">
              <a:buNone/>
            </a:pPr>
            <a:r>
              <a:rPr lang="en-US" sz="2000">
                <a:solidFill>
                  <a:srgbClr val="0EA5E9"/>
                </a:solidFill>
                <a:latin typeface="Trebuchet MS" pitchFamily="34" charset="0"/>
                <a:ea typeface="Trebuchet MS" pitchFamily="34" charset="-122"/>
                <a:cs typeface="Trebuchet MS" pitchFamily="34" charset="-120"/>
              </a:rPr>
              <a:t>🗄️</a:t>
            </a:r>
            <a:endParaRPr lang="en-US" sz="2000"/>
          </a:p>
        </p:txBody>
      </p:sp>
      <p:sp>
        <p:nvSpPr>
          <p:cNvPr id="32" name="Text 30"/>
          <p:cNvSpPr/>
          <p:nvPr/>
        </p:nvSpPr>
        <p:spPr>
          <a:xfrm>
            <a:off x="6684264" y="1792224"/>
            <a:ext cx="1600200" cy="256032"/>
          </a:xfrm>
          <a:prstGeom prst="rect">
            <a:avLst/>
          </a:prstGeom>
          <a:noFill/>
          <a:ln/>
        </p:spPr>
        <p:txBody>
          <a:bodyPr wrap="square" lIns="0" tIns="0" rIns="0" bIns="0" rtlCol="0" anchor="ctr"/>
          <a:lstStyle/>
          <a:p>
            <a:pPr marL="0" indent="0" algn="ctr">
              <a:buNone/>
            </a:pPr>
            <a:r>
              <a:rPr lang="en-US" sz="1000" b="1">
                <a:solidFill>
                  <a:srgbClr val="F1F5F9"/>
                </a:solidFill>
                <a:latin typeface="Trebuchet MS" pitchFamily="34" charset="0"/>
                <a:ea typeface="Trebuchet MS" pitchFamily="34" charset="-122"/>
                <a:cs typeface="Trebuchet MS" pitchFamily="34" charset="-120"/>
              </a:rPr>
              <a:t>ChromaDB</a:t>
            </a:r>
            <a:endParaRPr lang="en-US" sz="1000"/>
          </a:p>
        </p:txBody>
      </p:sp>
      <p:sp>
        <p:nvSpPr>
          <p:cNvPr id="33" name="Text 31"/>
          <p:cNvSpPr/>
          <p:nvPr/>
        </p:nvSpPr>
        <p:spPr>
          <a:xfrm>
            <a:off x="6684264" y="2029968"/>
            <a:ext cx="1600200" cy="237744"/>
          </a:xfrm>
          <a:prstGeom prst="rect">
            <a:avLst/>
          </a:prstGeom>
          <a:noFill/>
          <a:ln/>
        </p:spPr>
        <p:txBody>
          <a:bodyPr wrap="square" lIns="0" tIns="0" rIns="0" bIns="0" rtlCol="0" anchor="ctr"/>
          <a:lstStyle/>
          <a:p>
            <a:pPr marL="0" indent="0" algn="ctr">
              <a:buNone/>
            </a:pPr>
            <a:r>
              <a:rPr lang="en-US" sz="800">
                <a:solidFill>
                  <a:srgbClr val="64748B"/>
                </a:solidFill>
                <a:latin typeface="Trebuchet MS" pitchFamily="34" charset="0"/>
                <a:ea typeface="Trebuchet MS" pitchFamily="34" charset="-122"/>
                <a:cs typeface="Trebuchet MS" pitchFamily="34" charset="-120"/>
              </a:rPr>
              <a:t>Saved to disk</a:t>
            </a:r>
            <a:endParaRPr lang="en-US" sz="800"/>
          </a:p>
        </p:txBody>
      </p:sp>
      <p:sp>
        <p:nvSpPr>
          <p:cNvPr id="34" name="Shape 32"/>
          <p:cNvSpPr/>
          <p:nvPr/>
        </p:nvSpPr>
        <p:spPr>
          <a:xfrm>
            <a:off x="347472" y="3236976"/>
            <a:ext cx="1389888" cy="960120"/>
          </a:xfrm>
          <a:prstGeom prst="rect">
            <a:avLst/>
          </a:prstGeom>
          <a:solidFill>
            <a:srgbClr val="111827"/>
          </a:solidFill>
          <a:ln w="12700">
            <a:solidFill>
              <a:srgbClr val="10B981"/>
            </a:solidFill>
            <a:prstDash val="solid"/>
          </a:ln>
          <a:effectLst>
            <a:outerShdw blurRad="127000" dist="38100" dir="8100000" algn="bl" rotWithShape="0">
              <a:srgbClr val="000000">
                <a:alpha val="35000"/>
              </a:srgbClr>
            </a:outerShdw>
          </a:effectLst>
        </p:spPr>
        <p:txBody>
          <a:bodyPr/>
          <a:lstStyle/>
          <a:p>
            <a:endParaRPr lang="en-US"/>
          </a:p>
        </p:txBody>
      </p:sp>
      <p:sp>
        <p:nvSpPr>
          <p:cNvPr id="35" name="Shape 33"/>
          <p:cNvSpPr/>
          <p:nvPr/>
        </p:nvSpPr>
        <p:spPr>
          <a:xfrm>
            <a:off x="347472" y="3236976"/>
            <a:ext cx="1389888" cy="45720"/>
          </a:xfrm>
          <a:prstGeom prst="rect">
            <a:avLst/>
          </a:prstGeom>
          <a:solidFill>
            <a:srgbClr val="10B981"/>
          </a:solidFill>
          <a:ln w="12700">
            <a:solidFill>
              <a:srgbClr val="10B981"/>
            </a:solidFill>
            <a:prstDash val="solid"/>
          </a:ln>
        </p:spPr>
        <p:txBody>
          <a:bodyPr/>
          <a:lstStyle/>
          <a:p>
            <a:endParaRPr lang="en-US"/>
          </a:p>
        </p:txBody>
      </p:sp>
      <p:sp>
        <p:nvSpPr>
          <p:cNvPr id="36" name="Text 34"/>
          <p:cNvSpPr/>
          <p:nvPr/>
        </p:nvSpPr>
        <p:spPr>
          <a:xfrm>
            <a:off x="347472" y="3328416"/>
            <a:ext cx="1389888" cy="347472"/>
          </a:xfrm>
          <a:prstGeom prst="rect">
            <a:avLst/>
          </a:prstGeom>
          <a:noFill/>
          <a:ln/>
        </p:spPr>
        <p:txBody>
          <a:bodyPr wrap="square" lIns="0" tIns="0" rIns="0" bIns="0" rtlCol="0" anchor="ctr"/>
          <a:lstStyle/>
          <a:p>
            <a:pPr marL="0" indent="0" algn="ctr">
              <a:buNone/>
            </a:pPr>
            <a:r>
              <a:rPr lang="en-US" sz="2000">
                <a:solidFill>
                  <a:srgbClr val="10B981"/>
                </a:solidFill>
                <a:latin typeface="Trebuchet MS" pitchFamily="34" charset="0"/>
                <a:ea typeface="Trebuchet MS" pitchFamily="34" charset="-122"/>
                <a:cs typeface="Trebuchet MS" pitchFamily="34" charset="-120"/>
              </a:rPr>
              <a:t>💬</a:t>
            </a:r>
            <a:endParaRPr lang="en-US" sz="2000"/>
          </a:p>
        </p:txBody>
      </p:sp>
      <p:sp>
        <p:nvSpPr>
          <p:cNvPr id="37" name="Text 35"/>
          <p:cNvSpPr/>
          <p:nvPr/>
        </p:nvSpPr>
        <p:spPr>
          <a:xfrm>
            <a:off x="347472" y="3675888"/>
            <a:ext cx="1389888" cy="256032"/>
          </a:xfrm>
          <a:prstGeom prst="rect">
            <a:avLst/>
          </a:prstGeom>
          <a:noFill/>
          <a:ln/>
        </p:spPr>
        <p:txBody>
          <a:bodyPr wrap="square" lIns="0" tIns="0" rIns="0" bIns="0" rtlCol="0" anchor="ctr"/>
          <a:lstStyle/>
          <a:p>
            <a:pPr marL="0" indent="0" algn="ctr">
              <a:buNone/>
            </a:pPr>
            <a:r>
              <a:rPr lang="en-US" sz="1000" b="1">
                <a:solidFill>
                  <a:srgbClr val="F1F5F9"/>
                </a:solidFill>
                <a:latin typeface="Trebuchet MS" pitchFamily="34" charset="0"/>
                <a:ea typeface="Trebuchet MS" pitchFamily="34" charset="-122"/>
                <a:cs typeface="Trebuchet MS" pitchFamily="34" charset="-120"/>
              </a:rPr>
              <a:t>User Question</a:t>
            </a:r>
            <a:endParaRPr lang="en-US" sz="1000"/>
          </a:p>
        </p:txBody>
      </p:sp>
      <p:sp>
        <p:nvSpPr>
          <p:cNvPr id="38" name="Text 36"/>
          <p:cNvSpPr/>
          <p:nvPr/>
        </p:nvSpPr>
        <p:spPr>
          <a:xfrm>
            <a:off x="347472" y="3913632"/>
            <a:ext cx="1389888" cy="237744"/>
          </a:xfrm>
          <a:prstGeom prst="rect">
            <a:avLst/>
          </a:prstGeom>
          <a:noFill/>
          <a:ln/>
        </p:spPr>
        <p:txBody>
          <a:bodyPr wrap="square" lIns="0" tIns="0" rIns="0" bIns="0" rtlCol="0" anchor="ctr"/>
          <a:lstStyle/>
          <a:p>
            <a:pPr marL="0" indent="0" algn="ctr">
              <a:buNone/>
            </a:pPr>
            <a:r>
              <a:rPr lang="en-US" sz="800">
                <a:solidFill>
                  <a:srgbClr val="64748B"/>
                </a:solidFill>
                <a:latin typeface="Trebuchet MS" pitchFamily="34" charset="0"/>
                <a:ea typeface="Trebuchet MS" pitchFamily="34" charset="-122"/>
                <a:cs typeface="Trebuchet MS" pitchFamily="34" charset="-120"/>
              </a:rPr>
              <a:t>+ chat history</a:t>
            </a:r>
            <a:endParaRPr lang="en-US" sz="800"/>
          </a:p>
        </p:txBody>
      </p:sp>
      <p:sp>
        <p:nvSpPr>
          <p:cNvPr id="39" name="Shape 37"/>
          <p:cNvSpPr/>
          <p:nvPr/>
        </p:nvSpPr>
        <p:spPr>
          <a:xfrm>
            <a:off x="1737360" y="3584448"/>
            <a:ext cx="274320" cy="27432"/>
          </a:xfrm>
          <a:prstGeom prst="rect">
            <a:avLst/>
          </a:prstGeom>
          <a:solidFill>
            <a:srgbClr val="64748B">
              <a:alpha val="70000"/>
            </a:srgbClr>
          </a:solidFill>
          <a:ln w="12700">
            <a:solidFill>
              <a:srgbClr val="64748B">
                <a:alpha val="70000"/>
              </a:srgbClr>
            </a:solidFill>
            <a:prstDash val="solid"/>
          </a:ln>
        </p:spPr>
        <p:txBody>
          <a:bodyPr/>
          <a:lstStyle/>
          <a:p>
            <a:endParaRPr lang="en-US"/>
          </a:p>
        </p:txBody>
      </p:sp>
      <p:sp>
        <p:nvSpPr>
          <p:cNvPr id="40" name="Text 38"/>
          <p:cNvSpPr/>
          <p:nvPr/>
        </p:nvSpPr>
        <p:spPr>
          <a:xfrm>
            <a:off x="1792224" y="3438144"/>
            <a:ext cx="182880" cy="256032"/>
          </a:xfrm>
          <a:prstGeom prst="rect">
            <a:avLst/>
          </a:prstGeom>
          <a:noFill/>
          <a:ln/>
        </p:spPr>
        <p:txBody>
          <a:bodyPr wrap="square" lIns="0" tIns="0" rIns="0" bIns="0" rtlCol="0" anchor="ctr"/>
          <a:lstStyle/>
          <a:p>
            <a:pPr marL="0" indent="0" algn="ctr">
              <a:buNone/>
            </a:pPr>
            <a:r>
              <a:rPr lang="en-US" sz="1000">
                <a:solidFill>
                  <a:srgbClr val="64748B"/>
                </a:solidFill>
                <a:latin typeface="Trebuchet MS" pitchFamily="34" charset="0"/>
                <a:ea typeface="Trebuchet MS" pitchFamily="34" charset="-122"/>
                <a:cs typeface="Trebuchet MS" pitchFamily="34" charset="-120"/>
              </a:rPr>
              <a:t>▶</a:t>
            </a:r>
            <a:endParaRPr lang="en-US" sz="1000"/>
          </a:p>
        </p:txBody>
      </p:sp>
      <p:sp>
        <p:nvSpPr>
          <p:cNvPr id="41" name="Shape 39"/>
          <p:cNvSpPr/>
          <p:nvPr/>
        </p:nvSpPr>
        <p:spPr>
          <a:xfrm>
            <a:off x="2048256" y="3236976"/>
            <a:ext cx="1389888" cy="960120"/>
          </a:xfrm>
          <a:prstGeom prst="rect">
            <a:avLst/>
          </a:prstGeom>
          <a:solidFill>
            <a:srgbClr val="111827"/>
          </a:solidFill>
          <a:ln w="12700">
            <a:solidFill>
              <a:srgbClr val="10B981"/>
            </a:solidFill>
            <a:prstDash val="solid"/>
          </a:ln>
          <a:effectLst>
            <a:outerShdw blurRad="127000" dist="38100" dir="8100000" algn="bl" rotWithShape="0">
              <a:srgbClr val="000000">
                <a:alpha val="35000"/>
              </a:srgbClr>
            </a:outerShdw>
          </a:effectLst>
        </p:spPr>
        <p:txBody>
          <a:bodyPr/>
          <a:lstStyle/>
          <a:p>
            <a:endParaRPr lang="en-US"/>
          </a:p>
        </p:txBody>
      </p:sp>
      <p:sp>
        <p:nvSpPr>
          <p:cNvPr id="42" name="Shape 40"/>
          <p:cNvSpPr/>
          <p:nvPr/>
        </p:nvSpPr>
        <p:spPr>
          <a:xfrm>
            <a:off x="2048256" y="3236976"/>
            <a:ext cx="1389888" cy="45720"/>
          </a:xfrm>
          <a:prstGeom prst="rect">
            <a:avLst/>
          </a:prstGeom>
          <a:solidFill>
            <a:srgbClr val="10B981"/>
          </a:solidFill>
          <a:ln w="12700">
            <a:solidFill>
              <a:srgbClr val="10B981"/>
            </a:solidFill>
            <a:prstDash val="solid"/>
          </a:ln>
        </p:spPr>
        <p:txBody>
          <a:bodyPr/>
          <a:lstStyle/>
          <a:p>
            <a:endParaRPr lang="en-US"/>
          </a:p>
        </p:txBody>
      </p:sp>
      <p:sp>
        <p:nvSpPr>
          <p:cNvPr id="43" name="Text 41"/>
          <p:cNvSpPr/>
          <p:nvPr/>
        </p:nvSpPr>
        <p:spPr>
          <a:xfrm>
            <a:off x="2048256" y="3328416"/>
            <a:ext cx="1389888" cy="347472"/>
          </a:xfrm>
          <a:prstGeom prst="rect">
            <a:avLst/>
          </a:prstGeom>
          <a:noFill/>
          <a:ln/>
        </p:spPr>
        <p:txBody>
          <a:bodyPr wrap="square" lIns="0" tIns="0" rIns="0" bIns="0" rtlCol="0" anchor="ctr"/>
          <a:lstStyle/>
          <a:p>
            <a:pPr marL="0" indent="0" algn="ctr">
              <a:buNone/>
            </a:pPr>
            <a:r>
              <a:rPr lang="en-US" sz="2000">
                <a:solidFill>
                  <a:srgbClr val="10B981"/>
                </a:solidFill>
                <a:latin typeface="Trebuchet MS" pitchFamily="34" charset="0"/>
                <a:ea typeface="Trebuchet MS" pitchFamily="34" charset="-122"/>
                <a:cs typeface="Trebuchet MS" pitchFamily="34" charset="-120"/>
              </a:rPr>
              <a:t>🔢</a:t>
            </a:r>
            <a:endParaRPr lang="en-US" sz="2000"/>
          </a:p>
        </p:txBody>
      </p:sp>
      <p:sp>
        <p:nvSpPr>
          <p:cNvPr id="44" name="Text 42"/>
          <p:cNvSpPr/>
          <p:nvPr/>
        </p:nvSpPr>
        <p:spPr>
          <a:xfrm>
            <a:off x="2048256" y="3675888"/>
            <a:ext cx="1389888" cy="256032"/>
          </a:xfrm>
          <a:prstGeom prst="rect">
            <a:avLst/>
          </a:prstGeom>
          <a:noFill/>
          <a:ln/>
        </p:spPr>
        <p:txBody>
          <a:bodyPr wrap="square" lIns="0" tIns="0" rIns="0" bIns="0" rtlCol="0" anchor="ctr"/>
          <a:lstStyle/>
          <a:p>
            <a:pPr marL="0" indent="0" algn="ctr">
              <a:buNone/>
            </a:pPr>
            <a:r>
              <a:rPr lang="en-US" sz="1000" b="1">
                <a:solidFill>
                  <a:srgbClr val="F1F5F9"/>
                </a:solidFill>
                <a:latin typeface="Trebuchet MS" pitchFamily="34" charset="0"/>
                <a:ea typeface="Trebuchet MS" pitchFamily="34" charset="-122"/>
                <a:cs typeface="Trebuchet MS" pitchFamily="34" charset="-120"/>
              </a:rPr>
              <a:t>nomic-embed-text</a:t>
            </a:r>
            <a:endParaRPr lang="en-US" sz="1000"/>
          </a:p>
        </p:txBody>
      </p:sp>
      <p:sp>
        <p:nvSpPr>
          <p:cNvPr id="45" name="Text 43"/>
          <p:cNvSpPr/>
          <p:nvPr/>
        </p:nvSpPr>
        <p:spPr>
          <a:xfrm>
            <a:off x="2048256" y="3913632"/>
            <a:ext cx="1389888" cy="237744"/>
          </a:xfrm>
          <a:prstGeom prst="rect">
            <a:avLst/>
          </a:prstGeom>
          <a:noFill/>
          <a:ln/>
        </p:spPr>
        <p:txBody>
          <a:bodyPr wrap="square" lIns="0" tIns="0" rIns="0" bIns="0" rtlCol="0" anchor="ctr"/>
          <a:lstStyle/>
          <a:p>
            <a:pPr marL="0" indent="0" algn="ctr">
              <a:buNone/>
            </a:pPr>
            <a:r>
              <a:rPr lang="en-US" sz="800">
                <a:solidFill>
                  <a:srgbClr val="64748B"/>
                </a:solidFill>
                <a:latin typeface="Trebuchet MS" pitchFamily="34" charset="0"/>
                <a:ea typeface="Trebuchet MS" pitchFamily="34" charset="-122"/>
                <a:cs typeface="Trebuchet MS" pitchFamily="34" charset="-120"/>
              </a:rPr>
              <a:t>Same model!</a:t>
            </a:r>
            <a:endParaRPr lang="en-US" sz="800"/>
          </a:p>
        </p:txBody>
      </p:sp>
      <p:sp>
        <p:nvSpPr>
          <p:cNvPr id="46" name="Shape 44"/>
          <p:cNvSpPr/>
          <p:nvPr/>
        </p:nvSpPr>
        <p:spPr>
          <a:xfrm>
            <a:off x="3438144" y="3584448"/>
            <a:ext cx="274320" cy="27432"/>
          </a:xfrm>
          <a:prstGeom prst="rect">
            <a:avLst/>
          </a:prstGeom>
          <a:solidFill>
            <a:srgbClr val="64748B">
              <a:alpha val="70000"/>
            </a:srgbClr>
          </a:solidFill>
          <a:ln w="12700">
            <a:solidFill>
              <a:srgbClr val="64748B">
                <a:alpha val="70000"/>
              </a:srgbClr>
            </a:solidFill>
            <a:prstDash val="solid"/>
          </a:ln>
        </p:spPr>
        <p:txBody>
          <a:bodyPr/>
          <a:lstStyle/>
          <a:p>
            <a:endParaRPr lang="en-US"/>
          </a:p>
        </p:txBody>
      </p:sp>
      <p:sp>
        <p:nvSpPr>
          <p:cNvPr id="47" name="Text 45"/>
          <p:cNvSpPr/>
          <p:nvPr/>
        </p:nvSpPr>
        <p:spPr>
          <a:xfrm>
            <a:off x="3493008" y="3438144"/>
            <a:ext cx="182880" cy="256032"/>
          </a:xfrm>
          <a:prstGeom prst="rect">
            <a:avLst/>
          </a:prstGeom>
          <a:noFill/>
          <a:ln/>
        </p:spPr>
        <p:txBody>
          <a:bodyPr wrap="square" lIns="0" tIns="0" rIns="0" bIns="0" rtlCol="0" anchor="ctr"/>
          <a:lstStyle/>
          <a:p>
            <a:pPr marL="0" indent="0" algn="ctr">
              <a:buNone/>
            </a:pPr>
            <a:r>
              <a:rPr lang="en-US" sz="1000">
                <a:solidFill>
                  <a:srgbClr val="64748B"/>
                </a:solidFill>
                <a:latin typeface="Trebuchet MS" pitchFamily="34" charset="0"/>
                <a:ea typeface="Trebuchet MS" pitchFamily="34" charset="-122"/>
                <a:cs typeface="Trebuchet MS" pitchFamily="34" charset="-120"/>
              </a:rPr>
              <a:t>▶</a:t>
            </a:r>
            <a:endParaRPr lang="en-US" sz="1000"/>
          </a:p>
        </p:txBody>
      </p:sp>
      <p:sp>
        <p:nvSpPr>
          <p:cNvPr id="48" name="Shape 46"/>
          <p:cNvSpPr/>
          <p:nvPr/>
        </p:nvSpPr>
        <p:spPr>
          <a:xfrm>
            <a:off x="3749040" y="3236976"/>
            <a:ext cx="1389888" cy="960120"/>
          </a:xfrm>
          <a:prstGeom prst="rect">
            <a:avLst/>
          </a:prstGeom>
          <a:solidFill>
            <a:srgbClr val="111827"/>
          </a:solidFill>
          <a:ln w="12700">
            <a:solidFill>
              <a:srgbClr val="10B981"/>
            </a:solidFill>
            <a:prstDash val="solid"/>
          </a:ln>
          <a:effectLst>
            <a:outerShdw blurRad="127000" dist="38100" dir="8100000" algn="bl" rotWithShape="0">
              <a:srgbClr val="000000">
                <a:alpha val="35000"/>
              </a:srgbClr>
            </a:outerShdw>
          </a:effectLst>
        </p:spPr>
        <p:txBody>
          <a:bodyPr/>
          <a:lstStyle/>
          <a:p>
            <a:endParaRPr lang="en-US"/>
          </a:p>
        </p:txBody>
      </p:sp>
      <p:sp>
        <p:nvSpPr>
          <p:cNvPr id="49" name="Shape 47"/>
          <p:cNvSpPr/>
          <p:nvPr/>
        </p:nvSpPr>
        <p:spPr>
          <a:xfrm>
            <a:off x="3749040" y="3236976"/>
            <a:ext cx="1389888" cy="45720"/>
          </a:xfrm>
          <a:prstGeom prst="rect">
            <a:avLst/>
          </a:prstGeom>
          <a:solidFill>
            <a:srgbClr val="10B981"/>
          </a:solidFill>
          <a:ln w="12700">
            <a:solidFill>
              <a:srgbClr val="10B981"/>
            </a:solidFill>
            <a:prstDash val="solid"/>
          </a:ln>
        </p:spPr>
        <p:txBody>
          <a:bodyPr/>
          <a:lstStyle/>
          <a:p>
            <a:endParaRPr lang="en-US"/>
          </a:p>
        </p:txBody>
      </p:sp>
      <p:sp>
        <p:nvSpPr>
          <p:cNvPr id="50" name="Text 48"/>
          <p:cNvSpPr/>
          <p:nvPr/>
        </p:nvSpPr>
        <p:spPr>
          <a:xfrm>
            <a:off x="3749040" y="3328416"/>
            <a:ext cx="1389888" cy="347472"/>
          </a:xfrm>
          <a:prstGeom prst="rect">
            <a:avLst/>
          </a:prstGeom>
          <a:noFill/>
          <a:ln/>
        </p:spPr>
        <p:txBody>
          <a:bodyPr wrap="square" lIns="0" tIns="0" rIns="0" bIns="0" rtlCol="0" anchor="ctr"/>
          <a:lstStyle/>
          <a:p>
            <a:pPr marL="0" indent="0" algn="ctr">
              <a:buNone/>
            </a:pPr>
            <a:r>
              <a:rPr lang="en-US" sz="2000">
                <a:solidFill>
                  <a:srgbClr val="10B981"/>
                </a:solidFill>
                <a:latin typeface="Trebuchet MS" pitchFamily="34" charset="0"/>
                <a:ea typeface="Trebuchet MS" pitchFamily="34" charset="-122"/>
                <a:cs typeface="Trebuchet MS" pitchFamily="34" charset="-120"/>
              </a:rPr>
              <a:t>🎯</a:t>
            </a:r>
            <a:endParaRPr lang="en-US" sz="2000"/>
          </a:p>
        </p:txBody>
      </p:sp>
      <p:sp>
        <p:nvSpPr>
          <p:cNvPr id="51" name="Text 49"/>
          <p:cNvSpPr/>
          <p:nvPr/>
        </p:nvSpPr>
        <p:spPr>
          <a:xfrm>
            <a:off x="3749040" y="3675888"/>
            <a:ext cx="1389888" cy="256032"/>
          </a:xfrm>
          <a:prstGeom prst="rect">
            <a:avLst/>
          </a:prstGeom>
          <a:noFill/>
          <a:ln/>
        </p:spPr>
        <p:txBody>
          <a:bodyPr wrap="square" lIns="0" tIns="0" rIns="0" bIns="0" rtlCol="0" anchor="ctr"/>
          <a:lstStyle/>
          <a:p>
            <a:pPr marL="0" indent="0" algn="ctr">
              <a:buNone/>
            </a:pPr>
            <a:r>
              <a:rPr lang="en-US" sz="1000" b="1">
                <a:solidFill>
                  <a:srgbClr val="F1F5F9"/>
                </a:solidFill>
                <a:latin typeface="Trebuchet MS" pitchFamily="34" charset="0"/>
                <a:ea typeface="Trebuchet MS" pitchFamily="34" charset="-122"/>
                <a:cs typeface="Trebuchet MS" pitchFamily="34" charset="-120"/>
              </a:rPr>
              <a:t>ChromaDB Search</a:t>
            </a:r>
            <a:endParaRPr lang="en-US" sz="1000"/>
          </a:p>
        </p:txBody>
      </p:sp>
      <p:sp>
        <p:nvSpPr>
          <p:cNvPr id="52" name="Text 50"/>
          <p:cNvSpPr/>
          <p:nvPr/>
        </p:nvSpPr>
        <p:spPr>
          <a:xfrm>
            <a:off x="3749040" y="3913632"/>
            <a:ext cx="1389888" cy="237744"/>
          </a:xfrm>
          <a:prstGeom prst="rect">
            <a:avLst/>
          </a:prstGeom>
          <a:noFill/>
          <a:ln/>
        </p:spPr>
        <p:txBody>
          <a:bodyPr wrap="square" lIns="0" tIns="0" rIns="0" bIns="0" rtlCol="0" anchor="ctr"/>
          <a:lstStyle/>
          <a:p>
            <a:pPr marL="0" indent="0" algn="ctr">
              <a:buNone/>
            </a:pPr>
            <a:r>
              <a:rPr lang="en-US" sz="800" dirty="0">
                <a:solidFill>
                  <a:srgbClr val="64748B"/>
                </a:solidFill>
                <a:latin typeface="Trebuchet MS" pitchFamily="34" charset="0"/>
                <a:ea typeface="Trebuchet MS" pitchFamily="34" charset="-122"/>
                <a:cs typeface="Trebuchet MS" pitchFamily="34" charset="-120"/>
              </a:rPr>
              <a:t>Top chunks</a:t>
            </a:r>
            <a:endParaRPr lang="en-US" sz="800" dirty="0"/>
          </a:p>
        </p:txBody>
      </p:sp>
      <p:sp>
        <p:nvSpPr>
          <p:cNvPr id="53" name="Shape 51"/>
          <p:cNvSpPr/>
          <p:nvPr/>
        </p:nvSpPr>
        <p:spPr>
          <a:xfrm>
            <a:off x="5138928" y="3584448"/>
            <a:ext cx="274320" cy="27432"/>
          </a:xfrm>
          <a:prstGeom prst="rect">
            <a:avLst/>
          </a:prstGeom>
          <a:solidFill>
            <a:srgbClr val="64748B">
              <a:alpha val="70000"/>
            </a:srgbClr>
          </a:solidFill>
          <a:ln w="12700">
            <a:solidFill>
              <a:srgbClr val="64748B">
                <a:alpha val="70000"/>
              </a:srgbClr>
            </a:solidFill>
            <a:prstDash val="solid"/>
          </a:ln>
        </p:spPr>
        <p:txBody>
          <a:bodyPr/>
          <a:lstStyle/>
          <a:p>
            <a:endParaRPr lang="en-US"/>
          </a:p>
        </p:txBody>
      </p:sp>
      <p:sp>
        <p:nvSpPr>
          <p:cNvPr id="54" name="Text 52"/>
          <p:cNvSpPr/>
          <p:nvPr/>
        </p:nvSpPr>
        <p:spPr>
          <a:xfrm>
            <a:off x="5193792" y="3438144"/>
            <a:ext cx="182880" cy="256032"/>
          </a:xfrm>
          <a:prstGeom prst="rect">
            <a:avLst/>
          </a:prstGeom>
          <a:noFill/>
          <a:ln/>
        </p:spPr>
        <p:txBody>
          <a:bodyPr wrap="square" lIns="0" tIns="0" rIns="0" bIns="0" rtlCol="0" anchor="ctr"/>
          <a:lstStyle/>
          <a:p>
            <a:pPr marL="0" indent="0" algn="ctr">
              <a:buNone/>
            </a:pPr>
            <a:r>
              <a:rPr lang="en-US" sz="1000">
                <a:solidFill>
                  <a:srgbClr val="64748B"/>
                </a:solidFill>
                <a:latin typeface="Trebuchet MS" pitchFamily="34" charset="0"/>
                <a:ea typeface="Trebuchet MS" pitchFamily="34" charset="-122"/>
                <a:cs typeface="Trebuchet MS" pitchFamily="34" charset="-120"/>
              </a:rPr>
              <a:t>▶</a:t>
            </a:r>
            <a:endParaRPr lang="en-US" sz="1000"/>
          </a:p>
        </p:txBody>
      </p:sp>
      <p:sp>
        <p:nvSpPr>
          <p:cNvPr id="55" name="Shape 53"/>
          <p:cNvSpPr/>
          <p:nvPr/>
        </p:nvSpPr>
        <p:spPr>
          <a:xfrm>
            <a:off x="5449824" y="3236976"/>
            <a:ext cx="1389888" cy="960120"/>
          </a:xfrm>
          <a:prstGeom prst="rect">
            <a:avLst/>
          </a:prstGeom>
          <a:solidFill>
            <a:srgbClr val="111827"/>
          </a:solidFill>
          <a:ln w="12700">
            <a:solidFill>
              <a:srgbClr val="F59E0B"/>
            </a:solidFill>
            <a:prstDash val="solid"/>
          </a:ln>
          <a:effectLst>
            <a:outerShdw blurRad="127000" dist="38100" dir="8100000" algn="bl" rotWithShape="0">
              <a:srgbClr val="000000">
                <a:alpha val="35000"/>
              </a:srgbClr>
            </a:outerShdw>
          </a:effectLst>
        </p:spPr>
        <p:txBody>
          <a:bodyPr/>
          <a:lstStyle/>
          <a:p>
            <a:endParaRPr lang="en-US"/>
          </a:p>
        </p:txBody>
      </p:sp>
      <p:sp>
        <p:nvSpPr>
          <p:cNvPr id="56" name="Shape 54"/>
          <p:cNvSpPr/>
          <p:nvPr/>
        </p:nvSpPr>
        <p:spPr>
          <a:xfrm>
            <a:off x="5449824" y="3236976"/>
            <a:ext cx="1389888" cy="45720"/>
          </a:xfrm>
          <a:prstGeom prst="rect">
            <a:avLst/>
          </a:prstGeom>
          <a:solidFill>
            <a:srgbClr val="F59E0B"/>
          </a:solidFill>
          <a:ln w="12700">
            <a:solidFill>
              <a:srgbClr val="F59E0B"/>
            </a:solidFill>
            <a:prstDash val="solid"/>
          </a:ln>
        </p:spPr>
        <p:txBody>
          <a:bodyPr/>
          <a:lstStyle/>
          <a:p>
            <a:endParaRPr lang="en-US"/>
          </a:p>
        </p:txBody>
      </p:sp>
      <p:sp>
        <p:nvSpPr>
          <p:cNvPr id="57" name="Text 55"/>
          <p:cNvSpPr/>
          <p:nvPr/>
        </p:nvSpPr>
        <p:spPr>
          <a:xfrm>
            <a:off x="5449824" y="3328416"/>
            <a:ext cx="1389888" cy="347472"/>
          </a:xfrm>
          <a:prstGeom prst="rect">
            <a:avLst/>
          </a:prstGeom>
          <a:noFill/>
          <a:ln/>
        </p:spPr>
        <p:txBody>
          <a:bodyPr wrap="square" lIns="0" tIns="0" rIns="0" bIns="0" rtlCol="0" anchor="ctr"/>
          <a:lstStyle/>
          <a:p>
            <a:pPr marL="0" indent="0" algn="ctr">
              <a:buNone/>
            </a:pPr>
            <a:r>
              <a:rPr lang="en-US" sz="2000">
                <a:solidFill>
                  <a:srgbClr val="F59E0B"/>
                </a:solidFill>
                <a:latin typeface="Trebuchet MS" pitchFamily="34" charset="0"/>
                <a:ea typeface="Trebuchet MS" pitchFamily="34" charset="-122"/>
                <a:cs typeface="Trebuchet MS" pitchFamily="34" charset="-120"/>
              </a:rPr>
              <a:t>🤖</a:t>
            </a:r>
            <a:endParaRPr lang="en-US" sz="2000"/>
          </a:p>
        </p:txBody>
      </p:sp>
      <p:sp>
        <p:nvSpPr>
          <p:cNvPr id="58" name="Text 56"/>
          <p:cNvSpPr/>
          <p:nvPr/>
        </p:nvSpPr>
        <p:spPr>
          <a:xfrm>
            <a:off x="5449824" y="3675888"/>
            <a:ext cx="1389888" cy="256032"/>
          </a:xfrm>
          <a:prstGeom prst="rect">
            <a:avLst/>
          </a:prstGeom>
          <a:noFill/>
          <a:ln/>
        </p:spPr>
        <p:txBody>
          <a:bodyPr wrap="square" lIns="0" tIns="0" rIns="0" bIns="0" rtlCol="0" anchor="ctr"/>
          <a:lstStyle/>
          <a:p>
            <a:pPr marL="0" indent="0" algn="ctr">
              <a:buNone/>
            </a:pPr>
            <a:r>
              <a:rPr lang="en-US" sz="1000" b="1">
                <a:solidFill>
                  <a:srgbClr val="F1F5F9"/>
                </a:solidFill>
                <a:latin typeface="Trebuchet MS" pitchFamily="34" charset="0"/>
                <a:ea typeface="Trebuchet MS" pitchFamily="34" charset="-122"/>
                <a:cs typeface="Trebuchet MS" pitchFamily="34" charset="-120"/>
              </a:rPr>
              <a:t>gemma2:2b</a:t>
            </a:r>
            <a:endParaRPr lang="en-US" sz="1000"/>
          </a:p>
        </p:txBody>
      </p:sp>
      <p:sp>
        <p:nvSpPr>
          <p:cNvPr id="59" name="Text 57"/>
          <p:cNvSpPr/>
          <p:nvPr/>
        </p:nvSpPr>
        <p:spPr>
          <a:xfrm>
            <a:off x="5449824" y="3913632"/>
            <a:ext cx="1389888" cy="237744"/>
          </a:xfrm>
          <a:prstGeom prst="rect">
            <a:avLst/>
          </a:prstGeom>
          <a:noFill/>
          <a:ln/>
        </p:spPr>
        <p:txBody>
          <a:bodyPr wrap="square" lIns="0" tIns="0" rIns="0" bIns="0" rtlCol="0" anchor="ctr"/>
          <a:lstStyle/>
          <a:p>
            <a:pPr marL="0" indent="0" algn="ctr">
              <a:buNone/>
            </a:pPr>
            <a:r>
              <a:rPr lang="en-US" sz="800">
                <a:solidFill>
                  <a:srgbClr val="64748B"/>
                </a:solidFill>
                <a:latin typeface="Trebuchet MS" pitchFamily="34" charset="0"/>
                <a:ea typeface="Trebuchet MS" pitchFamily="34" charset="-122"/>
                <a:cs typeface="Trebuchet MS" pitchFamily="34" charset="-120"/>
              </a:rPr>
              <a:t>Local LLM</a:t>
            </a:r>
            <a:endParaRPr lang="en-US" sz="800"/>
          </a:p>
        </p:txBody>
      </p:sp>
      <p:sp>
        <p:nvSpPr>
          <p:cNvPr id="60" name="Shape 58"/>
          <p:cNvSpPr/>
          <p:nvPr/>
        </p:nvSpPr>
        <p:spPr>
          <a:xfrm>
            <a:off x="6839712" y="3584448"/>
            <a:ext cx="274320" cy="27432"/>
          </a:xfrm>
          <a:prstGeom prst="rect">
            <a:avLst/>
          </a:prstGeom>
          <a:solidFill>
            <a:srgbClr val="64748B">
              <a:alpha val="70000"/>
            </a:srgbClr>
          </a:solidFill>
          <a:ln w="12700">
            <a:solidFill>
              <a:srgbClr val="64748B">
                <a:alpha val="70000"/>
              </a:srgbClr>
            </a:solidFill>
            <a:prstDash val="solid"/>
          </a:ln>
        </p:spPr>
        <p:txBody>
          <a:bodyPr/>
          <a:lstStyle/>
          <a:p>
            <a:endParaRPr lang="en-US"/>
          </a:p>
        </p:txBody>
      </p:sp>
      <p:sp>
        <p:nvSpPr>
          <p:cNvPr id="61" name="Text 59"/>
          <p:cNvSpPr/>
          <p:nvPr/>
        </p:nvSpPr>
        <p:spPr>
          <a:xfrm>
            <a:off x="6894576" y="3438144"/>
            <a:ext cx="182880" cy="256032"/>
          </a:xfrm>
          <a:prstGeom prst="rect">
            <a:avLst/>
          </a:prstGeom>
          <a:noFill/>
          <a:ln/>
        </p:spPr>
        <p:txBody>
          <a:bodyPr wrap="square" lIns="0" tIns="0" rIns="0" bIns="0" rtlCol="0" anchor="ctr"/>
          <a:lstStyle/>
          <a:p>
            <a:pPr marL="0" indent="0" algn="ctr">
              <a:buNone/>
            </a:pPr>
            <a:r>
              <a:rPr lang="en-US" sz="1000">
                <a:solidFill>
                  <a:srgbClr val="64748B"/>
                </a:solidFill>
                <a:latin typeface="Trebuchet MS" pitchFamily="34" charset="0"/>
                <a:ea typeface="Trebuchet MS" pitchFamily="34" charset="-122"/>
                <a:cs typeface="Trebuchet MS" pitchFamily="34" charset="-120"/>
              </a:rPr>
              <a:t>▶</a:t>
            </a:r>
            <a:endParaRPr lang="en-US" sz="1000"/>
          </a:p>
        </p:txBody>
      </p:sp>
      <p:sp>
        <p:nvSpPr>
          <p:cNvPr id="62" name="Shape 60"/>
          <p:cNvSpPr/>
          <p:nvPr/>
        </p:nvSpPr>
        <p:spPr>
          <a:xfrm>
            <a:off x="7150608" y="3236976"/>
            <a:ext cx="1389888" cy="960120"/>
          </a:xfrm>
          <a:prstGeom prst="rect">
            <a:avLst/>
          </a:prstGeom>
          <a:solidFill>
            <a:srgbClr val="111827"/>
          </a:solidFill>
          <a:ln w="12700">
            <a:solidFill>
              <a:srgbClr val="22C55E"/>
            </a:solidFill>
            <a:prstDash val="solid"/>
          </a:ln>
          <a:effectLst>
            <a:outerShdw blurRad="127000" dist="38100" dir="8100000" algn="bl" rotWithShape="0">
              <a:srgbClr val="000000">
                <a:alpha val="35000"/>
              </a:srgbClr>
            </a:outerShdw>
          </a:effectLst>
        </p:spPr>
        <p:txBody>
          <a:bodyPr/>
          <a:lstStyle/>
          <a:p>
            <a:endParaRPr lang="en-US"/>
          </a:p>
        </p:txBody>
      </p:sp>
      <p:sp>
        <p:nvSpPr>
          <p:cNvPr id="63" name="Shape 61"/>
          <p:cNvSpPr/>
          <p:nvPr/>
        </p:nvSpPr>
        <p:spPr>
          <a:xfrm>
            <a:off x="7150608" y="3236976"/>
            <a:ext cx="1389888" cy="45720"/>
          </a:xfrm>
          <a:prstGeom prst="rect">
            <a:avLst/>
          </a:prstGeom>
          <a:solidFill>
            <a:srgbClr val="22C55E"/>
          </a:solidFill>
          <a:ln w="12700">
            <a:solidFill>
              <a:srgbClr val="22C55E"/>
            </a:solidFill>
            <a:prstDash val="solid"/>
          </a:ln>
        </p:spPr>
        <p:txBody>
          <a:bodyPr/>
          <a:lstStyle/>
          <a:p>
            <a:endParaRPr lang="en-US"/>
          </a:p>
        </p:txBody>
      </p:sp>
      <p:sp>
        <p:nvSpPr>
          <p:cNvPr id="64" name="Text 62"/>
          <p:cNvSpPr/>
          <p:nvPr/>
        </p:nvSpPr>
        <p:spPr>
          <a:xfrm>
            <a:off x="7150608" y="3328416"/>
            <a:ext cx="1389888" cy="347472"/>
          </a:xfrm>
          <a:prstGeom prst="rect">
            <a:avLst/>
          </a:prstGeom>
          <a:noFill/>
          <a:ln/>
        </p:spPr>
        <p:txBody>
          <a:bodyPr wrap="square" lIns="0" tIns="0" rIns="0" bIns="0" rtlCol="0" anchor="ctr"/>
          <a:lstStyle/>
          <a:p>
            <a:pPr marL="0" indent="0" algn="ctr">
              <a:buNone/>
            </a:pPr>
            <a:r>
              <a:rPr lang="en-US" sz="2000">
                <a:solidFill>
                  <a:srgbClr val="22C55E"/>
                </a:solidFill>
                <a:latin typeface="Trebuchet MS" pitchFamily="34" charset="0"/>
                <a:ea typeface="Trebuchet MS" pitchFamily="34" charset="-122"/>
                <a:cs typeface="Trebuchet MS" pitchFamily="34" charset="-120"/>
              </a:rPr>
              <a:t>✅</a:t>
            </a:r>
            <a:endParaRPr lang="en-US" sz="2000"/>
          </a:p>
        </p:txBody>
      </p:sp>
      <p:sp>
        <p:nvSpPr>
          <p:cNvPr id="65" name="Text 63"/>
          <p:cNvSpPr/>
          <p:nvPr/>
        </p:nvSpPr>
        <p:spPr>
          <a:xfrm>
            <a:off x="7150608" y="3675888"/>
            <a:ext cx="1389888" cy="256032"/>
          </a:xfrm>
          <a:prstGeom prst="rect">
            <a:avLst/>
          </a:prstGeom>
          <a:noFill/>
          <a:ln/>
        </p:spPr>
        <p:txBody>
          <a:bodyPr wrap="square" lIns="0" tIns="0" rIns="0" bIns="0" rtlCol="0" anchor="ctr"/>
          <a:lstStyle/>
          <a:p>
            <a:pPr marL="0" indent="0" algn="ctr">
              <a:buNone/>
            </a:pPr>
            <a:r>
              <a:rPr lang="en-US" sz="1000" b="1">
                <a:solidFill>
                  <a:srgbClr val="F1F5F9"/>
                </a:solidFill>
                <a:latin typeface="Trebuchet MS" pitchFamily="34" charset="0"/>
                <a:ea typeface="Trebuchet MS" pitchFamily="34" charset="-122"/>
                <a:cs typeface="Trebuchet MS" pitchFamily="34" charset="-120"/>
              </a:rPr>
              <a:t>Answer</a:t>
            </a:r>
            <a:endParaRPr lang="en-US" sz="1000"/>
          </a:p>
        </p:txBody>
      </p:sp>
      <p:sp>
        <p:nvSpPr>
          <p:cNvPr id="66" name="Text 64"/>
          <p:cNvSpPr/>
          <p:nvPr/>
        </p:nvSpPr>
        <p:spPr>
          <a:xfrm>
            <a:off x="7150608" y="3913632"/>
            <a:ext cx="1389888" cy="237744"/>
          </a:xfrm>
          <a:prstGeom prst="rect">
            <a:avLst/>
          </a:prstGeom>
          <a:noFill/>
          <a:ln/>
        </p:spPr>
        <p:txBody>
          <a:bodyPr wrap="square" lIns="0" tIns="0" rIns="0" bIns="0" rtlCol="0" anchor="ctr"/>
          <a:lstStyle/>
          <a:p>
            <a:pPr marL="0" indent="0" algn="ctr">
              <a:buNone/>
            </a:pPr>
            <a:r>
              <a:rPr lang="en-US" sz="800">
                <a:solidFill>
                  <a:srgbClr val="64748B"/>
                </a:solidFill>
                <a:latin typeface="Trebuchet MS" pitchFamily="34" charset="0"/>
                <a:ea typeface="Trebuchet MS" pitchFamily="34" charset="-122"/>
                <a:cs typeface="Trebuchet MS" pitchFamily="34" charset="-120"/>
              </a:rPr>
              <a:t>Grounded response</a:t>
            </a:r>
            <a:endParaRPr lang="en-US" sz="800"/>
          </a:p>
        </p:txBody>
      </p:sp>
      <p:sp>
        <p:nvSpPr>
          <p:cNvPr id="67" name="Text 65"/>
          <p:cNvSpPr/>
          <p:nvPr/>
        </p:nvSpPr>
        <p:spPr>
          <a:xfrm>
            <a:off x="457200" y="4526280"/>
            <a:ext cx="8229600" cy="329184"/>
          </a:xfrm>
          <a:prstGeom prst="rect">
            <a:avLst/>
          </a:prstGeom>
          <a:noFill/>
          <a:ln/>
        </p:spPr>
        <p:txBody>
          <a:bodyPr wrap="square" lIns="0" tIns="0" rIns="0" bIns="0" rtlCol="0" anchor="ctr"/>
          <a:lstStyle/>
          <a:p>
            <a:pPr marL="0" indent="0" algn="ctr">
              <a:buNone/>
            </a:pPr>
            <a:r>
              <a:rPr lang="en-US" sz="950" i="1">
                <a:solidFill>
                  <a:srgbClr val="F59E0B"/>
                </a:solidFill>
                <a:latin typeface="Trebuchet MS" pitchFamily="34" charset="0"/>
                <a:ea typeface="Trebuchet MS" pitchFamily="34" charset="-122"/>
                <a:cs typeface="Trebuchet MS" pitchFamily="34" charset="-120"/>
              </a:rPr>
              <a:t>★  Same embedding model used on BOTH sides — documents and questions must share the same vector space.</a:t>
            </a:r>
            <a:endParaRPr lang="en-US" sz="9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E"/>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30352"/>
          </a:xfrm>
          <a:prstGeom prst="rect">
            <a:avLst/>
          </a:prstGeom>
          <a:noFill/>
          <a:ln/>
        </p:spPr>
        <p:txBody>
          <a:bodyPr wrap="square" lIns="0" tIns="0" rIns="0" bIns="0" rtlCol="0" anchor="ctr"/>
          <a:lstStyle/>
          <a:p>
            <a:pPr marL="0" indent="0" algn="l">
              <a:buNone/>
            </a:pPr>
            <a:r>
              <a:rPr lang="en-US" sz="2600" b="1">
                <a:solidFill>
                  <a:srgbClr val="0EA5E9"/>
                </a:solidFill>
                <a:latin typeface="Trebuchet MS" pitchFamily="34" charset="0"/>
                <a:ea typeface="Trebuchet MS" pitchFamily="34" charset="-122"/>
                <a:cs typeface="Trebuchet MS" pitchFamily="34" charset="-120"/>
              </a:rPr>
              <a:t>Step 1 — Chunking: Breaking Documents Into Pieces</a:t>
            </a:r>
            <a:endParaRPr lang="en-US" sz="2600"/>
          </a:p>
        </p:txBody>
      </p:sp>
      <p:sp>
        <p:nvSpPr>
          <p:cNvPr id="3" name="Shape 1"/>
          <p:cNvSpPr/>
          <p:nvPr/>
        </p:nvSpPr>
        <p:spPr>
          <a:xfrm>
            <a:off x="457200" y="896112"/>
            <a:ext cx="8229600" cy="27432"/>
          </a:xfrm>
          <a:prstGeom prst="rect">
            <a:avLst/>
          </a:prstGeom>
          <a:solidFill>
            <a:srgbClr val="0EA5E9">
              <a:alpha val="40000"/>
            </a:srgbClr>
          </a:solidFill>
          <a:ln w="12700">
            <a:solidFill>
              <a:srgbClr val="0EA5E9">
                <a:alpha val="40000"/>
              </a:srgbClr>
            </a:solidFill>
            <a:prstDash val="solid"/>
          </a:ln>
        </p:spPr>
        <p:txBody>
          <a:bodyPr/>
          <a:lstStyle/>
          <a:p>
            <a:endParaRPr lang="en-US"/>
          </a:p>
        </p:txBody>
      </p:sp>
      <p:sp>
        <p:nvSpPr>
          <p:cNvPr id="4" name="Shape 2"/>
          <p:cNvSpPr/>
          <p:nvPr/>
        </p:nvSpPr>
        <p:spPr>
          <a:xfrm>
            <a:off x="457200" y="1005840"/>
            <a:ext cx="2743200" cy="137160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5" name="Shape 3"/>
          <p:cNvSpPr/>
          <p:nvPr/>
        </p:nvSpPr>
        <p:spPr>
          <a:xfrm>
            <a:off x="457200" y="1005840"/>
            <a:ext cx="54864" cy="1371600"/>
          </a:xfrm>
          <a:prstGeom prst="rect">
            <a:avLst/>
          </a:prstGeom>
          <a:solidFill>
            <a:srgbClr val="0EA5E9"/>
          </a:solidFill>
          <a:ln w="12700">
            <a:solidFill>
              <a:srgbClr val="0EA5E9"/>
            </a:solidFill>
            <a:prstDash val="solid"/>
          </a:ln>
        </p:spPr>
        <p:txBody>
          <a:bodyPr/>
          <a:lstStyle/>
          <a:p>
            <a:endParaRPr lang="en-US"/>
          </a:p>
        </p:txBody>
      </p:sp>
      <p:sp>
        <p:nvSpPr>
          <p:cNvPr id="6" name="Text 4"/>
          <p:cNvSpPr/>
          <p:nvPr/>
        </p:nvSpPr>
        <p:spPr>
          <a:xfrm>
            <a:off x="658368" y="1060704"/>
            <a:ext cx="2423160" cy="310896"/>
          </a:xfrm>
          <a:prstGeom prst="rect">
            <a:avLst/>
          </a:prstGeom>
          <a:noFill/>
          <a:ln/>
        </p:spPr>
        <p:txBody>
          <a:bodyPr wrap="square" lIns="0" tIns="0" rIns="0" bIns="0" rtlCol="0" anchor="ctr"/>
          <a:lstStyle/>
          <a:p>
            <a:pPr marL="0" indent="0">
              <a:buNone/>
            </a:pPr>
            <a:r>
              <a:rPr lang="en-US" sz="1200" b="1">
                <a:solidFill>
                  <a:srgbClr val="0EA5E9"/>
                </a:solidFill>
                <a:latin typeface="Trebuchet MS" pitchFamily="34" charset="0"/>
                <a:ea typeface="Trebuchet MS" pitchFamily="34" charset="-122"/>
                <a:cs typeface="Trebuchet MS" pitchFamily="34" charset="-120"/>
              </a:rPr>
              <a:t>Why Chunking?</a:t>
            </a:r>
            <a:endParaRPr lang="en-US" sz="1200"/>
          </a:p>
        </p:txBody>
      </p:sp>
      <p:sp>
        <p:nvSpPr>
          <p:cNvPr id="7" name="Text 5"/>
          <p:cNvSpPr/>
          <p:nvPr/>
        </p:nvSpPr>
        <p:spPr>
          <a:xfrm>
            <a:off x="548640" y="1417320"/>
            <a:ext cx="2532888" cy="914400"/>
          </a:xfrm>
          <a:prstGeom prst="rect">
            <a:avLst/>
          </a:prstGeom>
          <a:noFill/>
          <a:ln/>
        </p:spPr>
        <p:txBody>
          <a:bodyPr wrap="square" lIns="0" tIns="0" rIns="0" bIns="0" rtlCol="0" anchor="ctr"/>
          <a:lstStyle/>
          <a:p>
            <a:pPr>
              <a:spcAft>
                <a:spcPts val="500"/>
              </a:spcAft>
            </a:pPr>
            <a:r>
              <a:rPr lang="en-US" sz="950">
                <a:solidFill>
                  <a:srgbClr val="64748B"/>
                </a:solidFill>
                <a:latin typeface="Trebuchet MS" pitchFamily="34" charset="0"/>
              </a:rPr>
              <a:t>·   Splits documents into smaller pieces</a:t>
            </a:r>
          </a:p>
          <a:p>
            <a:pPr>
              <a:spcAft>
                <a:spcPts val="500"/>
              </a:spcAft>
            </a:pPr>
            <a:r>
              <a:rPr lang="en-US" sz="950" b="1">
                <a:solidFill>
                  <a:srgbClr val="0EA5E9"/>
                </a:solidFill>
                <a:latin typeface="Trebuchet MS" pitchFamily="34" charset="0"/>
                <a:ea typeface="Trebuchet MS" pitchFamily="34" charset="-122"/>
                <a:cs typeface="Trebuchet MS" pitchFamily="34" charset="-120"/>
              </a:rPr>
              <a:t>·   </a:t>
            </a:r>
            <a:r>
              <a:rPr lang="en-US" sz="950">
                <a:solidFill>
                  <a:srgbClr val="64748B"/>
                </a:solidFill>
                <a:latin typeface="Trebuchet MS" pitchFamily="34" charset="0"/>
              </a:rPr>
              <a:t>Retrieves only relevant sections</a:t>
            </a:r>
          </a:p>
          <a:p>
            <a:pPr>
              <a:spcAft>
                <a:spcPts val="500"/>
              </a:spcAft>
            </a:pPr>
            <a:r>
              <a:rPr lang="en-US" sz="950" b="1">
                <a:solidFill>
                  <a:srgbClr val="0EA5E9"/>
                </a:solidFill>
                <a:latin typeface="Trebuchet MS" pitchFamily="34" charset="0"/>
                <a:ea typeface="Trebuchet MS" pitchFamily="34" charset="-122"/>
                <a:cs typeface="Trebuchet MS" pitchFamily="34" charset="-120"/>
              </a:rPr>
              <a:t>·   </a:t>
            </a:r>
            <a:r>
              <a:rPr lang="en-US" sz="950">
                <a:solidFill>
                  <a:srgbClr val="64748B"/>
                </a:solidFill>
                <a:latin typeface="Trebuchet MS" pitchFamily="34" charset="0"/>
              </a:rPr>
              <a:t>63 parks, 150-word chunks</a:t>
            </a:r>
          </a:p>
          <a:p>
            <a:pPr marL="171450" indent="-171450">
              <a:spcAft>
                <a:spcPts val="500"/>
              </a:spcAft>
              <a:buFont typeface="Arial" panose="020B0604020202020204" pitchFamily="34" charset="0"/>
              <a:buChar char="•"/>
            </a:pPr>
            <a:r>
              <a:rPr lang="en-US" sz="950">
                <a:solidFill>
                  <a:srgbClr val="64748B"/>
                </a:solidFill>
                <a:latin typeface="Trebuchet MS" pitchFamily="34" charset="0"/>
              </a:rPr>
              <a:t>514 chunks stored total</a:t>
            </a:r>
          </a:p>
          <a:p>
            <a:pPr>
              <a:spcAft>
                <a:spcPts val="500"/>
              </a:spcAft>
            </a:pPr>
            <a:endParaRPr lang="en-US" sz="950"/>
          </a:p>
        </p:txBody>
      </p:sp>
      <p:sp>
        <p:nvSpPr>
          <p:cNvPr id="8" name="Shape 6"/>
          <p:cNvSpPr/>
          <p:nvPr/>
        </p:nvSpPr>
        <p:spPr>
          <a:xfrm>
            <a:off x="3429000" y="992763"/>
            <a:ext cx="5257800" cy="137160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10" name="Shape 8"/>
          <p:cNvSpPr/>
          <p:nvPr/>
        </p:nvSpPr>
        <p:spPr>
          <a:xfrm>
            <a:off x="3611880" y="1426464"/>
            <a:ext cx="1417320" cy="347472"/>
          </a:xfrm>
          <a:prstGeom prst="rect">
            <a:avLst/>
          </a:prstGeom>
          <a:solidFill>
            <a:srgbClr val="0EA5E9">
              <a:alpha val="28000"/>
            </a:srgbClr>
          </a:solidFill>
          <a:ln w="12700">
            <a:solidFill>
              <a:srgbClr val="0EA5E9"/>
            </a:solidFill>
            <a:prstDash val="solid"/>
          </a:ln>
        </p:spPr>
        <p:txBody>
          <a:bodyPr/>
          <a:lstStyle/>
          <a:p>
            <a:endParaRPr lang="en-US"/>
          </a:p>
        </p:txBody>
      </p:sp>
      <p:sp>
        <p:nvSpPr>
          <p:cNvPr id="11" name="Text 9"/>
          <p:cNvSpPr/>
          <p:nvPr/>
        </p:nvSpPr>
        <p:spPr>
          <a:xfrm>
            <a:off x="3611880" y="1435608"/>
            <a:ext cx="1417320" cy="182880"/>
          </a:xfrm>
          <a:prstGeom prst="rect">
            <a:avLst/>
          </a:prstGeom>
          <a:noFill/>
          <a:ln/>
        </p:spPr>
        <p:txBody>
          <a:bodyPr wrap="square" lIns="0" tIns="0" rIns="0" bIns="0" rtlCol="0" anchor="ctr"/>
          <a:lstStyle/>
          <a:p>
            <a:pPr marL="0" indent="0" algn="ctr">
              <a:buNone/>
            </a:pPr>
            <a:r>
              <a:rPr lang="en-US" sz="750" b="1">
                <a:solidFill>
                  <a:srgbClr val="0EA5E9"/>
                </a:solidFill>
                <a:latin typeface="Trebuchet MS" pitchFamily="34" charset="0"/>
                <a:ea typeface="Trebuchet MS" pitchFamily="34" charset="-122"/>
                <a:cs typeface="Trebuchet MS" pitchFamily="34" charset="-120"/>
              </a:rPr>
              <a:t>Chunk 0</a:t>
            </a:r>
            <a:endParaRPr lang="en-US" sz="750"/>
          </a:p>
        </p:txBody>
      </p:sp>
      <p:sp>
        <p:nvSpPr>
          <p:cNvPr id="12" name="Text 10"/>
          <p:cNvSpPr/>
          <p:nvPr/>
        </p:nvSpPr>
        <p:spPr>
          <a:xfrm>
            <a:off x="3611880" y="1609344"/>
            <a:ext cx="1417320" cy="164592"/>
          </a:xfrm>
          <a:prstGeom prst="rect">
            <a:avLst/>
          </a:prstGeom>
          <a:noFill/>
          <a:ln/>
        </p:spPr>
        <p:txBody>
          <a:bodyPr wrap="square" lIns="0" tIns="0" rIns="0" bIns="0" rtlCol="0" anchor="ctr"/>
          <a:lstStyle/>
          <a:p>
            <a:pPr marL="0" indent="0" algn="ctr">
              <a:buNone/>
            </a:pPr>
            <a:r>
              <a:rPr lang="en-US" sz="650">
                <a:solidFill>
                  <a:srgbClr val="64748B"/>
                </a:solidFill>
                <a:latin typeface="Trebuchet MS" pitchFamily="34" charset="0"/>
                <a:ea typeface="Trebuchet MS" pitchFamily="34" charset="-122"/>
                <a:cs typeface="Trebuchet MS" pitchFamily="34" charset="-120"/>
              </a:rPr>
              <a:t>words 0–150</a:t>
            </a:r>
            <a:endParaRPr lang="en-US" sz="650"/>
          </a:p>
        </p:txBody>
      </p:sp>
      <p:sp>
        <p:nvSpPr>
          <p:cNvPr id="13" name="Shape 11"/>
          <p:cNvSpPr/>
          <p:nvPr/>
        </p:nvSpPr>
        <p:spPr>
          <a:xfrm>
            <a:off x="4937760" y="1426464"/>
            <a:ext cx="1417320" cy="347472"/>
          </a:xfrm>
          <a:prstGeom prst="rect">
            <a:avLst/>
          </a:prstGeom>
          <a:solidFill>
            <a:srgbClr val="10B981">
              <a:alpha val="28000"/>
            </a:srgbClr>
          </a:solidFill>
          <a:ln w="12700">
            <a:solidFill>
              <a:srgbClr val="10B981"/>
            </a:solidFill>
            <a:prstDash val="solid"/>
          </a:ln>
        </p:spPr>
        <p:txBody>
          <a:bodyPr/>
          <a:lstStyle/>
          <a:p>
            <a:endParaRPr lang="en-US"/>
          </a:p>
        </p:txBody>
      </p:sp>
      <p:sp>
        <p:nvSpPr>
          <p:cNvPr id="14" name="Text 12"/>
          <p:cNvSpPr/>
          <p:nvPr/>
        </p:nvSpPr>
        <p:spPr>
          <a:xfrm>
            <a:off x="4937760" y="1435608"/>
            <a:ext cx="1417320" cy="182880"/>
          </a:xfrm>
          <a:prstGeom prst="rect">
            <a:avLst/>
          </a:prstGeom>
          <a:noFill/>
          <a:ln/>
        </p:spPr>
        <p:txBody>
          <a:bodyPr wrap="square" lIns="0" tIns="0" rIns="0" bIns="0" rtlCol="0" anchor="ctr"/>
          <a:lstStyle/>
          <a:p>
            <a:pPr marL="0" indent="0" algn="ctr">
              <a:buNone/>
            </a:pPr>
            <a:r>
              <a:rPr lang="en-US" sz="750" b="1">
                <a:solidFill>
                  <a:srgbClr val="10B981"/>
                </a:solidFill>
                <a:latin typeface="Trebuchet MS" pitchFamily="34" charset="0"/>
                <a:ea typeface="Trebuchet MS" pitchFamily="34" charset="-122"/>
                <a:cs typeface="Trebuchet MS" pitchFamily="34" charset="-120"/>
              </a:rPr>
              <a:t>Chunk 1</a:t>
            </a:r>
            <a:endParaRPr lang="en-US" sz="750"/>
          </a:p>
        </p:txBody>
      </p:sp>
      <p:sp>
        <p:nvSpPr>
          <p:cNvPr id="15" name="Text 13"/>
          <p:cNvSpPr/>
          <p:nvPr/>
        </p:nvSpPr>
        <p:spPr>
          <a:xfrm>
            <a:off x="4937760" y="1609344"/>
            <a:ext cx="1417320" cy="164592"/>
          </a:xfrm>
          <a:prstGeom prst="rect">
            <a:avLst/>
          </a:prstGeom>
          <a:noFill/>
          <a:ln/>
        </p:spPr>
        <p:txBody>
          <a:bodyPr wrap="square" lIns="0" tIns="0" rIns="0" bIns="0" rtlCol="0" anchor="ctr"/>
          <a:lstStyle/>
          <a:p>
            <a:pPr marL="0" indent="0" algn="ctr">
              <a:buNone/>
            </a:pPr>
            <a:r>
              <a:rPr lang="en-US" sz="650">
                <a:solidFill>
                  <a:srgbClr val="64748B"/>
                </a:solidFill>
                <a:latin typeface="Trebuchet MS" pitchFamily="34" charset="0"/>
                <a:ea typeface="Trebuchet MS" pitchFamily="34" charset="-122"/>
                <a:cs typeface="Trebuchet MS" pitchFamily="34" charset="-120"/>
              </a:rPr>
              <a:t>words 135–285</a:t>
            </a:r>
            <a:endParaRPr lang="en-US" sz="650"/>
          </a:p>
        </p:txBody>
      </p:sp>
      <p:sp>
        <p:nvSpPr>
          <p:cNvPr id="16" name="Shape 14"/>
          <p:cNvSpPr/>
          <p:nvPr/>
        </p:nvSpPr>
        <p:spPr>
          <a:xfrm>
            <a:off x="6263640" y="1426464"/>
            <a:ext cx="1417320" cy="347472"/>
          </a:xfrm>
          <a:prstGeom prst="rect">
            <a:avLst/>
          </a:prstGeom>
          <a:solidFill>
            <a:srgbClr val="0EA5E9">
              <a:alpha val="28000"/>
            </a:srgbClr>
          </a:solidFill>
          <a:ln w="12700">
            <a:solidFill>
              <a:srgbClr val="0EA5E9"/>
            </a:solidFill>
            <a:prstDash val="solid"/>
          </a:ln>
        </p:spPr>
        <p:txBody>
          <a:bodyPr/>
          <a:lstStyle/>
          <a:p>
            <a:endParaRPr lang="en-US"/>
          </a:p>
        </p:txBody>
      </p:sp>
      <p:sp>
        <p:nvSpPr>
          <p:cNvPr id="17" name="Text 15"/>
          <p:cNvSpPr/>
          <p:nvPr/>
        </p:nvSpPr>
        <p:spPr>
          <a:xfrm>
            <a:off x="6263640" y="1435608"/>
            <a:ext cx="1417320" cy="182880"/>
          </a:xfrm>
          <a:prstGeom prst="rect">
            <a:avLst/>
          </a:prstGeom>
          <a:noFill/>
          <a:ln/>
        </p:spPr>
        <p:txBody>
          <a:bodyPr wrap="square" lIns="0" tIns="0" rIns="0" bIns="0" rtlCol="0" anchor="ctr"/>
          <a:lstStyle/>
          <a:p>
            <a:pPr marL="0" indent="0" algn="ctr">
              <a:buNone/>
            </a:pPr>
            <a:r>
              <a:rPr lang="en-US" sz="750" b="1">
                <a:solidFill>
                  <a:srgbClr val="0EA5E9"/>
                </a:solidFill>
                <a:latin typeface="Trebuchet MS" pitchFamily="34" charset="0"/>
                <a:ea typeface="Trebuchet MS" pitchFamily="34" charset="-122"/>
                <a:cs typeface="Trebuchet MS" pitchFamily="34" charset="-120"/>
              </a:rPr>
              <a:t>Chunk 2</a:t>
            </a:r>
            <a:endParaRPr lang="en-US" sz="750"/>
          </a:p>
        </p:txBody>
      </p:sp>
      <p:sp>
        <p:nvSpPr>
          <p:cNvPr id="18" name="Text 16"/>
          <p:cNvSpPr/>
          <p:nvPr/>
        </p:nvSpPr>
        <p:spPr>
          <a:xfrm>
            <a:off x="6263640" y="1609344"/>
            <a:ext cx="1417320" cy="164592"/>
          </a:xfrm>
          <a:prstGeom prst="rect">
            <a:avLst/>
          </a:prstGeom>
          <a:noFill/>
          <a:ln/>
        </p:spPr>
        <p:txBody>
          <a:bodyPr wrap="square" lIns="0" tIns="0" rIns="0" bIns="0" rtlCol="0" anchor="ctr"/>
          <a:lstStyle/>
          <a:p>
            <a:pPr marL="0" indent="0" algn="ctr">
              <a:buNone/>
            </a:pPr>
            <a:r>
              <a:rPr lang="en-US" sz="650">
                <a:solidFill>
                  <a:srgbClr val="64748B"/>
                </a:solidFill>
                <a:latin typeface="Trebuchet MS" pitchFamily="34" charset="0"/>
                <a:ea typeface="Trebuchet MS" pitchFamily="34" charset="-122"/>
                <a:cs typeface="Trebuchet MS" pitchFamily="34" charset="-120"/>
              </a:rPr>
              <a:t>words 270–420</a:t>
            </a:r>
            <a:endParaRPr lang="en-US" sz="650"/>
          </a:p>
        </p:txBody>
      </p:sp>
      <p:sp>
        <p:nvSpPr>
          <p:cNvPr id="19" name="Shape 17"/>
          <p:cNvSpPr/>
          <p:nvPr/>
        </p:nvSpPr>
        <p:spPr>
          <a:xfrm>
            <a:off x="7589520" y="1426464"/>
            <a:ext cx="1005840" cy="347472"/>
          </a:xfrm>
          <a:prstGeom prst="rect">
            <a:avLst/>
          </a:prstGeom>
          <a:solidFill>
            <a:srgbClr val="10B981">
              <a:alpha val="28000"/>
            </a:srgbClr>
          </a:solidFill>
          <a:ln w="12700">
            <a:solidFill>
              <a:srgbClr val="10B981"/>
            </a:solidFill>
            <a:prstDash val="solid"/>
          </a:ln>
        </p:spPr>
        <p:txBody>
          <a:bodyPr/>
          <a:lstStyle/>
          <a:p>
            <a:endParaRPr lang="en-US"/>
          </a:p>
        </p:txBody>
      </p:sp>
      <p:sp>
        <p:nvSpPr>
          <p:cNvPr id="20" name="Text 18"/>
          <p:cNvSpPr/>
          <p:nvPr/>
        </p:nvSpPr>
        <p:spPr>
          <a:xfrm>
            <a:off x="7589520" y="1435608"/>
            <a:ext cx="1005840" cy="182880"/>
          </a:xfrm>
          <a:prstGeom prst="rect">
            <a:avLst/>
          </a:prstGeom>
          <a:noFill/>
          <a:ln/>
        </p:spPr>
        <p:txBody>
          <a:bodyPr wrap="square" lIns="0" tIns="0" rIns="0" bIns="0" rtlCol="0" anchor="ctr"/>
          <a:lstStyle/>
          <a:p>
            <a:pPr marL="0" indent="0" algn="ctr">
              <a:buNone/>
            </a:pPr>
            <a:r>
              <a:rPr lang="en-US" sz="750" b="1">
                <a:solidFill>
                  <a:srgbClr val="10B981"/>
                </a:solidFill>
                <a:latin typeface="Trebuchet MS" pitchFamily="34" charset="0"/>
                <a:ea typeface="Trebuchet MS" pitchFamily="34" charset="-122"/>
                <a:cs typeface="Trebuchet MS" pitchFamily="34" charset="-120"/>
              </a:rPr>
              <a:t>Chunk 3</a:t>
            </a:r>
            <a:endParaRPr lang="en-US" sz="750"/>
          </a:p>
        </p:txBody>
      </p:sp>
      <p:sp>
        <p:nvSpPr>
          <p:cNvPr id="21" name="Text 19"/>
          <p:cNvSpPr/>
          <p:nvPr/>
        </p:nvSpPr>
        <p:spPr>
          <a:xfrm>
            <a:off x="7589520" y="1609344"/>
            <a:ext cx="1005840" cy="164592"/>
          </a:xfrm>
          <a:prstGeom prst="rect">
            <a:avLst/>
          </a:prstGeom>
          <a:noFill/>
          <a:ln/>
        </p:spPr>
        <p:txBody>
          <a:bodyPr wrap="square" lIns="0" tIns="0" rIns="0" bIns="0" rtlCol="0" anchor="ctr"/>
          <a:lstStyle/>
          <a:p>
            <a:pPr marL="0" indent="0" algn="ctr">
              <a:buNone/>
            </a:pPr>
            <a:r>
              <a:rPr lang="en-US" sz="650">
                <a:solidFill>
                  <a:srgbClr val="64748B"/>
                </a:solidFill>
                <a:latin typeface="Trebuchet MS" pitchFamily="34" charset="0"/>
                <a:ea typeface="Trebuchet MS" pitchFamily="34" charset="-122"/>
                <a:cs typeface="Trebuchet MS" pitchFamily="34" charset="-120"/>
              </a:rPr>
              <a:t>405–555</a:t>
            </a:r>
            <a:endParaRPr lang="en-US" sz="650"/>
          </a:p>
        </p:txBody>
      </p:sp>
      <p:sp>
        <p:nvSpPr>
          <p:cNvPr id="22" name="Text 20"/>
          <p:cNvSpPr/>
          <p:nvPr/>
        </p:nvSpPr>
        <p:spPr>
          <a:xfrm>
            <a:off x="4800600" y="1801368"/>
            <a:ext cx="1783080" cy="201168"/>
          </a:xfrm>
          <a:prstGeom prst="rect">
            <a:avLst/>
          </a:prstGeom>
          <a:noFill/>
          <a:ln/>
        </p:spPr>
        <p:txBody>
          <a:bodyPr wrap="square" lIns="0" tIns="0" rIns="0" bIns="0" rtlCol="0" anchor="ctr"/>
          <a:lstStyle/>
          <a:p>
            <a:pPr marL="0" indent="0" algn="ctr">
              <a:buNone/>
            </a:pPr>
            <a:r>
              <a:rPr lang="en-US" sz="750" i="1">
                <a:solidFill>
                  <a:srgbClr val="F59E0B"/>
                </a:solidFill>
                <a:latin typeface="Trebuchet MS" pitchFamily="34" charset="0"/>
                <a:ea typeface="Trebuchet MS" pitchFamily="34" charset="-122"/>
                <a:cs typeface="Trebuchet MS" pitchFamily="34" charset="-120"/>
              </a:rPr>
              <a:t>← 15-word overlap →</a:t>
            </a:r>
            <a:endParaRPr lang="en-US" sz="750"/>
          </a:p>
        </p:txBody>
      </p:sp>
      <p:sp>
        <p:nvSpPr>
          <p:cNvPr id="23" name="Shape 21"/>
          <p:cNvSpPr/>
          <p:nvPr/>
        </p:nvSpPr>
        <p:spPr>
          <a:xfrm>
            <a:off x="466344" y="2571750"/>
            <a:ext cx="2029968" cy="2304288"/>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24" name="Text 22"/>
          <p:cNvSpPr/>
          <p:nvPr/>
        </p:nvSpPr>
        <p:spPr>
          <a:xfrm>
            <a:off x="612648" y="2757509"/>
            <a:ext cx="1737360" cy="329184"/>
          </a:xfrm>
          <a:prstGeom prst="rect">
            <a:avLst/>
          </a:prstGeom>
          <a:noFill/>
          <a:ln/>
        </p:spPr>
        <p:txBody>
          <a:bodyPr wrap="square" lIns="0" tIns="0" rIns="0" bIns="0" rtlCol="0" anchor="ctr"/>
          <a:lstStyle/>
          <a:p>
            <a:pPr marL="0" indent="0" algn="ctr">
              <a:buNone/>
            </a:pPr>
            <a:r>
              <a:rPr lang="en-US" sz="1100" b="1">
                <a:solidFill>
                  <a:srgbClr val="F1F5F9"/>
                </a:solidFill>
                <a:latin typeface="Trebuchet MS" pitchFamily="34" charset="0"/>
                <a:ea typeface="Trebuchet MS" pitchFamily="34" charset="-122"/>
                <a:cs typeface="Trebuchet MS" pitchFamily="34" charset="-120"/>
              </a:rPr>
              <a:t>Fixed Size</a:t>
            </a:r>
            <a:endParaRPr lang="en-US" sz="1100"/>
          </a:p>
        </p:txBody>
      </p:sp>
      <p:sp>
        <p:nvSpPr>
          <p:cNvPr id="25" name="Text 23"/>
          <p:cNvSpPr/>
          <p:nvPr/>
        </p:nvSpPr>
        <p:spPr>
          <a:xfrm>
            <a:off x="566928" y="3017520"/>
            <a:ext cx="1828800" cy="1600200"/>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Cut every N words — simple and fast but can split sentences in half</a:t>
            </a:r>
            <a:endParaRPr lang="en-US" sz="950"/>
          </a:p>
        </p:txBody>
      </p:sp>
      <p:sp>
        <p:nvSpPr>
          <p:cNvPr id="26" name="Shape 24"/>
          <p:cNvSpPr/>
          <p:nvPr/>
        </p:nvSpPr>
        <p:spPr>
          <a:xfrm>
            <a:off x="2670048" y="2555516"/>
            <a:ext cx="2029968" cy="2304288"/>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27" name="Shape 25"/>
          <p:cNvSpPr/>
          <p:nvPr/>
        </p:nvSpPr>
        <p:spPr>
          <a:xfrm>
            <a:off x="2651760" y="2542032"/>
            <a:ext cx="2029968" cy="45720"/>
          </a:xfrm>
          <a:prstGeom prst="rect">
            <a:avLst/>
          </a:prstGeom>
          <a:solidFill>
            <a:srgbClr val="10B981"/>
          </a:solidFill>
          <a:ln w="12700">
            <a:solidFill>
              <a:srgbClr val="10B981"/>
            </a:solidFill>
            <a:prstDash val="solid"/>
          </a:ln>
        </p:spPr>
        <p:txBody>
          <a:bodyPr/>
          <a:lstStyle/>
          <a:p>
            <a:endParaRPr lang="en-US"/>
          </a:p>
        </p:txBody>
      </p:sp>
      <p:sp>
        <p:nvSpPr>
          <p:cNvPr id="28" name="Shape 26"/>
          <p:cNvSpPr/>
          <p:nvPr/>
        </p:nvSpPr>
        <p:spPr>
          <a:xfrm>
            <a:off x="3300984" y="2592324"/>
            <a:ext cx="749808" cy="228600"/>
          </a:xfrm>
          <a:prstGeom prst="rect">
            <a:avLst/>
          </a:prstGeom>
          <a:solidFill>
            <a:srgbClr val="10B981">
              <a:alpha val="22000"/>
            </a:srgbClr>
          </a:solidFill>
          <a:ln w="12700">
            <a:solidFill>
              <a:srgbClr val="10B981">
                <a:alpha val="45000"/>
              </a:srgbClr>
            </a:solidFill>
            <a:prstDash val="solid"/>
          </a:ln>
        </p:spPr>
        <p:txBody>
          <a:bodyPr/>
          <a:lstStyle/>
          <a:p>
            <a:endParaRPr lang="en-US"/>
          </a:p>
        </p:txBody>
      </p:sp>
      <p:sp>
        <p:nvSpPr>
          <p:cNvPr id="29" name="Text 27"/>
          <p:cNvSpPr/>
          <p:nvPr/>
        </p:nvSpPr>
        <p:spPr>
          <a:xfrm>
            <a:off x="3291840" y="2606040"/>
            <a:ext cx="749808" cy="228600"/>
          </a:xfrm>
          <a:prstGeom prst="rect">
            <a:avLst/>
          </a:prstGeom>
          <a:noFill/>
          <a:ln/>
        </p:spPr>
        <p:txBody>
          <a:bodyPr wrap="square" lIns="0" tIns="0" rIns="0" bIns="0" rtlCol="0" anchor="ctr"/>
          <a:lstStyle/>
          <a:p>
            <a:pPr marL="0" indent="0" algn="ctr">
              <a:buNone/>
            </a:pPr>
            <a:r>
              <a:rPr lang="en-US" sz="750" b="1">
                <a:solidFill>
                  <a:srgbClr val="10B981"/>
                </a:solidFill>
                <a:latin typeface="Trebuchet MS" pitchFamily="34" charset="0"/>
                <a:ea typeface="Trebuchet MS" pitchFamily="34" charset="-122"/>
                <a:cs typeface="Trebuchet MS" pitchFamily="34" charset="-120"/>
              </a:rPr>
              <a:t>✓ USED</a:t>
            </a:r>
            <a:endParaRPr lang="en-US" sz="750"/>
          </a:p>
        </p:txBody>
      </p:sp>
      <p:sp>
        <p:nvSpPr>
          <p:cNvPr id="30" name="Text 28"/>
          <p:cNvSpPr/>
          <p:nvPr/>
        </p:nvSpPr>
        <p:spPr>
          <a:xfrm>
            <a:off x="3017520" y="2757243"/>
            <a:ext cx="1737360" cy="329184"/>
          </a:xfrm>
          <a:prstGeom prst="rect">
            <a:avLst/>
          </a:prstGeom>
          <a:noFill/>
          <a:ln/>
        </p:spPr>
        <p:txBody>
          <a:bodyPr wrap="square" lIns="0" tIns="0" rIns="0" bIns="0" rtlCol="0" anchor="ctr"/>
          <a:lstStyle/>
          <a:p>
            <a:pPr marL="0" indent="0" algn="l">
              <a:buNone/>
            </a:pPr>
            <a:r>
              <a:rPr lang="en-US" sz="1100" b="1">
                <a:solidFill>
                  <a:srgbClr val="10B981"/>
                </a:solidFill>
                <a:latin typeface="Trebuchet MS" pitchFamily="34" charset="0"/>
                <a:ea typeface="Trebuchet MS" pitchFamily="34" charset="-122"/>
                <a:cs typeface="Trebuchet MS" pitchFamily="34" charset="-120"/>
              </a:rPr>
              <a:t>Fixed Size + Overlap</a:t>
            </a:r>
            <a:endParaRPr lang="en-US" sz="1100"/>
          </a:p>
        </p:txBody>
      </p:sp>
      <p:sp>
        <p:nvSpPr>
          <p:cNvPr id="31" name="Text 29"/>
          <p:cNvSpPr/>
          <p:nvPr/>
        </p:nvSpPr>
        <p:spPr>
          <a:xfrm>
            <a:off x="2761488" y="3017520"/>
            <a:ext cx="1828800" cy="1600200"/>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Neighbouring chunks share words — prevents losing context at boundaries</a:t>
            </a:r>
            <a:endParaRPr lang="en-US" sz="950"/>
          </a:p>
        </p:txBody>
      </p:sp>
      <p:sp>
        <p:nvSpPr>
          <p:cNvPr id="32" name="Shape 30"/>
          <p:cNvSpPr/>
          <p:nvPr/>
        </p:nvSpPr>
        <p:spPr>
          <a:xfrm>
            <a:off x="4846320" y="2542032"/>
            <a:ext cx="2029968" cy="2304288"/>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33" name="Text 31"/>
          <p:cNvSpPr/>
          <p:nvPr/>
        </p:nvSpPr>
        <p:spPr>
          <a:xfrm>
            <a:off x="5177188" y="2757243"/>
            <a:ext cx="1737360" cy="329184"/>
          </a:xfrm>
          <a:prstGeom prst="rect">
            <a:avLst/>
          </a:prstGeom>
          <a:noFill/>
          <a:ln/>
        </p:spPr>
        <p:txBody>
          <a:bodyPr wrap="square" lIns="0" tIns="0" rIns="0" bIns="0" rtlCol="0" anchor="ctr"/>
          <a:lstStyle/>
          <a:p>
            <a:pPr marL="0" indent="0" algn="l">
              <a:buNone/>
            </a:pPr>
            <a:r>
              <a:rPr lang="en-US" sz="1100" b="1">
                <a:solidFill>
                  <a:srgbClr val="F1F5F9"/>
                </a:solidFill>
                <a:latin typeface="Trebuchet MS" pitchFamily="34" charset="0"/>
                <a:ea typeface="Trebuchet MS" pitchFamily="34" charset="-122"/>
                <a:cs typeface="Trebuchet MS" pitchFamily="34" charset="-120"/>
              </a:rPr>
              <a:t>Sentence / Paragraph</a:t>
            </a:r>
            <a:endParaRPr lang="en-US" sz="1100"/>
          </a:p>
        </p:txBody>
      </p:sp>
      <p:sp>
        <p:nvSpPr>
          <p:cNvPr id="34" name="Text 32"/>
          <p:cNvSpPr/>
          <p:nvPr/>
        </p:nvSpPr>
        <p:spPr>
          <a:xfrm>
            <a:off x="4956048" y="3017520"/>
            <a:ext cx="1828800" cy="1600200"/>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Splits at natural language boundaries — chunk sizes vary wildly</a:t>
            </a:r>
            <a:endParaRPr lang="en-US" sz="950"/>
          </a:p>
        </p:txBody>
      </p:sp>
      <p:sp>
        <p:nvSpPr>
          <p:cNvPr id="35" name="Shape 33"/>
          <p:cNvSpPr/>
          <p:nvPr/>
        </p:nvSpPr>
        <p:spPr>
          <a:xfrm>
            <a:off x="7040880" y="2542032"/>
            <a:ext cx="2029968" cy="2304288"/>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36" name="Text 34"/>
          <p:cNvSpPr/>
          <p:nvPr/>
        </p:nvSpPr>
        <p:spPr>
          <a:xfrm>
            <a:off x="7808976" y="2757243"/>
            <a:ext cx="1737360" cy="329184"/>
          </a:xfrm>
          <a:prstGeom prst="rect">
            <a:avLst/>
          </a:prstGeom>
          <a:noFill/>
          <a:ln/>
        </p:spPr>
        <p:txBody>
          <a:bodyPr wrap="square" lIns="0" tIns="0" rIns="0" bIns="0" rtlCol="0" anchor="ctr"/>
          <a:lstStyle/>
          <a:p>
            <a:pPr marL="0" indent="0" algn="l">
              <a:buNone/>
            </a:pPr>
            <a:r>
              <a:rPr lang="en-US" sz="1100" b="1">
                <a:solidFill>
                  <a:srgbClr val="F1F5F9"/>
                </a:solidFill>
                <a:latin typeface="Trebuchet MS" pitchFamily="34" charset="0"/>
                <a:ea typeface="Trebuchet MS" pitchFamily="34" charset="-122"/>
                <a:cs typeface="Trebuchet MS" pitchFamily="34" charset="-120"/>
              </a:rPr>
              <a:t>Semantic</a:t>
            </a:r>
            <a:endParaRPr lang="en-US" sz="1100"/>
          </a:p>
        </p:txBody>
      </p:sp>
      <p:sp>
        <p:nvSpPr>
          <p:cNvPr id="37" name="Text 35"/>
          <p:cNvSpPr/>
          <p:nvPr/>
        </p:nvSpPr>
        <p:spPr>
          <a:xfrm>
            <a:off x="7150608" y="3017520"/>
            <a:ext cx="1828800" cy="1600200"/>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AI detects meaning shifts — most intelligent but very slow on CPU</a:t>
            </a:r>
            <a:endParaRPr lang="en-US" sz="950"/>
          </a:p>
        </p:txBody>
      </p:sp>
      <p:sp>
        <p:nvSpPr>
          <p:cNvPr id="38" name="Text 36"/>
          <p:cNvSpPr/>
          <p:nvPr/>
        </p:nvSpPr>
        <p:spPr>
          <a:xfrm>
            <a:off x="457200" y="4910328"/>
            <a:ext cx="8229600" cy="274320"/>
          </a:xfrm>
          <a:prstGeom prst="rect">
            <a:avLst/>
          </a:prstGeom>
          <a:noFill/>
          <a:ln/>
        </p:spPr>
        <p:txBody>
          <a:bodyPr wrap="square" lIns="0" tIns="0" rIns="0" bIns="0" rtlCol="0" anchor="ctr"/>
          <a:lstStyle/>
          <a:p>
            <a:pPr marL="0" indent="0" algn="ctr">
              <a:buNone/>
            </a:pPr>
            <a:r>
              <a:rPr lang="en-US" sz="900" b="1">
                <a:solidFill>
                  <a:srgbClr val="0EA5E9"/>
                </a:solidFill>
                <a:latin typeface="Trebuchet MS" pitchFamily="34" charset="0"/>
                <a:ea typeface="Trebuchet MS" pitchFamily="34" charset="-122"/>
                <a:cs typeface="Trebuchet MS" pitchFamily="34" charset="-120"/>
              </a:rPr>
              <a:t>Our config:  </a:t>
            </a:r>
            <a:r>
              <a:rPr lang="en-US" sz="900" b="1" err="1">
                <a:solidFill>
                  <a:srgbClr val="0EA5E9"/>
                </a:solidFill>
                <a:latin typeface="Trebuchet MS" pitchFamily="34" charset="0"/>
                <a:ea typeface="Trebuchet MS" pitchFamily="34" charset="-122"/>
                <a:cs typeface="Trebuchet MS" pitchFamily="34" charset="-120"/>
              </a:rPr>
              <a:t>chunk_size</a:t>
            </a:r>
            <a:r>
              <a:rPr lang="en-US" sz="900" b="1">
                <a:solidFill>
                  <a:srgbClr val="0EA5E9"/>
                </a:solidFill>
                <a:latin typeface="Trebuchet MS" pitchFamily="34" charset="0"/>
                <a:ea typeface="Trebuchet MS" pitchFamily="34" charset="-122"/>
                <a:cs typeface="Trebuchet MS" pitchFamily="34" charset="-120"/>
              </a:rPr>
              <a:t> = 150 words   ·   </a:t>
            </a:r>
            <a:r>
              <a:rPr lang="en-US" sz="900" b="1" err="1">
                <a:solidFill>
                  <a:srgbClr val="0EA5E9"/>
                </a:solidFill>
                <a:latin typeface="Trebuchet MS" pitchFamily="34" charset="0"/>
                <a:ea typeface="Trebuchet MS" pitchFamily="34" charset="-122"/>
                <a:cs typeface="Trebuchet MS" pitchFamily="34" charset="-120"/>
              </a:rPr>
              <a:t>chunk_overlap</a:t>
            </a:r>
            <a:r>
              <a:rPr lang="en-US" sz="900" b="1">
                <a:solidFill>
                  <a:srgbClr val="0EA5E9"/>
                </a:solidFill>
                <a:latin typeface="Trebuchet MS" pitchFamily="34" charset="0"/>
                <a:ea typeface="Trebuchet MS" pitchFamily="34" charset="-122"/>
                <a:cs typeface="Trebuchet MS" pitchFamily="34" charset="-120"/>
              </a:rPr>
              <a:t> = 15 words   ·</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E"/>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30352"/>
          </a:xfrm>
          <a:prstGeom prst="rect">
            <a:avLst/>
          </a:prstGeom>
          <a:noFill/>
          <a:ln/>
        </p:spPr>
        <p:txBody>
          <a:bodyPr wrap="square" lIns="0" tIns="0" rIns="0" bIns="0" rtlCol="0" anchor="ctr"/>
          <a:lstStyle/>
          <a:p>
            <a:pPr marL="0" indent="0" algn="l">
              <a:buNone/>
            </a:pPr>
            <a:r>
              <a:rPr lang="en-US" sz="2600" b="1">
                <a:solidFill>
                  <a:srgbClr val="0EA5E9"/>
                </a:solidFill>
                <a:latin typeface="Trebuchet MS" pitchFamily="34" charset="0"/>
                <a:ea typeface="Trebuchet MS" pitchFamily="34" charset="-122"/>
                <a:cs typeface="Trebuchet MS" pitchFamily="34" charset="-120"/>
              </a:rPr>
              <a:t>Step 2 — Embeddings: Teaching the Computer to Understand Meaning</a:t>
            </a:r>
            <a:endParaRPr lang="en-US" sz="2600"/>
          </a:p>
        </p:txBody>
      </p:sp>
      <p:sp>
        <p:nvSpPr>
          <p:cNvPr id="3" name="Shape 1"/>
          <p:cNvSpPr/>
          <p:nvPr/>
        </p:nvSpPr>
        <p:spPr>
          <a:xfrm>
            <a:off x="457200" y="896112"/>
            <a:ext cx="8229600" cy="27432"/>
          </a:xfrm>
          <a:prstGeom prst="rect">
            <a:avLst/>
          </a:prstGeom>
          <a:solidFill>
            <a:srgbClr val="0EA5E9">
              <a:alpha val="40000"/>
            </a:srgbClr>
          </a:solidFill>
          <a:ln w="12700">
            <a:solidFill>
              <a:srgbClr val="0EA5E9">
                <a:alpha val="40000"/>
              </a:srgbClr>
            </a:solidFill>
            <a:prstDash val="solid"/>
          </a:ln>
        </p:spPr>
        <p:txBody>
          <a:bodyPr/>
          <a:lstStyle/>
          <a:p>
            <a:endParaRPr lang="en-US"/>
          </a:p>
        </p:txBody>
      </p:sp>
      <p:sp>
        <p:nvSpPr>
          <p:cNvPr id="4" name="Shape 2"/>
          <p:cNvSpPr/>
          <p:nvPr/>
        </p:nvSpPr>
        <p:spPr>
          <a:xfrm>
            <a:off x="457200" y="1024128"/>
            <a:ext cx="4114800" cy="201168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5" name="Shape 3"/>
          <p:cNvSpPr/>
          <p:nvPr/>
        </p:nvSpPr>
        <p:spPr>
          <a:xfrm>
            <a:off x="457200" y="1024128"/>
            <a:ext cx="54864" cy="2011680"/>
          </a:xfrm>
          <a:prstGeom prst="rect">
            <a:avLst/>
          </a:prstGeom>
          <a:solidFill>
            <a:srgbClr val="0EA5E9"/>
          </a:solidFill>
          <a:ln w="12700">
            <a:solidFill>
              <a:srgbClr val="0EA5E9"/>
            </a:solidFill>
            <a:prstDash val="solid"/>
          </a:ln>
        </p:spPr>
        <p:txBody>
          <a:bodyPr/>
          <a:lstStyle/>
          <a:p>
            <a:endParaRPr lang="en-US"/>
          </a:p>
        </p:txBody>
      </p:sp>
      <p:sp>
        <p:nvSpPr>
          <p:cNvPr id="6" name="Text 4"/>
          <p:cNvSpPr/>
          <p:nvPr/>
        </p:nvSpPr>
        <p:spPr>
          <a:xfrm>
            <a:off x="658368" y="1097280"/>
            <a:ext cx="3749040" cy="329184"/>
          </a:xfrm>
          <a:prstGeom prst="rect">
            <a:avLst/>
          </a:prstGeom>
          <a:noFill/>
          <a:ln/>
        </p:spPr>
        <p:txBody>
          <a:bodyPr wrap="square" lIns="0" tIns="0" rIns="0" bIns="0" rtlCol="0" anchor="ctr"/>
          <a:lstStyle/>
          <a:p>
            <a:pPr marL="0" indent="0" algn="l">
              <a:buNone/>
            </a:pPr>
            <a:r>
              <a:rPr lang="en-US" sz="1300" b="1">
                <a:solidFill>
                  <a:srgbClr val="0EA5E9"/>
                </a:solidFill>
                <a:latin typeface="Trebuchet MS" pitchFamily="34" charset="0"/>
                <a:ea typeface="Trebuchet MS" pitchFamily="34" charset="-122"/>
                <a:cs typeface="Trebuchet MS" pitchFamily="34" charset="-120"/>
              </a:rPr>
              <a:t>What is an Embedding?</a:t>
            </a:r>
            <a:endParaRPr lang="en-US" sz="1300"/>
          </a:p>
        </p:txBody>
      </p:sp>
      <p:sp>
        <p:nvSpPr>
          <p:cNvPr id="7" name="Text 5"/>
          <p:cNvSpPr/>
          <p:nvPr/>
        </p:nvSpPr>
        <p:spPr>
          <a:xfrm>
            <a:off x="658368" y="1463040"/>
            <a:ext cx="3749040" cy="548640"/>
          </a:xfrm>
          <a:prstGeom prst="rect">
            <a:avLst/>
          </a:prstGeom>
          <a:noFill/>
          <a:ln/>
        </p:spPr>
        <p:txBody>
          <a:bodyPr wrap="square" lIns="0" tIns="0" rIns="0" bIns="0" rtlCol="0" anchor="ctr"/>
          <a:lstStyle/>
          <a:p>
            <a:pPr marL="0" indent="0" algn="l">
              <a:buNone/>
            </a:pPr>
            <a:r>
              <a:rPr lang="en-US" sz="1000">
                <a:solidFill>
                  <a:srgbClr val="64748B"/>
                </a:solidFill>
                <a:latin typeface="Trebuchet MS" pitchFamily="34" charset="0"/>
                <a:ea typeface="Trebuchet MS" pitchFamily="34" charset="-122"/>
                <a:cs typeface="Trebuchet MS" pitchFamily="34" charset="-120"/>
              </a:rPr>
              <a:t>Text converted into a list of numbers</a:t>
            </a:r>
            <a:endParaRPr lang="en-US" sz="1000"/>
          </a:p>
          <a:p>
            <a:pPr marL="0" indent="0" algn="l">
              <a:buNone/>
            </a:pPr>
            <a:r>
              <a:rPr lang="en-US" sz="1000">
                <a:solidFill>
                  <a:srgbClr val="64748B"/>
                </a:solidFill>
                <a:latin typeface="Trebuchet MS" pitchFamily="34" charset="0"/>
                <a:ea typeface="Trebuchet MS" pitchFamily="34" charset="-122"/>
                <a:cs typeface="Trebuchet MS" pitchFamily="34" charset="-120"/>
              </a:rPr>
              <a:t>that represents its MEANING — not just its words.</a:t>
            </a:r>
            <a:endParaRPr lang="en-US" sz="1000"/>
          </a:p>
        </p:txBody>
      </p:sp>
      <p:sp>
        <p:nvSpPr>
          <p:cNvPr id="8" name="Text 6"/>
          <p:cNvSpPr/>
          <p:nvPr/>
        </p:nvSpPr>
        <p:spPr>
          <a:xfrm>
            <a:off x="658368" y="2121408"/>
            <a:ext cx="2011680" cy="274320"/>
          </a:xfrm>
          <a:prstGeom prst="rect">
            <a:avLst/>
          </a:prstGeom>
          <a:noFill/>
          <a:ln/>
        </p:spPr>
        <p:txBody>
          <a:bodyPr wrap="square" lIns="0" tIns="0" rIns="0" bIns="0" rtlCol="0" anchor="ctr"/>
          <a:lstStyle/>
          <a:p>
            <a:pPr marL="0" indent="0" algn="l">
              <a:buNone/>
            </a:pPr>
            <a:r>
              <a:rPr lang="en-US" sz="850" i="1">
                <a:solidFill>
                  <a:srgbClr val="F1F5F9"/>
                </a:solidFill>
                <a:latin typeface="Trebuchet MS" pitchFamily="34" charset="0"/>
                <a:ea typeface="Trebuchet MS" pitchFamily="34" charset="-122"/>
                <a:cs typeface="Trebuchet MS" pitchFamily="34" charset="-120"/>
              </a:rPr>
              <a:t>"Yellowstone has geysers"</a:t>
            </a:r>
            <a:endParaRPr lang="en-US" sz="850"/>
          </a:p>
        </p:txBody>
      </p:sp>
      <p:sp>
        <p:nvSpPr>
          <p:cNvPr id="9" name="Text 7"/>
          <p:cNvSpPr/>
          <p:nvPr/>
        </p:nvSpPr>
        <p:spPr>
          <a:xfrm>
            <a:off x="2697480" y="2121408"/>
            <a:ext cx="228600" cy="274320"/>
          </a:xfrm>
          <a:prstGeom prst="rect">
            <a:avLst/>
          </a:prstGeom>
          <a:noFill/>
          <a:ln/>
        </p:spPr>
        <p:txBody>
          <a:bodyPr wrap="square" lIns="0" tIns="0" rIns="0" bIns="0" rtlCol="0" anchor="ctr"/>
          <a:lstStyle/>
          <a:p>
            <a:pPr marL="0" indent="0" algn="ctr">
              <a:buNone/>
            </a:pPr>
            <a:r>
              <a:rPr lang="en-US" sz="900">
                <a:solidFill>
                  <a:srgbClr val="64748B"/>
                </a:solidFill>
                <a:latin typeface="Trebuchet MS" pitchFamily="34" charset="0"/>
                <a:ea typeface="Trebuchet MS" pitchFamily="34" charset="-122"/>
                <a:cs typeface="Trebuchet MS" pitchFamily="34" charset="-120"/>
              </a:rPr>
              <a:t>→</a:t>
            </a:r>
            <a:endParaRPr lang="en-US" sz="900"/>
          </a:p>
        </p:txBody>
      </p:sp>
      <p:sp>
        <p:nvSpPr>
          <p:cNvPr id="10" name="Text 8"/>
          <p:cNvSpPr/>
          <p:nvPr/>
        </p:nvSpPr>
        <p:spPr>
          <a:xfrm>
            <a:off x="2926080" y="2121408"/>
            <a:ext cx="1325880" cy="274320"/>
          </a:xfrm>
          <a:prstGeom prst="rect">
            <a:avLst/>
          </a:prstGeom>
          <a:noFill/>
          <a:ln/>
        </p:spPr>
        <p:txBody>
          <a:bodyPr wrap="square" lIns="0" tIns="0" rIns="0" bIns="0" rtlCol="0" anchor="ctr"/>
          <a:lstStyle/>
          <a:p>
            <a:pPr marL="0" indent="0" algn="l">
              <a:buNone/>
            </a:pPr>
            <a:r>
              <a:rPr lang="en-US" sz="750">
                <a:solidFill>
                  <a:srgbClr val="0EA5E9"/>
                </a:solidFill>
                <a:latin typeface="Consolas" pitchFamily="34" charset="0"/>
                <a:ea typeface="Consolas" pitchFamily="34" charset="-122"/>
                <a:cs typeface="Consolas" pitchFamily="34" charset="-120"/>
              </a:rPr>
              <a:t>[0.23, -0.87, 0.45 ...]</a:t>
            </a:r>
            <a:endParaRPr lang="en-US" sz="750"/>
          </a:p>
        </p:txBody>
      </p:sp>
      <p:sp>
        <p:nvSpPr>
          <p:cNvPr id="11" name="Text 9"/>
          <p:cNvSpPr/>
          <p:nvPr/>
        </p:nvSpPr>
        <p:spPr>
          <a:xfrm>
            <a:off x="4261104" y="2121408"/>
            <a:ext cx="1005840" cy="274320"/>
          </a:xfrm>
          <a:prstGeom prst="rect">
            <a:avLst/>
          </a:prstGeom>
          <a:noFill/>
          <a:ln/>
        </p:spPr>
        <p:txBody>
          <a:bodyPr wrap="square" lIns="0" tIns="0" rIns="0" bIns="0" rtlCol="0" anchor="ctr"/>
          <a:lstStyle/>
          <a:p>
            <a:pPr marL="0" indent="0" algn="r">
              <a:buNone/>
            </a:pPr>
            <a:r>
              <a:rPr lang="en-US" sz="750" b="1">
                <a:solidFill>
                  <a:srgbClr val="10B981"/>
                </a:solidFill>
                <a:latin typeface="Trebuchet MS" pitchFamily="34" charset="0"/>
                <a:ea typeface="Trebuchet MS" pitchFamily="34" charset="-122"/>
                <a:cs typeface="Trebuchet MS" pitchFamily="34" charset="-120"/>
              </a:rPr>
              <a:t>≈ similar ✓</a:t>
            </a:r>
            <a:endParaRPr lang="en-US" sz="750"/>
          </a:p>
        </p:txBody>
      </p:sp>
      <p:sp>
        <p:nvSpPr>
          <p:cNvPr id="12" name="Text 10"/>
          <p:cNvSpPr/>
          <p:nvPr/>
        </p:nvSpPr>
        <p:spPr>
          <a:xfrm>
            <a:off x="658368" y="2441448"/>
            <a:ext cx="2011680" cy="274320"/>
          </a:xfrm>
          <a:prstGeom prst="rect">
            <a:avLst/>
          </a:prstGeom>
          <a:noFill/>
          <a:ln/>
        </p:spPr>
        <p:txBody>
          <a:bodyPr wrap="square" lIns="0" tIns="0" rIns="0" bIns="0" rtlCol="0" anchor="ctr"/>
          <a:lstStyle/>
          <a:p>
            <a:pPr marL="0" indent="0" algn="l">
              <a:buNone/>
            </a:pPr>
            <a:r>
              <a:rPr lang="en-US" sz="850" i="1">
                <a:solidFill>
                  <a:srgbClr val="F1F5F9"/>
                </a:solidFill>
                <a:latin typeface="Trebuchet MS" pitchFamily="34" charset="0"/>
                <a:ea typeface="Trebuchet MS" pitchFamily="34" charset="-122"/>
                <a:cs typeface="Trebuchet MS" pitchFamily="34" charset="-120"/>
              </a:rPr>
              <a:t>"Old Faithful erupts daily"</a:t>
            </a:r>
            <a:endParaRPr lang="en-US" sz="850"/>
          </a:p>
        </p:txBody>
      </p:sp>
      <p:sp>
        <p:nvSpPr>
          <p:cNvPr id="13" name="Text 11"/>
          <p:cNvSpPr/>
          <p:nvPr/>
        </p:nvSpPr>
        <p:spPr>
          <a:xfrm>
            <a:off x="2697480" y="2441448"/>
            <a:ext cx="228600" cy="274320"/>
          </a:xfrm>
          <a:prstGeom prst="rect">
            <a:avLst/>
          </a:prstGeom>
          <a:noFill/>
          <a:ln/>
        </p:spPr>
        <p:txBody>
          <a:bodyPr wrap="square" lIns="0" tIns="0" rIns="0" bIns="0" rtlCol="0" anchor="ctr"/>
          <a:lstStyle/>
          <a:p>
            <a:pPr marL="0" indent="0" algn="ctr">
              <a:buNone/>
            </a:pPr>
            <a:r>
              <a:rPr lang="en-US" sz="900">
                <a:solidFill>
                  <a:srgbClr val="64748B"/>
                </a:solidFill>
                <a:latin typeface="Trebuchet MS" pitchFamily="34" charset="0"/>
                <a:ea typeface="Trebuchet MS" pitchFamily="34" charset="-122"/>
                <a:cs typeface="Trebuchet MS" pitchFamily="34" charset="-120"/>
              </a:rPr>
              <a:t>→</a:t>
            </a:r>
            <a:endParaRPr lang="en-US" sz="900"/>
          </a:p>
        </p:txBody>
      </p:sp>
      <p:sp>
        <p:nvSpPr>
          <p:cNvPr id="14" name="Text 12"/>
          <p:cNvSpPr/>
          <p:nvPr/>
        </p:nvSpPr>
        <p:spPr>
          <a:xfrm>
            <a:off x="2926080" y="2441448"/>
            <a:ext cx="1325880" cy="274320"/>
          </a:xfrm>
          <a:prstGeom prst="rect">
            <a:avLst/>
          </a:prstGeom>
          <a:noFill/>
          <a:ln/>
        </p:spPr>
        <p:txBody>
          <a:bodyPr wrap="square" lIns="0" tIns="0" rIns="0" bIns="0" rtlCol="0" anchor="ctr"/>
          <a:lstStyle/>
          <a:p>
            <a:pPr marL="0" indent="0" algn="l">
              <a:buNone/>
            </a:pPr>
            <a:r>
              <a:rPr lang="en-US" sz="750">
                <a:solidFill>
                  <a:srgbClr val="0EA5E9"/>
                </a:solidFill>
                <a:latin typeface="Consolas" pitchFamily="34" charset="0"/>
                <a:ea typeface="Consolas" pitchFamily="34" charset="-122"/>
                <a:cs typeface="Consolas" pitchFamily="34" charset="-120"/>
              </a:rPr>
              <a:t>[0.21, -0.91, 0.43 ...]</a:t>
            </a:r>
            <a:endParaRPr lang="en-US" sz="750"/>
          </a:p>
        </p:txBody>
      </p:sp>
      <p:sp>
        <p:nvSpPr>
          <p:cNvPr id="15" name="Text 13"/>
          <p:cNvSpPr/>
          <p:nvPr/>
        </p:nvSpPr>
        <p:spPr>
          <a:xfrm>
            <a:off x="4261104" y="2441448"/>
            <a:ext cx="1005840" cy="274320"/>
          </a:xfrm>
          <a:prstGeom prst="rect">
            <a:avLst/>
          </a:prstGeom>
          <a:noFill/>
          <a:ln/>
        </p:spPr>
        <p:txBody>
          <a:bodyPr wrap="square" lIns="0" tIns="0" rIns="0" bIns="0" rtlCol="0" anchor="ctr"/>
          <a:lstStyle/>
          <a:p>
            <a:pPr marL="0" indent="0" algn="r">
              <a:buNone/>
            </a:pPr>
            <a:r>
              <a:rPr lang="en-US" sz="750" b="1">
                <a:solidFill>
                  <a:srgbClr val="10B981"/>
                </a:solidFill>
                <a:latin typeface="Trebuchet MS" pitchFamily="34" charset="0"/>
                <a:ea typeface="Trebuchet MS" pitchFamily="34" charset="-122"/>
                <a:cs typeface="Trebuchet MS" pitchFamily="34" charset="-120"/>
              </a:rPr>
              <a:t>≈ similar ✓</a:t>
            </a:r>
            <a:endParaRPr lang="en-US" sz="750"/>
          </a:p>
        </p:txBody>
      </p:sp>
      <p:sp>
        <p:nvSpPr>
          <p:cNvPr id="16" name="Text 14"/>
          <p:cNvSpPr/>
          <p:nvPr/>
        </p:nvSpPr>
        <p:spPr>
          <a:xfrm>
            <a:off x="658368" y="2761488"/>
            <a:ext cx="2011680" cy="274320"/>
          </a:xfrm>
          <a:prstGeom prst="rect">
            <a:avLst/>
          </a:prstGeom>
          <a:noFill/>
          <a:ln/>
        </p:spPr>
        <p:txBody>
          <a:bodyPr wrap="square" lIns="0" tIns="0" rIns="0" bIns="0" rtlCol="0" anchor="ctr"/>
          <a:lstStyle/>
          <a:p>
            <a:pPr marL="0" indent="0" algn="l">
              <a:buNone/>
            </a:pPr>
            <a:r>
              <a:rPr lang="en-US" sz="850" i="1">
                <a:solidFill>
                  <a:srgbClr val="F1F5F9"/>
                </a:solidFill>
                <a:latin typeface="Trebuchet MS" pitchFamily="34" charset="0"/>
                <a:ea typeface="Trebuchet MS" pitchFamily="34" charset="-122"/>
                <a:cs typeface="Trebuchet MS" pitchFamily="34" charset="-120"/>
              </a:rPr>
              <a:t>"Car needs an oil change"</a:t>
            </a:r>
            <a:endParaRPr lang="en-US" sz="850"/>
          </a:p>
        </p:txBody>
      </p:sp>
      <p:sp>
        <p:nvSpPr>
          <p:cNvPr id="17" name="Text 15"/>
          <p:cNvSpPr/>
          <p:nvPr/>
        </p:nvSpPr>
        <p:spPr>
          <a:xfrm>
            <a:off x="2697480" y="2761488"/>
            <a:ext cx="228600" cy="274320"/>
          </a:xfrm>
          <a:prstGeom prst="rect">
            <a:avLst/>
          </a:prstGeom>
          <a:noFill/>
          <a:ln/>
        </p:spPr>
        <p:txBody>
          <a:bodyPr wrap="square" lIns="0" tIns="0" rIns="0" bIns="0" rtlCol="0" anchor="ctr"/>
          <a:lstStyle/>
          <a:p>
            <a:pPr marL="0" indent="0" algn="ctr">
              <a:buNone/>
            </a:pPr>
            <a:r>
              <a:rPr lang="en-US" sz="900">
                <a:solidFill>
                  <a:srgbClr val="64748B"/>
                </a:solidFill>
                <a:latin typeface="Trebuchet MS" pitchFamily="34" charset="0"/>
                <a:ea typeface="Trebuchet MS" pitchFamily="34" charset="-122"/>
                <a:cs typeface="Trebuchet MS" pitchFamily="34" charset="-120"/>
              </a:rPr>
              <a:t>→</a:t>
            </a:r>
            <a:endParaRPr lang="en-US" sz="900"/>
          </a:p>
        </p:txBody>
      </p:sp>
      <p:sp>
        <p:nvSpPr>
          <p:cNvPr id="18" name="Text 16"/>
          <p:cNvSpPr/>
          <p:nvPr/>
        </p:nvSpPr>
        <p:spPr>
          <a:xfrm>
            <a:off x="2926080" y="2761488"/>
            <a:ext cx="1325880" cy="274320"/>
          </a:xfrm>
          <a:prstGeom prst="rect">
            <a:avLst/>
          </a:prstGeom>
          <a:noFill/>
          <a:ln/>
        </p:spPr>
        <p:txBody>
          <a:bodyPr wrap="square" lIns="0" tIns="0" rIns="0" bIns="0" rtlCol="0" anchor="ctr"/>
          <a:lstStyle/>
          <a:p>
            <a:pPr marL="0" indent="0" algn="l">
              <a:buNone/>
            </a:pPr>
            <a:r>
              <a:rPr lang="en-US" sz="750">
                <a:solidFill>
                  <a:srgbClr val="EF4444"/>
                </a:solidFill>
                <a:latin typeface="Consolas" pitchFamily="34" charset="0"/>
                <a:ea typeface="Consolas" pitchFamily="34" charset="-122"/>
                <a:cs typeface="Consolas" pitchFamily="34" charset="-120"/>
              </a:rPr>
              <a:t>[0.89,  0.34, -0.67 ...]</a:t>
            </a:r>
            <a:endParaRPr lang="en-US" sz="750"/>
          </a:p>
        </p:txBody>
      </p:sp>
      <p:sp>
        <p:nvSpPr>
          <p:cNvPr id="19" name="Text 17"/>
          <p:cNvSpPr/>
          <p:nvPr/>
        </p:nvSpPr>
        <p:spPr>
          <a:xfrm>
            <a:off x="4261104" y="2761488"/>
            <a:ext cx="1005840" cy="274320"/>
          </a:xfrm>
          <a:prstGeom prst="rect">
            <a:avLst/>
          </a:prstGeom>
          <a:noFill/>
          <a:ln/>
        </p:spPr>
        <p:txBody>
          <a:bodyPr wrap="square" lIns="0" tIns="0" rIns="0" bIns="0" rtlCol="0" anchor="ctr"/>
          <a:lstStyle/>
          <a:p>
            <a:pPr marL="0" indent="0" algn="r">
              <a:buNone/>
            </a:pPr>
            <a:r>
              <a:rPr lang="en-US" sz="750" b="1">
                <a:solidFill>
                  <a:srgbClr val="EF4444"/>
                </a:solidFill>
                <a:latin typeface="Trebuchet MS" pitchFamily="34" charset="0"/>
                <a:ea typeface="Trebuchet MS" pitchFamily="34" charset="-122"/>
                <a:cs typeface="Trebuchet MS" pitchFamily="34" charset="-120"/>
              </a:rPr>
              <a:t>≠ different</a:t>
            </a:r>
            <a:endParaRPr lang="en-US" sz="750"/>
          </a:p>
        </p:txBody>
      </p:sp>
      <p:sp>
        <p:nvSpPr>
          <p:cNvPr id="20" name="Shape 18"/>
          <p:cNvSpPr/>
          <p:nvPr/>
        </p:nvSpPr>
        <p:spPr>
          <a:xfrm>
            <a:off x="4800600" y="1024128"/>
            <a:ext cx="3886200" cy="201168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21" name="Shape 19"/>
          <p:cNvSpPr/>
          <p:nvPr/>
        </p:nvSpPr>
        <p:spPr>
          <a:xfrm>
            <a:off x="4800600" y="1024128"/>
            <a:ext cx="54864" cy="2011680"/>
          </a:xfrm>
          <a:prstGeom prst="rect">
            <a:avLst/>
          </a:prstGeom>
          <a:solidFill>
            <a:srgbClr val="0EA5E9"/>
          </a:solidFill>
          <a:ln w="12700">
            <a:solidFill>
              <a:srgbClr val="0EA5E9"/>
            </a:solidFill>
            <a:prstDash val="solid"/>
          </a:ln>
        </p:spPr>
        <p:txBody>
          <a:bodyPr/>
          <a:lstStyle/>
          <a:p>
            <a:endParaRPr lang="en-US"/>
          </a:p>
        </p:txBody>
      </p:sp>
      <p:sp>
        <p:nvSpPr>
          <p:cNvPr id="22" name="Text 20"/>
          <p:cNvSpPr/>
          <p:nvPr/>
        </p:nvSpPr>
        <p:spPr>
          <a:xfrm>
            <a:off x="5001768" y="1097280"/>
            <a:ext cx="3520440" cy="329184"/>
          </a:xfrm>
          <a:prstGeom prst="rect">
            <a:avLst/>
          </a:prstGeom>
          <a:noFill/>
          <a:ln/>
        </p:spPr>
        <p:txBody>
          <a:bodyPr wrap="square" lIns="0" tIns="0" rIns="0" bIns="0" rtlCol="0" anchor="ctr"/>
          <a:lstStyle/>
          <a:p>
            <a:pPr marL="0" indent="0" algn="l">
              <a:buNone/>
            </a:pPr>
            <a:r>
              <a:rPr lang="en-US" sz="1300" b="1">
                <a:solidFill>
                  <a:srgbClr val="0EA5E9"/>
                </a:solidFill>
                <a:latin typeface="Trebuchet MS" pitchFamily="34" charset="0"/>
                <a:ea typeface="Trebuchet MS" pitchFamily="34" charset="-122"/>
                <a:cs typeface="Trebuchet MS" pitchFamily="34" charset="-120"/>
              </a:rPr>
              <a:t>Keyword vs Semantic Search</a:t>
            </a:r>
            <a:endParaRPr lang="en-US" sz="1300"/>
          </a:p>
        </p:txBody>
      </p:sp>
      <p:sp>
        <p:nvSpPr>
          <p:cNvPr id="23" name="Shape 21"/>
          <p:cNvSpPr/>
          <p:nvPr/>
        </p:nvSpPr>
        <p:spPr>
          <a:xfrm>
            <a:off x="5001768" y="1517904"/>
            <a:ext cx="658368" cy="228600"/>
          </a:xfrm>
          <a:prstGeom prst="rect">
            <a:avLst/>
          </a:prstGeom>
          <a:solidFill>
            <a:srgbClr val="EF4444">
              <a:alpha val="22000"/>
            </a:srgbClr>
          </a:solidFill>
          <a:ln w="12700">
            <a:solidFill>
              <a:srgbClr val="EF4444">
                <a:alpha val="45000"/>
              </a:srgbClr>
            </a:solidFill>
            <a:prstDash val="solid"/>
          </a:ln>
        </p:spPr>
        <p:txBody>
          <a:bodyPr/>
          <a:lstStyle/>
          <a:p>
            <a:endParaRPr lang="en-US"/>
          </a:p>
        </p:txBody>
      </p:sp>
      <p:sp>
        <p:nvSpPr>
          <p:cNvPr id="24" name="Text 22"/>
          <p:cNvSpPr/>
          <p:nvPr/>
        </p:nvSpPr>
        <p:spPr>
          <a:xfrm>
            <a:off x="5001768" y="1517904"/>
            <a:ext cx="658368" cy="228600"/>
          </a:xfrm>
          <a:prstGeom prst="rect">
            <a:avLst/>
          </a:prstGeom>
          <a:noFill/>
          <a:ln/>
        </p:spPr>
        <p:txBody>
          <a:bodyPr wrap="square" lIns="0" tIns="0" rIns="0" bIns="0" rtlCol="0" anchor="ctr"/>
          <a:lstStyle/>
          <a:p>
            <a:pPr marL="0" indent="0" algn="ctr">
              <a:buNone/>
            </a:pPr>
            <a:r>
              <a:rPr lang="en-US" sz="750" b="1">
                <a:solidFill>
                  <a:srgbClr val="EF4444"/>
                </a:solidFill>
                <a:latin typeface="Trebuchet MS" pitchFamily="34" charset="0"/>
                <a:ea typeface="Trebuchet MS" pitchFamily="34" charset="-122"/>
                <a:cs typeface="Trebuchet MS" pitchFamily="34" charset="-120"/>
              </a:rPr>
              <a:t>Keyword</a:t>
            </a:r>
            <a:endParaRPr lang="en-US" sz="750"/>
          </a:p>
        </p:txBody>
      </p:sp>
      <p:sp>
        <p:nvSpPr>
          <p:cNvPr id="25" name="Text 23"/>
          <p:cNvSpPr/>
          <p:nvPr/>
        </p:nvSpPr>
        <p:spPr>
          <a:xfrm>
            <a:off x="5001768" y="1773936"/>
            <a:ext cx="3520440" cy="347472"/>
          </a:xfrm>
          <a:prstGeom prst="rect">
            <a:avLst/>
          </a:prstGeom>
          <a:noFill/>
          <a:ln/>
        </p:spPr>
        <p:txBody>
          <a:bodyPr wrap="square" lIns="0" tIns="0" rIns="0" bIns="0" rtlCol="0" anchor="ctr"/>
          <a:lstStyle/>
          <a:p>
            <a:pPr marL="0" indent="0" algn="l">
              <a:buNone/>
            </a:pPr>
            <a:r>
              <a:rPr lang="en-US" sz="900">
                <a:solidFill>
                  <a:srgbClr val="64748B"/>
                </a:solidFill>
                <a:latin typeface="Trebuchet MS" pitchFamily="34" charset="0"/>
                <a:ea typeface="Trebuchet MS" pitchFamily="34" charset="-122"/>
                <a:cs typeface="Trebuchet MS" pitchFamily="34" charset="-120"/>
              </a:rPr>
              <a:t>"geyser" → only finds docs with that exact word</a:t>
            </a:r>
            <a:endParaRPr lang="en-US" sz="900"/>
          </a:p>
        </p:txBody>
      </p:sp>
      <p:sp>
        <p:nvSpPr>
          <p:cNvPr id="26" name="Shape 24"/>
          <p:cNvSpPr/>
          <p:nvPr/>
        </p:nvSpPr>
        <p:spPr>
          <a:xfrm>
            <a:off x="5001768" y="2176272"/>
            <a:ext cx="658368" cy="228600"/>
          </a:xfrm>
          <a:prstGeom prst="rect">
            <a:avLst/>
          </a:prstGeom>
          <a:solidFill>
            <a:srgbClr val="10B981">
              <a:alpha val="22000"/>
            </a:srgbClr>
          </a:solidFill>
          <a:ln w="12700">
            <a:solidFill>
              <a:srgbClr val="10B981">
                <a:alpha val="45000"/>
              </a:srgbClr>
            </a:solidFill>
            <a:prstDash val="solid"/>
          </a:ln>
        </p:spPr>
        <p:txBody>
          <a:bodyPr/>
          <a:lstStyle/>
          <a:p>
            <a:endParaRPr lang="en-US"/>
          </a:p>
        </p:txBody>
      </p:sp>
      <p:sp>
        <p:nvSpPr>
          <p:cNvPr id="27" name="Text 25"/>
          <p:cNvSpPr/>
          <p:nvPr/>
        </p:nvSpPr>
        <p:spPr>
          <a:xfrm>
            <a:off x="5001768" y="2176272"/>
            <a:ext cx="658368" cy="228600"/>
          </a:xfrm>
          <a:prstGeom prst="rect">
            <a:avLst/>
          </a:prstGeom>
          <a:noFill/>
          <a:ln/>
        </p:spPr>
        <p:txBody>
          <a:bodyPr wrap="square" lIns="0" tIns="0" rIns="0" bIns="0" rtlCol="0" anchor="ctr"/>
          <a:lstStyle/>
          <a:p>
            <a:pPr marL="0" indent="0" algn="ctr">
              <a:buNone/>
            </a:pPr>
            <a:r>
              <a:rPr lang="en-US" sz="750" b="1">
                <a:solidFill>
                  <a:srgbClr val="10B981"/>
                </a:solidFill>
                <a:latin typeface="Trebuchet MS" pitchFamily="34" charset="0"/>
                <a:ea typeface="Trebuchet MS" pitchFamily="34" charset="-122"/>
                <a:cs typeface="Trebuchet MS" pitchFamily="34" charset="-120"/>
              </a:rPr>
              <a:t>Semantic</a:t>
            </a:r>
            <a:endParaRPr lang="en-US" sz="750"/>
          </a:p>
        </p:txBody>
      </p:sp>
      <p:sp>
        <p:nvSpPr>
          <p:cNvPr id="28" name="Text 26"/>
          <p:cNvSpPr/>
          <p:nvPr/>
        </p:nvSpPr>
        <p:spPr>
          <a:xfrm>
            <a:off x="5001768" y="2432304"/>
            <a:ext cx="3520440" cy="347472"/>
          </a:xfrm>
          <a:prstGeom prst="rect">
            <a:avLst/>
          </a:prstGeom>
          <a:noFill/>
          <a:ln/>
        </p:spPr>
        <p:txBody>
          <a:bodyPr wrap="square" lIns="0" tIns="0" rIns="0" bIns="0" rtlCol="0" anchor="ctr"/>
          <a:lstStyle/>
          <a:p>
            <a:pPr marL="0" indent="0" algn="l">
              <a:buNone/>
            </a:pPr>
            <a:r>
              <a:rPr lang="en-US" sz="900">
                <a:solidFill>
                  <a:srgbClr val="64748B"/>
                </a:solidFill>
                <a:latin typeface="Trebuchet MS" pitchFamily="34" charset="0"/>
                <a:ea typeface="Trebuchet MS" pitchFamily="34" charset="-122"/>
                <a:cs typeface="Trebuchet MS" pitchFamily="34" charset="-120"/>
              </a:rPr>
              <a:t>"geyser" → also finds "hydrothermal", "hot spring", "Old Faithful"</a:t>
            </a:r>
            <a:endParaRPr lang="en-US" sz="900"/>
          </a:p>
        </p:txBody>
      </p:sp>
      <p:sp>
        <p:nvSpPr>
          <p:cNvPr id="29" name="Shape 27"/>
          <p:cNvSpPr/>
          <p:nvPr/>
        </p:nvSpPr>
        <p:spPr>
          <a:xfrm>
            <a:off x="457200" y="3163824"/>
            <a:ext cx="8229600" cy="91440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30" name="Shape 28"/>
          <p:cNvSpPr/>
          <p:nvPr/>
        </p:nvSpPr>
        <p:spPr>
          <a:xfrm>
            <a:off x="457200" y="3163824"/>
            <a:ext cx="8229600" cy="45720"/>
          </a:xfrm>
          <a:prstGeom prst="rect">
            <a:avLst/>
          </a:prstGeom>
          <a:solidFill>
            <a:srgbClr val="F59E0B"/>
          </a:solidFill>
          <a:ln w="12700">
            <a:solidFill>
              <a:srgbClr val="F59E0B"/>
            </a:solidFill>
            <a:prstDash val="solid"/>
          </a:ln>
        </p:spPr>
        <p:txBody>
          <a:bodyPr/>
          <a:lstStyle/>
          <a:p>
            <a:endParaRPr lang="en-US"/>
          </a:p>
        </p:txBody>
      </p:sp>
      <p:sp>
        <p:nvSpPr>
          <p:cNvPr id="31" name="Text 29"/>
          <p:cNvSpPr/>
          <p:nvPr/>
        </p:nvSpPr>
        <p:spPr>
          <a:xfrm>
            <a:off x="658368" y="3236976"/>
            <a:ext cx="1828800" cy="292608"/>
          </a:xfrm>
          <a:prstGeom prst="rect">
            <a:avLst/>
          </a:prstGeom>
          <a:noFill/>
          <a:ln/>
        </p:spPr>
        <p:txBody>
          <a:bodyPr wrap="square" lIns="0" tIns="0" rIns="0" bIns="0" rtlCol="0" anchor="ctr"/>
          <a:lstStyle/>
          <a:p>
            <a:pPr marL="0" indent="0" algn="l">
              <a:buNone/>
            </a:pPr>
            <a:r>
              <a:rPr lang="en-US" sz="1100" b="1">
                <a:solidFill>
                  <a:srgbClr val="F59E0B"/>
                </a:solidFill>
                <a:latin typeface="Trebuchet MS" pitchFamily="34" charset="0"/>
                <a:ea typeface="Trebuchet MS" pitchFamily="34" charset="-122"/>
                <a:cs typeface="Trebuchet MS" pitchFamily="34" charset="-120"/>
              </a:rPr>
              <a:t>⚠  Critical Rule</a:t>
            </a:r>
            <a:endParaRPr lang="en-US" sz="1100"/>
          </a:p>
        </p:txBody>
      </p:sp>
      <p:sp>
        <p:nvSpPr>
          <p:cNvPr id="32" name="Text 30"/>
          <p:cNvSpPr/>
          <p:nvPr/>
        </p:nvSpPr>
        <p:spPr>
          <a:xfrm>
            <a:off x="2560320" y="3236976"/>
            <a:ext cx="5943600" cy="749808"/>
          </a:xfrm>
          <a:prstGeom prst="rect">
            <a:avLst/>
          </a:prstGeom>
          <a:noFill/>
          <a:ln/>
        </p:spPr>
        <p:txBody>
          <a:bodyPr wrap="square" lIns="0" tIns="0" rIns="0" bIns="0" rtlCol="0" anchor="ctr"/>
          <a:lstStyle/>
          <a:p>
            <a:pPr marL="0" indent="0" algn="l">
              <a:buNone/>
            </a:pPr>
            <a:r>
              <a:rPr lang="en-US" sz="1000">
                <a:solidFill>
                  <a:srgbClr val="64748B"/>
                </a:solidFill>
                <a:latin typeface="Trebuchet MS" pitchFamily="34" charset="0"/>
                <a:ea typeface="Trebuchet MS" pitchFamily="34" charset="-122"/>
                <a:cs typeface="Trebuchet MS" pitchFamily="34" charset="-120"/>
              </a:rPr>
              <a:t>The SAME embedding model must be used to index documents AND embed user questions.</a:t>
            </a:r>
            <a:endParaRPr lang="en-US" sz="1000"/>
          </a:p>
          <a:p>
            <a:pPr marL="0" indent="0" algn="l">
              <a:buNone/>
            </a:pPr>
            <a:r>
              <a:rPr lang="en-US" sz="1000">
                <a:solidFill>
                  <a:srgbClr val="64748B"/>
                </a:solidFill>
                <a:latin typeface="Trebuchet MS" pitchFamily="34" charset="0"/>
                <a:ea typeface="Trebuchet MS" pitchFamily="34" charset="-122"/>
                <a:cs typeface="Trebuchet MS" pitchFamily="34" charset="-120"/>
              </a:rPr>
              <a:t>Using different models creates incompatible vector spaces — retrieval breaks completely.</a:t>
            </a:r>
            <a:endParaRPr lang="en-US" sz="1000"/>
          </a:p>
        </p:txBody>
      </p:sp>
      <p:sp>
        <p:nvSpPr>
          <p:cNvPr id="33" name="Shape 31"/>
          <p:cNvSpPr/>
          <p:nvPr/>
        </p:nvSpPr>
        <p:spPr>
          <a:xfrm>
            <a:off x="457200" y="4206240"/>
            <a:ext cx="8229600" cy="749808"/>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34" name="Shape 32"/>
          <p:cNvSpPr/>
          <p:nvPr/>
        </p:nvSpPr>
        <p:spPr>
          <a:xfrm>
            <a:off x="457200" y="4206240"/>
            <a:ext cx="54864" cy="749808"/>
          </a:xfrm>
          <a:prstGeom prst="rect">
            <a:avLst/>
          </a:prstGeom>
          <a:solidFill>
            <a:srgbClr val="0EA5E9"/>
          </a:solidFill>
          <a:ln w="12700">
            <a:solidFill>
              <a:srgbClr val="0EA5E9"/>
            </a:solidFill>
            <a:prstDash val="solid"/>
          </a:ln>
        </p:spPr>
        <p:txBody>
          <a:bodyPr/>
          <a:lstStyle/>
          <a:p>
            <a:endParaRPr lang="en-US"/>
          </a:p>
        </p:txBody>
      </p:sp>
      <p:sp>
        <p:nvSpPr>
          <p:cNvPr id="35" name="Text 33"/>
          <p:cNvSpPr/>
          <p:nvPr/>
        </p:nvSpPr>
        <p:spPr>
          <a:xfrm>
            <a:off x="658368" y="4261104"/>
            <a:ext cx="914400" cy="219456"/>
          </a:xfrm>
          <a:prstGeom prst="rect">
            <a:avLst/>
          </a:prstGeom>
          <a:noFill/>
          <a:ln/>
        </p:spPr>
        <p:txBody>
          <a:bodyPr wrap="square" lIns="0" tIns="0" rIns="0" bIns="0" rtlCol="0" anchor="ctr"/>
          <a:lstStyle/>
          <a:p>
            <a:pPr marL="0" indent="0" algn="l">
              <a:buNone/>
            </a:pPr>
            <a:r>
              <a:rPr lang="en-US" sz="800" b="1">
                <a:solidFill>
                  <a:srgbClr val="64748B"/>
                </a:solidFill>
                <a:latin typeface="Trebuchet MS" pitchFamily="34" charset="0"/>
                <a:ea typeface="Trebuchet MS" pitchFamily="34" charset="-122"/>
                <a:cs typeface="Trebuchet MS" pitchFamily="34" charset="-120"/>
              </a:rPr>
              <a:t>Our Model</a:t>
            </a:r>
            <a:endParaRPr lang="en-US" sz="800"/>
          </a:p>
        </p:txBody>
      </p:sp>
      <p:sp>
        <p:nvSpPr>
          <p:cNvPr id="36" name="Text 34"/>
          <p:cNvSpPr/>
          <p:nvPr/>
        </p:nvSpPr>
        <p:spPr>
          <a:xfrm>
            <a:off x="658368" y="4480560"/>
            <a:ext cx="1417320" cy="237744"/>
          </a:xfrm>
          <a:prstGeom prst="rect">
            <a:avLst/>
          </a:prstGeom>
          <a:noFill/>
          <a:ln/>
        </p:spPr>
        <p:txBody>
          <a:bodyPr wrap="square" lIns="0" tIns="0" rIns="0" bIns="0" rtlCol="0" anchor="ctr"/>
          <a:lstStyle/>
          <a:p>
            <a:pPr marL="0" indent="0" algn="l">
              <a:buNone/>
            </a:pPr>
            <a:r>
              <a:rPr lang="en-US" sz="950" b="1">
                <a:solidFill>
                  <a:srgbClr val="0EA5E9"/>
                </a:solidFill>
                <a:latin typeface="Trebuchet MS" pitchFamily="34" charset="0"/>
                <a:ea typeface="Trebuchet MS" pitchFamily="34" charset="-122"/>
                <a:cs typeface="Trebuchet MS" pitchFamily="34" charset="-120"/>
              </a:rPr>
              <a:t>nomic-embed-text  (via Ollama)</a:t>
            </a:r>
            <a:endParaRPr lang="en-US" sz="950"/>
          </a:p>
        </p:txBody>
      </p:sp>
      <p:sp>
        <p:nvSpPr>
          <p:cNvPr id="37" name="Text 35"/>
          <p:cNvSpPr/>
          <p:nvPr/>
        </p:nvSpPr>
        <p:spPr>
          <a:xfrm>
            <a:off x="2231136" y="4261104"/>
            <a:ext cx="914400" cy="219456"/>
          </a:xfrm>
          <a:prstGeom prst="rect">
            <a:avLst/>
          </a:prstGeom>
          <a:noFill/>
          <a:ln/>
        </p:spPr>
        <p:txBody>
          <a:bodyPr wrap="square" lIns="0" tIns="0" rIns="0" bIns="0" rtlCol="0" anchor="ctr"/>
          <a:lstStyle/>
          <a:p>
            <a:pPr marL="0" indent="0" algn="l">
              <a:buNone/>
            </a:pPr>
            <a:r>
              <a:rPr lang="en-US" sz="800" b="1">
                <a:solidFill>
                  <a:srgbClr val="64748B"/>
                </a:solidFill>
                <a:latin typeface="Trebuchet MS" pitchFamily="34" charset="0"/>
                <a:ea typeface="Trebuchet MS" pitchFamily="34" charset="-122"/>
                <a:cs typeface="Trebuchet MS" pitchFamily="34" charset="-120"/>
              </a:rPr>
              <a:t>Size</a:t>
            </a:r>
            <a:endParaRPr lang="en-US" sz="800"/>
          </a:p>
        </p:txBody>
      </p:sp>
      <p:sp>
        <p:nvSpPr>
          <p:cNvPr id="38" name="Text 36"/>
          <p:cNvSpPr/>
          <p:nvPr/>
        </p:nvSpPr>
        <p:spPr>
          <a:xfrm>
            <a:off x="2231136" y="4480560"/>
            <a:ext cx="1417320" cy="237744"/>
          </a:xfrm>
          <a:prstGeom prst="rect">
            <a:avLst/>
          </a:prstGeom>
          <a:noFill/>
          <a:ln/>
        </p:spPr>
        <p:txBody>
          <a:bodyPr wrap="square" lIns="0" tIns="0" rIns="0" bIns="0" rtlCol="0" anchor="ctr"/>
          <a:lstStyle/>
          <a:p>
            <a:pPr marL="0" indent="0" algn="l">
              <a:buNone/>
            </a:pPr>
            <a:r>
              <a:rPr lang="en-US" sz="950" b="1">
                <a:solidFill>
                  <a:srgbClr val="F1F5F9"/>
                </a:solidFill>
                <a:latin typeface="Trebuchet MS" pitchFamily="34" charset="0"/>
                <a:ea typeface="Trebuchet MS" pitchFamily="34" charset="-122"/>
                <a:cs typeface="Trebuchet MS" pitchFamily="34" charset="-120"/>
              </a:rPr>
              <a:t>274 MB</a:t>
            </a:r>
            <a:endParaRPr lang="en-US" sz="950"/>
          </a:p>
        </p:txBody>
      </p:sp>
      <p:sp>
        <p:nvSpPr>
          <p:cNvPr id="39" name="Text 37"/>
          <p:cNvSpPr/>
          <p:nvPr/>
        </p:nvSpPr>
        <p:spPr>
          <a:xfrm>
            <a:off x="3803904" y="4261104"/>
            <a:ext cx="914400" cy="219456"/>
          </a:xfrm>
          <a:prstGeom prst="rect">
            <a:avLst/>
          </a:prstGeom>
          <a:noFill/>
          <a:ln/>
        </p:spPr>
        <p:txBody>
          <a:bodyPr wrap="square" lIns="0" tIns="0" rIns="0" bIns="0" rtlCol="0" anchor="ctr"/>
          <a:lstStyle/>
          <a:p>
            <a:pPr marL="0" indent="0" algn="l">
              <a:buNone/>
            </a:pPr>
            <a:r>
              <a:rPr lang="en-US" sz="800" b="1">
                <a:solidFill>
                  <a:srgbClr val="64748B"/>
                </a:solidFill>
                <a:latin typeface="Trebuchet MS" pitchFamily="34" charset="0"/>
                <a:ea typeface="Trebuchet MS" pitchFamily="34" charset="-122"/>
                <a:cs typeface="Trebuchet MS" pitchFamily="34" charset="-120"/>
              </a:rPr>
              <a:t>Output</a:t>
            </a:r>
            <a:endParaRPr lang="en-US" sz="800"/>
          </a:p>
        </p:txBody>
      </p:sp>
      <p:sp>
        <p:nvSpPr>
          <p:cNvPr id="40" name="Text 38"/>
          <p:cNvSpPr/>
          <p:nvPr/>
        </p:nvSpPr>
        <p:spPr>
          <a:xfrm>
            <a:off x="3648456" y="4480560"/>
            <a:ext cx="1572768" cy="237744"/>
          </a:xfrm>
          <a:prstGeom prst="rect">
            <a:avLst/>
          </a:prstGeom>
          <a:noFill/>
          <a:ln/>
        </p:spPr>
        <p:txBody>
          <a:bodyPr wrap="square" lIns="0" tIns="0" rIns="0" bIns="0" rtlCol="0" anchor="ctr"/>
          <a:lstStyle/>
          <a:p>
            <a:pPr marL="0" indent="0" algn="l">
              <a:buNone/>
            </a:pPr>
            <a:r>
              <a:rPr lang="en-US" sz="950" b="1" dirty="0">
                <a:solidFill>
                  <a:srgbClr val="F1F5F9"/>
                </a:solidFill>
                <a:latin typeface="Trebuchet MS" pitchFamily="34" charset="0"/>
                <a:ea typeface="Trebuchet MS" pitchFamily="34" charset="-122"/>
                <a:cs typeface="Trebuchet MS" pitchFamily="34" charset="-120"/>
              </a:rPr>
              <a:t>~768 numbers per chunk</a:t>
            </a:r>
            <a:endParaRPr lang="en-US" sz="950" dirty="0"/>
          </a:p>
        </p:txBody>
      </p:sp>
      <p:sp>
        <p:nvSpPr>
          <p:cNvPr id="41" name="Text 39"/>
          <p:cNvSpPr/>
          <p:nvPr/>
        </p:nvSpPr>
        <p:spPr>
          <a:xfrm>
            <a:off x="5376672" y="4261104"/>
            <a:ext cx="914400" cy="219456"/>
          </a:xfrm>
          <a:prstGeom prst="rect">
            <a:avLst/>
          </a:prstGeom>
          <a:noFill/>
          <a:ln/>
        </p:spPr>
        <p:txBody>
          <a:bodyPr wrap="square" lIns="0" tIns="0" rIns="0" bIns="0" rtlCol="0" anchor="ctr"/>
          <a:lstStyle/>
          <a:p>
            <a:pPr marL="0" indent="0" algn="l">
              <a:buNone/>
            </a:pPr>
            <a:r>
              <a:rPr lang="en-US" sz="800" b="1">
                <a:solidFill>
                  <a:srgbClr val="64748B"/>
                </a:solidFill>
                <a:latin typeface="Trebuchet MS" pitchFamily="34" charset="0"/>
                <a:ea typeface="Trebuchet MS" pitchFamily="34" charset="-122"/>
                <a:cs typeface="Trebuchet MS" pitchFamily="34" charset="-120"/>
              </a:rPr>
              <a:t>Runs</a:t>
            </a:r>
            <a:endParaRPr lang="en-US" sz="800"/>
          </a:p>
        </p:txBody>
      </p:sp>
      <p:sp>
        <p:nvSpPr>
          <p:cNvPr id="42" name="Text 40"/>
          <p:cNvSpPr/>
          <p:nvPr/>
        </p:nvSpPr>
        <p:spPr>
          <a:xfrm>
            <a:off x="5376672" y="4480560"/>
            <a:ext cx="1417320" cy="237744"/>
          </a:xfrm>
          <a:prstGeom prst="rect">
            <a:avLst/>
          </a:prstGeom>
          <a:noFill/>
          <a:ln/>
        </p:spPr>
        <p:txBody>
          <a:bodyPr wrap="square" lIns="0" tIns="0" rIns="0" bIns="0" rtlCol="0" anchor="ctr"/>
          <a:lstStyle/>
          <a:p>
            <a:pPr marL="0" indent="0" algn="l">
              <a:buNone/>
            </a:pPr>
            <a:r>
              <a:rPr lang="en-US" sz="950" b="1">
                <a:solidFill>
                  <a:srgbClr val="10B981"/>
                </a:solidFill>
                <a:latin typeface="Trebuchet MS" pitchFamily="34" charset="0"/>
                <a:ea typeface="Trebuchet MS" pitchFamily="34" charset="-122"/>
                <a:cs typeface="Trebuchet MS" pitchFamily="34" charset="-120"/>
              </a:rPr>
              <a:t>100% locally — no internet</a:t>
            </a:r>
            <a:endParaRPr lang="en-US" sz="950"/>
          </a:p>
        </p:txBody>
      </p:sp>
      <p:sp>
        <p:nvSpPr>
          <p:cNvPr id="43" name="Text 41"/>
          <p:cNvSpPr/>
          <p:nvPr/>
        </p:nvSpPr>
        <p:spPr>
          <a:xfrm>
            <a:off x="6949440" y="4261104"/>
            <a:ext cx="914400" cy="219456"/>
          </a:xfrm>
          <a:prstGeom prst="rect">
            <a:avLst/>
          </a:prstGeom>
          <a:noFill/>
          <a:ln/>
        </p:spPr>
        <p:txBody>
          <a:bodyPr wrap="square" lIns="0" tIns="0" rIns="0" bIns="0" rtlCol="0" anchor="ctr"/>
          <a:lstStyle/>
          <a:p>
            <a:pPr marL="0" indent="0" algn="l">
              <a:buNone/>
            </a:pPr>
            <a:r>
              <a:rPr lang="en-US" sz="800" b="1">
                <a:solidFill>
                  <a:srgbClr val="64748B"/>
                </a:solidFill>
                <a:latin typeface="Trebuchet MS" pitchFamily="34" charset="0"/>
                <a:ea typeface="Trebuchet MS" pitchFamily="34" charset="-122"/>
                <a:cs typeface="Trebuchet MS" pitchFamily="34" charset="-120"/>
              </a:rPr>
              <a:t>Speed</a:t>
            </a:r>
            <a:endParaRPr lang="en-US" sz="800"/>
          </a:p>
        </p:txBody>
      </p:sp>
      <p:sp>
        <p:nvSpPr>
          <p:cNvPr id="44" name="Text 42"/>
          <p:cNvSpPr/>
          <p:nvPr/>
        </p:nvSpPr>
        <p:spPr>
          <a:xfrm>
            <a:off x="6949440" y="4480560"/>
            <a:ext cx="1417320" cy="237744"/>
          </a:xfrm>
          <a:prstGeom prst="rect">
            <a:avLst/>
          </a:prstGeom>
          <a:noFill/>
          <a:ln/>
        </p:spPr>
        <p:txBody>
          <a:bodyPr wrap="square" lIns="0" tIns="0" rIns="0" bIns="0" rtlCol="0" anchor="ctr"/>
          <a:lstStyle/>
          <a:p>
            <a:pPr marL="0" indent="0" algn="l">
              <a:buNone/>
            </a:pPr>
            <a:r>
              <a:rPr lang="en-US" sz="950" b="1">
                <a:solidFill>
                  <a:srgbClr val="F1F5F9"/>
                </a:solidFill>
                <a:latin typeface="Trebuchet MS" pitchFamily="34" charset="0"/>
                <a:ea typeface="Trebuchet MS" pitchFamily="34" charset="-122"/>
                <a:cs typeface="Trebuchet MS" pitchFamily="34" charset="-120"/>
              </a:rPr>
              <a:t>~0.5 sec per chunk</a:t>
            </a:r>
            <a:endParaRPr lang="en-US" sz="9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E"/>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30352"/>
          </a:xfrm>
          <a:prstGeom prst="rect">
            <a:avLst/>
          </a:prstGeom>
          <a:noFill/>
          <a:ln/>
        </p:spPr>
        <p:txBody>
          <a:bodyPr wrap="square" lIns="0" tIns="0" rIns="0" bIns="0" rtlCol="0" anchor="ctr"/>
          <a:lstStyle/>
          <a:p>
            <a:pPr marL="0" indent="0" algn="l">
              <a:buNone/>
            </a:pPr>
            <a:r>
              <a:rPr lang="en-US" sz="2800" b="1">
                <a:solidFill>
                  <a:srgbClr val="0EA5E9"/>
                </a:solidFill>
                <a:latin typeface="Trebuchet MS" pitchFamily="34" charset="0"/>
                <a:ea typeface="Trebuchet MS" pitchFamily="34" charset="-122"/>
                <a:cs typeface="Trebuchet MS" pitchFamily="34" charset="-120"/>
              </a:rPr>
              <a:t>Step 3 — ChromaDB: Storing and Searching Vectors</a:t>
            </a:r>
            <a:endParaRPr lang="en-US" sz="2800"/>
          </a:p>
        </p:txBody>
      </p:sp>
      <p:sp>
        <p:nvSpPr>
          <p:cNvPr id="3" name="Shape 1"/>
          <p:cNvSpPr/>
          <p:nvPr/>
        </p:nvSpPr>
        <p:spPr>
          <a:xfrm>
            <a:off x="457200" y="896112"/>
            <a:ext cx="8229600" cy="27432"/>
          </a:xfrm>
          <a:prstGeom prst="rect">
            <a:avLst/>
          </a:prstGeom>
          <a:solidFill>
            <a:srgbClr val="0EA5E9">
              <a:alpha val="40000"/>
            </a:srgbClr>
          </a:solidFill>
          <a:ln w="12700">
            <a:solidFill>
              <a:srgbClr val="0EA5E9">
                <a:alpha val="40000"/>
              </a:srgbClr>
            </a:solidFill>
            <a:prstDash val="solid"/>
          </a:ln>
        </p:spPr>
        <p:txBody>
          <a:bodyPr/>
          <a:lstStyle/>
          <a:p>
            <a:endParaRPr lang="en-US"/>
          </a:p>
        </p:txBody>
      </p:sp>
      <p:sp>
        <p:nvSpPr>
          <p:cNvPr id="4" name="Shape 2"/>
          <p:cNvSpPr/>
          <p:nvPr/>
        </p:nvSpPr>
        <p:spPr>
          <a:xfrm>
            <a:off x="457200" y="1024128"/>
            <a:ext cx="8229600" cy="804672"/>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5" name="Shape 3"/>
          <p:cNvSpPr/>
          <p:nvPr/>
        </p:nvSpPr>
        <p:spPr>
          <a:xfrm>
            <a:off x="457200" y="1024128"/>
            <a:ext cx="54864" cy="804672"/>
          </a:xfrm>
          <a:prstGeom prst="rect">
            <a:avLst/>
          </a:prstGeom>
          <a:solidFill>
            <a:srgbClr val="0EA5E9"/>
          </a:solidFill>
          <a:ln w="12700">
            <a:solidFill>
              <a:srgbClr val="0EA5E9"/>
            </a:solidFill>
            <a:prstDash val="solid"/>
          </a:ln>
        </p:spPr>
        <p:txBody>
          <a:bodyPr/>
          <a:lstStyle/>
          <a:p>
            <a:endParaRPr lang="en-US"/>
          </a:p>
        </p:txBody>
      </p:sp>
      <p:sp>
        <p:nvSpPr>
          <p:cNvPr id="6" name="Text 4"/>
          <p:cNvSpPr/>
          <p:nvPr/>
        </p:nvSpPr>
        <p:spPr>
          <a:xfrm>
            <a:off x="658368" y="1097280"/>
            <a:ext cx="7863840" cy="640080"/>
          </a:xfrm>
          <a:prstGeom prst="rect">
            <a:avLst/>
          </a:prstGeom>
          <a:noFill/>
          <a:ln/>
        </p:spPr>
        <p:txBody>
          <a:bodyPr wrap="square" lIns="0" tIns="0" rIns="0" bIns="0" rtlCol="0" anchor="ctr"/>
          <a:lstStyle/>
          <a:p>
            <a:pPr marL="0" indent="0" algn="l">
              <a:buNone/>
            </a:pPr>
            <a:r>
              <a:rPr lang="en-US" sz="1100">
                <a:solidFill>
                  <a:srgbClr val="64748B"/>
                </a:solidFill>
                <a:latin typeface="Trebuchet MS" pitchFamily="34" charset="0"/>
                <a:ea typeface="Trebuchet MS" pitchFamily="34" charset="-122"/>
                <a:cs typeface="Trebuchet MS" pitchFamily="34" charset="-120"/>
              </a:rPr>
              <a:t>ChromaDB is a vector database — built specifically to store embeddings and find the most similar ones to any query in milliseconds.</a:t>
            </a:r>
            <a:endParaRPr lang="en-US" sz="1100"/>
          </a:p>
        </p:txBody>
      </p:sp>
      <p:sp>
        <p:nvSpPr>
          <p:cNvPr id="7" name="Shape 5"/>
          <p:cNvSpPr/>
          <p:nvPr/>
        </p:nvSpPr>
        <p:spPr>
          <a:xfrm>
            <a:off x="457200" y="1920240"/>
            <a:ext cx="2011680" cy="329184"/>
          </a:xfrm>
          <a:prstGeom prst="rect">
            <a:avLst/>
          </a:prstGeom>
          <a:solidFill>
            <a:srgbClr val="0EA5E9">
              <a:alpha val="25000"/>
            </a:srgbClr>
          </a:solidFill>
          <a:ln w="12700">
            <a:solidFill>
              <a:srgbClr val="1E293B"/>
            </a:solidFill>
            <a:prstDash val="solid"/>
          </a:ln>
        </p:spPr>
        <p:txBody>
          <a:bodyPr/>
          <a:lstStyle/>
          <a:p>
            <a:endParaRPr lang="en-US"/>
          </a:p>
        </p:txBody>
      </p:sp>
      <p:sp>
        <p:nvSpPr>
          <p:cNvPr id="8" name="Text 6"/>
          <p:cNvSpPr/>
          <p:nvPr/>
        </p:nvSpPr>
        <p:spPr>
          <a:xfrm>
            <a:off x="548640" y="1920240"/>
            <a:ext cx="1920240" cy="329184"/>
          </a:xfrm>
          <a:prstGeom prst="rect">
            <a:avLst/>
          </a:prstGeom>
          <a:noFill/>
          <a:ln/>
        </p:spPr>
        <p:txBody>
          <a:bodyPr wrap="square" lIns="0" tIns="0" rIns="0" bIns="0" rtlCol="0" anchor="ctr"/>
          <a:lstStyle/>
          <a:p>
            <a:pPr marL="0" indent="0" algn="l">
              <a:buNone/>
            </a:pPr>
            <a:r>
              <a:rPr lang="en-US" sz="1000" b="1">
                <a:solidFill>
                  <a:srgbClr val="0EA5E9"/>
                </a:solidFill>
                <a:latin typeface="Trebuchet MS" pitchFamily="34" charset="0"/>
                <a:ea typeface="Trebuchet MS" pitchFamily="34" charset="-122"/>
                <a:cs typeface="Trebuchet MS" pitchFamily="34" charset="-120"/>
              </a:rPr>
              <a:t>Feature</a:t>
            </a:r>
            <a:endParaRPr lang="en-US" sz="1000"/>
          </a:p>
        </p:txBody>
      </p:sp>
      <p:sp>
        <p:nvSpPr>
          <p:cNvPr id="9" name="Shape 7"/>
          <p:cNvSpPr/>
          <p:nvPr/>
        </p:nvSpPr>
        <p:spPr>
          <a:xfrm>
            <a:off x="2487168" y="1920240"/>
            <a:ext cx="2926080" cy="329184"/>
          </a:xfrm>
          <a:prstGeom prst="rect">
            <a:avLst/>
          </a:prstGeom>
          <a:solidFill>
            <a:srgbClr val="0EA5E9">
              <a:alpha val="25000"/>
            </a:srgbClr>
          </a:solidFill>
          <a:ln w="12700">
            <a:solidFill>
              <a:srgbClr val="1E293B"/>
            </a:solidFill>
            <a:prstDash val="solid"/>
          </a:ln>
        </p:spPr>
        <p:txBody>
          <a:bodyPr/>
          <a:lstStyle/>
          <a:p>
            <a:endParaRPr lang="en-US"/>
          </a:p>
        </p:txBody>
      </p:sp>
      <p:sp>
        <p:nvSpPr>
          <p:cNvPr id="10" name="Text 8"/>
          <p:cNvSpPr/>
          <p:nvPr/>
        </p:nvSpPr>
        <p:spPr>
          <a:xfrm>
            <a:off x="2578608" y="1920240"/>
            <a:ext cx="2834640" cy="329184"/>
          </a:xfrm>
          <a:prstGeom prst="rect">
            <a:avLst/>
          </a:prstGeom>
          <a:noFill/>
          <a:ln/>
        </p:spPr>
        <p:txBody>
          <a:bodyPr wrap="square" lIns="0" tIns="0" rIns="0" bIns="0" rtlCol="0" anchor="ctr"/>
          <a:lstStyle/>
          <a:p>
            <a:pPr marL="0" indent="0" algn="l">
              <a:buNone/>
            </a:pPr>
            <a:r>
              <a:rPr lang="en-US" sz="1000" b="1">
                <a:solidFill>
                  <a:srgbClr val="0EA5E9"/>
                </a:solidFill>
                <a:latin typeface="Trebuchet MS" pitchFamily="34" charset="0"/>
                <a:ea typeface="Trebuchet MS" pitchFamily="34" charset="-122"/>
                <a:cs typeface="Trebuchet MS" pitchFamily="34" charset="-120"/>
              </a:rPr>
              <a:t>Normal Database (SQL)</a:t>
            </a:r>
            <a:endParaRPr lang="en-US" sz="1000"/>
          </a:p>
        </p:txBody>
      </p:sp>
      <p:sp>
        <p:nvSpPr>
          <p:cNvPr id="11" name="Shape 9"/>
          <p:cNvSpPr/>
          <p:nvPr/>
        </p:nvSpPr>
        <p:spPr>
          <a:xfrm>
            <a:off x="5431536" y="1920240"/>
            <a:ext cx="2926080" cy="329184"/>
          </a:xfrm>
          <a:prstGeom prst="rect">
            <a:avLst/>
          </a:prstGeom>
          <a:solidFill>
            <a:srgbClr val="0EA5E9">
              <a:alpha val="25000"/>
            </a:srgbClr>
          </a:solidFill>
          <a:ln w="12700">
            <a:solidFill>
              <a:srgbClr val="1E293B"/>
            </a:solidFill>
            <a:prstDash val="solid"/>
          </a:ln>
        </p:spPr>
        <p:txBody>
          <a:bodyPr/>
          <a:lstStyle/>
          <a:p>
            <a:endParaRPr lang="en-US"/>
          </a:p>
        </p:txBody>
      </p:sp>
      <p:sp>
        <p:nvSpPr>
          <p:cNvPr id="12" name="Text 10"/>
          <p:cNvSpPr/>
          <p:nvPr/>
        </p:nvSpPr>
        <p:spPr>
          <a:xfrm>
            <a:off x="5522976" y="1920240"/>
            <a:ext cx="2834640" cy="329184"/>
          </a:xfrm>
          <a:prstGeom prst="rect">
            <a:avLst/>
          </a:prstGeom>
          <a:noFill/>
          <a:ln/>
        </p:spPr>
        <p:txBody>
          <a:bodyPr wrap="square" lIns="0" tIns="0" rIns="0" bIns="0" rtlCol="0" anchor="ctr"/>
          <a:lstStyle/>
          <a:p>
            <a:pPr marL="0" indent="0" algn="l">
              <a:buNone/>
            </a:pPr>
            <a:r>
              <a:rPr lang="en-US" sz="1000" b="1">
                <a:solidFill>
                  <a:srgbClr val="0EA5E9"/>
                </a:solidFill>
                <a:latin typeface="Trebuchet MS" pitchFamily="34" charset="0"/>
                <a:ea typeface="Trebuchet MS" pitchFamily="34" charset="-122"/>
                <a:cs typeface="Trebuchet MS" pitchFamily="34" charset="-120"/>
              </a:rPr>
              <a:t>ChromaDB</a:t>
            </a:r>
            <a:endParaRPr lang="en-US" sz="1000"/>
          </a:p>
        </p:txBody>
      </p:sp>
      <p:sp>
        <p:nvSpPr>
          <p:cNvPr id="13" name="Shape 11"/>
          <p:cNvSpPr/>
          <p:nvPr/>
        </p:nvSpPr>
        <p:spPr>
          <a:xfrm>
            <a:off x="457200" y="2249424"/>
            <a:ext cx="2011680" cy="338328"/>
          </a:xfrm>
          <a:prstGeom prst="rect">
            <a:avLst/>
          </a:prstGeom>
          <a:solidFill>
            <a:srgbClr val="111827"/>
          </a:solidFill>
          <a:ln w="12700">
            <a:solidFill>
              <a:srgbClr val="1E293B"/>
            </a:solidFill>
            <a:prstDash val="solid"/>
          </a:ln>
        </p:spPr>
        <p:txBody>
          <a:bodyPr/>
          <a:lstStyle/>
          <a:p>
            <a:endParaRPr lang="en-US"/>
          </a:p>
        </p:txBody>
      </p:sp>
      <p:sp>
        <p:nvSpPr>
          <p:cNvPr id="14" name="Text 12"/>
          <p:cNvSpPr/>
          <p:nvPr/>
        </p:nvSpPr>
        <p:spPr>
          <a:xfrm>
            <a:off x="548640" y="2267712"/>
            <a:ext cx="1874520" cy="301752"/>
          </a:xfrm>
          <a:prstGeom prst="rect">
            <a:avLst/>
          </a:prstGeom>
          <a:noFill/>
          <a:ln/>
        </p:spPr>
        <p:txBody>
          <a:bodyPr wrap="square" lIns="0" tIns="0" rIns="0" bIns="0" rtlCol="0" anchor="ctr"/>
          <a:lstStyle/>
          <a:p>
            <a:pPr marL="0" indent="0" algn="l">
              <a:buNone/>
            </a:pPr>
            <a:r>
              <a:rPr lang="en-US" sz="950" b="1">
                <a:solidFill>
                  <a:srgbClr val="0EA5E9"/>
                </a:solidFill>
                <a:latin typeface="Trebuchet MS" pitchFamily="34" charset="0"/>
                <a:ea typeface="Trebuchet MS" pitchFamily="34" charset="-122"/>
                <a:cs typeface="Trebuchet MS" pitchFamily="34" charset="-120"/>
              </a:rPr>
              <a:t>Stores</a:t>
            </a:r>
            <a:endParaRPr lang="en-US" sz="950"/>
          </a:p>
        </p:txBody>
      </p:sp>
      <p:sp>
        <p:nvSpPr>
          <p:cNvPr id="15" name="Shape 13"/>
          <p:cNvSpPr/>
          <p:nvPr/>
        </p:nvSpPr>
        <p:spPr>
          <a:xfrm>
            <a:off x="2487168" y="2249424"/>
            <a:ext cx="2926080" cy="338328"/>
          </a:xfrm>
          <a:prstGeom prst="rect">
            <a:avLst/>
          </a:prstGeom>
          <a:solidFill>
            <a:srgbClr val="111827"/>
          </a:solidFill>
          <a:ln w="12700">
            <a:solidFill>
              <a:srgbClr val="1E293B"/>
            </a:solidFill>
            <a:prstDash val="solid"/>
          </a:ln>
        </p:spPr>
        <p:txBody>
          <a:bodyPr/>
          <a:lstStyle/>
          <a:p>
            <a:endParaRPr lang="en-US"/>
          </a:p>
        </p:txBody>
      </p:sp>
      <p:sp>
        <p:nvSpPr>
          <p:cNvPr id="16" name="Text 14"/>
          <p:cNvSpPr/>
          <p:nvPr/>
        </p:nvSpPr>
        <p:spPr>
          <a:xfrm>
            <a:off x="2578608" y="2267712"/>
            <a:ext cx="2788920" cy="301752"/>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Text, numbers, dates</a:t>
            </a:r>
            <a:endParaRPr lang="en-US" sz="950"/>
          </a:p>
        </p:txBody>
      </p:sp>
      <p:sp>
        <p:nvSpPr>
          <p:cNvPr id="17" name="Shape 15"/>
          <p:cNvSpPr/>
          <p:nvPr/>
        </p:nvSpPr>
        <p:spPr>
          <a:xfrm>
            <a:off x="5431536" y="2249424"/>
            <a:ext cx="2926080" cy="338328"/>
          </a:xfrm>
          <a:prstGeom prst="rect">
            <a:avLst/>
          </a:prstGeom>
          <a:solidFill>
            <a:srgbClr val="111827"/>
          </a:solidFill>
          <a:ln w="12700">
            <a:solidFill>
              <a:srgbClr val="1E293B"/>
            </a:solidFill>
            <a:prstDash val="solid"/>
          </a:ln>
        </p:spPr>
        <p:txBody>
          <a:bodyPr/>
          <a:lstStyle/>
          <a:p>
            <a:endParaRPr lang="en-US"/>
          </a:p>
        </p:txBody>
      </p:sp>
      <p:sp>
        <p:nvSpPr>
          <p:cNvPr id="18" name="Text 16"/>
          <p:cNvSpPr/>
          <p:nvPr/>
        </p:nvSpPr>
        <p:spPr>
          <a:xfrm>
            <a:off x="5522976" y="2267712"/>
            <a:ext cx="2788920" cy="301752"/>
          </a:xfrm>
          <a:prstGeom prst="rect">
            <a:avLst/>
          </a:prstGeom>
          <a:noFill/>
          <a:ln/>
        </p:spPr>
        <p:txBody>
          <a:bodyPr wrap="square" lIns="0" tIns="0" rIns="0" bIns="0" rtlCol="0" anchor="ctr"/>
          <a:lstStyle/>
          <a:p>
            <a:pPr marL="0" indent="0" algn="l">
              <a:buNone/>
            </a:pPr>
            <a:r>
              <a:rPr lang="en-US" sz="950">
                <a:solidFill>
                  <a:srgbClr val="10B981"/>
                </a:solidFill>
                <a:latin typeface="Trebuchet MS" pitchFamily="34" charset="0"/>
                <a:ea typeface="Trebuchet MS" pitchFamily="34" charset="-122"/>
                <a:cs typeface="Trebuchet MS" pitchFamily="34" charset="-120"/>
              </a:rPr>
              <a:t>Vectors (lists of numbers)</a:t>
            </a:r>
            <a:endParaRPr lang="en-US" sz="950"/>
          </a:p>
        </p:txBody>
      </p:sp>
      <p:sp>
        <p:nvSpPr>
          <p:cNvPr id="19" name="Shape 17"/>
          <p:cNvSpPr/>
          <p:nvPr/>
        </p:nvSpPr>
        <p:spPr>
          <a:xfrm>
            <a:off x="457200" y="2596896"/>
            <a:ext cx="2011680" cy="338328"/>
          </a:xfrm>
          <a:prstGeom prst="rect">
            <a:avLst/>
          </a:prstGeom>
          <a:solidFill>
            <a:srgbClr val="0F172A"/>
          </a:solidFill>
          <a:ln w="12700">
            <a:solidFill>
              <a:srgbClr val="1E293B"/>
            </a:solidFill>
            <a:prstDash val="solid"/>
          </a:ln>
        </p:spPr>
        <p:txBody>
          <a:bodyPr/>
          <a:lstStyle/>
          <a:p>
            <a:endParaRPr lang="en-US"/>
          </a:p>
        </p:txBody>
      </p:sp>
      <p:sp>
        <p:nvSpPr>
          <p:cNvPr id="20" name="Text 18"/>
          <p:cNvSpPr/>
          <p:nvPr/>
        </p:nvSpPr>
        <p:spPr>
          <a:xfrm>
            <a:off x="548640" y="2615184"/>
            <a:ext cx="1874520" cy="301752"/>
          </a:xfrm>
          <a:prstGeom prst="rect">
            <a:avLst/>
          </a:prstGeom>
          <a:noFill/>
          <a:ln/>
        </p:spPr>
        <p:txBody>
          <a:bodyPr wrap="square" lIns="0" tIns="0" rIns="0" bIns="0" rtlCol="0" anchor="ctr"/>
          <a:lstStyle/>
          <a:p>
            <a:pPr marL="0" indent="0" algn="l">
              <a:buNone/>
            </a:pPr>
            <a:r>
              <a:rPr lang="en-US" sz="950" b="1">
                <a:solidFill>
                  <a:srgbClr val="0EA5E9"/>
                </a:solidFill>
                <a:latin typeface="Trebuchet MS" pitchFamily="34" charset="0"/>
                <a:ea typeface="Trebuchet MS" pitchFamily="34" charset="-122"/>
                <a:cs typeface="Trebuchet MS" pitchFamily="34" charset="-120"/>
              </a:rPr>
              <a:t>Searches by</a:t>
            </a:r>
            <a:endParaRPr lang="en-US" sz="950"/>
          </a:p>
        </p:txBody>
      </p:sp>
      <p:sp>
        <p:nvSpPr>
          <p:cNvPr id="21" name="Shape 19"/>
          <p:cNvSpPr/>
          <p:nvPr/>
        </p:nvSpPr>
        <p:spPr>
          <a:xfrm>
            <a:off x="2487168" y="2596896"/>
            <a:ext cx="2926080" cy="338328"/>
          </a:xfrm>
          <a:prstGeom prst="rect">
            <a:avLst/>
          </a:prstGeom>
          <a:solidFill>
            <a:srgbClr val="0F172A"/>
          </a:solidFill>
          <a:ln w="12700">
            <a:solidFill>
              <a:srgbClr val="1E293B"/>
            </a:solidFill>
            <a:prstDash val="solid"/>
          </a:ln>
        </p:spPr>
        <p:txBody>
          <a:bodyPr/>
          <a:lstStyle/>
          <a:p>
            <a:endParaRPr lang="en-US"/>
          </a:p>
        </p:txBody>
      </p:sp>
      <p:sp>
        <p:nvSpPr>
          <p:cNvPr id="22" name="Text 20"/>
          <p:cNvSpPr/>
          <p:nvPr/>
        </p:nvSpPr>
        <p:spPr>
          <a:xfrm>
            <a:off x="2578608" y="2615184"/>
            <a:ext cx="2788920" cy="301752"/>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Exact match  (WHERE name='x')</a:t>
            </a:r>
            <a:endParaRPr lang="en-US" sz="950"/>
          </a:p>
        </p:txBody>
      </p:sp>
      <p:sp>
        <p:nvSpPr>
          <p:cNvPr id="23" name="Shape 21"/>
          <p:cNvSpPr/>
          <p:nvPr/>
        </p:nvSpPr>
        <p:spPr>
          <a:xfrm>
            <a:off x="5431536" y="2596896"/>
            <a:ext cx="2926080" cy="338328"/>
          </a:xfrm>
          <a:prstGeom prst="rect">
            <a:avLst/>
          </a:prstGeom>
          <a:solidFill>
            <a:srgbClr val="0F172A"/>
          </a:solidFill>
          <a:ln w="12700">
            <a:solidFill>
              <a:srgbClr val="1E293B"/>
            </a:solidFill>
            <a:prstDash val="solid"/>
          </a:ln>
        </p:spPr>
        <p:txBody>
          <a:bodyPr/>
          <a:lstStyle/>
          <a:p>
            <a:endParaRPr lang="en-US"/>
          </a:p>
        </p:txBody>
      </p:sp>
      <p:sp>
        <p:nvSpPr>
          <p:cNvPr id="24" name="Text 22"/>
          <p:cNvSpPr/>
          <p:nvPr/>
        </p:nvSpPr>
        <p:spPr>
          <a:xfrm>
            <a:off x="5522976" y="2615184"/>
            <a:ext cx="2788920" cy="301752"/>
          </a:xfrm>
          <a:prstGeom prst="rect">
            <a:avLst/>
          </a:prstGeom>
          <a:noFill/>
          <a:ln/>
        </p:spPr>
        <p:txBody>
          <a:bodyPr wrap="square" lIns="0" tIns="0" rIns="0" bIns="0" rtlCol="0" anchor="ctr"/>
          <a:lstStyle/>
          <a:p>
            <a:pPr marL="0" indent="0" algn="l">
              <a:buNone/>
            </a:pPr>
            <a:r>
              <a:rPr lang="en-US" sz="950">
                <a:solidFill>
                  <a:srgbClr val="10B981"/>
                </a:solidFill>
                <a:latin typeface="Trebuchet MS" pitchFamily="34" charset="0"/>
                <a:ea typeface="Trebuchet MS" pitchFamily="34" charset="-122"/>
                <a:cs typeface="Trebuchet MS" pitchFamily="34" charset="-120"/>
              </a:rPr>
              <a:t>Meaning similarity (cosine)</a:t>
            </a:r>
            <a:endParaRPr lang="en-US" sz="950"/>
          </a:p>
        </p:txBody>
      </p:sp>
      <p:sp>
        <p:nvSpPr>
          <p:cNvPr id="25" name="Shape 23"/>
          <p:cNvSpPr/>
          <p:nvPr/>
        </p:nvSpPr>
        <p:spPr>
          <a:xfrm>
            <a:off x="457200" y="2944368"/>
            <a:ext cx="2011680" cy="338328"/>
          </a:xfrm>
          <a:prstGeom prst="rect">
            <a:avLst/>
          </a:prstGeom>
          <a:solidFill>
            <a:srgbClr val="111827"/>
          </a:solidFill>
          <a:ln w="12700">
            <a:solidFill>
              <a:srgbClr val="1E293B"/>
            </a:solidFill>
            <a:prstDash val="solid"/>
          </a:ln>
        </p:spPr>
        <p:txBody>
          <a:bodyPr/>
          <a:lstStyle/>
          <a:p>
            <a:endParaRPr lang="en-US"/>
          </a:p>
        </p:txBody>
      </p:sp>
      <p:sp>
        <p:nvSpPr>
          <p:cNvPr id="26" name="Text 24"/>
          <p:cNvSpPr/>
          <p:nvPr/>
        </p:nvSpPr>
        <p:spPr>
          <a:xfrm>
            <a:off x="548640" y="2962656"/>
            <a:ext cx="1874520" cy="301752"/>
          </a:xfrm>
          <a:prstGeom prst="rect">
            <a:avLst/>
          </a:prstGeom>
          <a:noFill/>
          <a:ln/>
        </p:spPr>
        <p:txBody>
          <a:bodyPr wrap="square" lIns="0" tIns="0" rIns="0" bIns="0" rtlCol="0" anchor="ctr"/>
          <a:lstStyle/>
          <a:p>
            <a:pPr marL="0" indent="0" algn="l">
              <a:buNone/>
            </a:pPr>
            <a:r>
              <a:rPr lang="en-US" sz="950" b="1">
                <a:solidFill>
                  <a:srgbClr val="0EA5E9"/>
                </a:solidFill>
                <a:latin typeface="Trebuchet MS" pitchFamily="34" charset="0"/>
                <a:ea typeface="Trebuchet MS" pitchFamily="34" charset="-122"/>
                <a:cs typeface="Trebuchet MS" pitchFamily="34" charset="-120"/>
              </a:rPr>
              <a:t>Speed</a:t>
            </a:r>
            <a:endParaRPr lang="en-US" sz="950"/>
          </a:p>
        </p:txBody>
      </p:sp>
      <p:sp>
        <p:nvSpPr>
          <p:cNvPr id="27" name="Shape 25"/>
          <p:cNvSpPr/>
          <p:nvPr/>
        </p:nvSpPr>
        <p:spPr>
          <a:xfrm>
            <a:off x="2487168" y="2944368"/>
            <a:ext cx="2926080" cy="338328"/>
          </a:xfrm>
          <a:prstGeom prst="rect">
            <a:avLst/>
          </a:prstGeom>
          <a:solidFill>
            <a:srgbClr val="111827"/>
          </a:solidFill>
          <a:ln w="12700">
            <a:solidFill>
              <a:srgbClr val="1E293B"/>
            </a:solidFill>
            <a:prstDash val="solid"/>
          </a:ln>
        </p:spPr>
        <p:txBody>
          <a:bodyPr/>
          <a:lstStyle/>
          <a:p>
            <a:endParaRPr lang="en-US"/>
          </a:p>
        </p:txBody>
      </p:sp>
      <p:sp>
        <p:nvSpPr>
          <p:cNvPr id="28" name="Text 26"/>
          <p:cNvSpPr/>
          <p:nvPr/>
        </p:nvSpPr>
        <p:spPr>
          <a:xfrm>
            <a:off x="2578608" y="2962656"/>
            <a:ext cx="2788920" cy="301752"/>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Fast for exact lookup</a:t>
            </a:r>
            <a:endParaRPr lang="en-US" sz="950"/>
          </a:p>
        </p:txBody>
      </p:sp>
      <p:sp>
        <p:nvSpPr>
          <p:cNvPr id="29" name="Shape 27"/>
          <p:cNvSpPr/>
          <p:nvPr/>
        </p:nvSpPr>
        <p:spPr>
          <a:xfrm>
            <a:off x="5431536" y="2944368"/>
            <a:ext cx="2926080" cy="338328"/>
          </a:xfrm>
          <a:prstGeom prst="rect">
            <a:avLst/>
          </a:prstGeom>
          <a:solidFill>
            <a:srgbClr val="111827"/>
          </a:solidFill>
          <a:ln w="12700">
            <a:solidFill>
              <a:srgbClr val="1E293B"/>
            </a:solidFill>
            <a:prstDash val="solid"/>
          </a:ln>
        </p:spPr>
        <p:txBody>
          <a:bodyPr/>
          <a:lstStyle/>
          <a:p>
            <a:endParaRPr lang="en-US"/>
          </a:p>
        </p:txBody>
      </p:sp>
      <p:sp>
        <p:nvSpPr>
          <p:cNvPr id="30" name="Text 28"/>
          <p:cNvSpPr/>
          <p:nvPr/>
        </p:nvSpPr>
        <p:spPr>
          <a:xfrm>
            <a:off x="5522976" y="2962656"/>
            <a:ext cx="2788920" cy="301752"/>
          </a:xfrm>
          <a:prstGeom prst="rect">
            <a:avLst/>
          </a:prstGeom>
          <a:noFill/>
          <a:ln/>
        </p:spPr>
        <p:txBody>
          <a:bodyPr wrap="square" lIns="0" tIns="0" rIns="0" bIns="0" rtlCol="0" anchor="ctr"/>
          <a:lstStyle/>
          <a:p>
            <a:pPr marL="0" indent="0" algn="l">
              <a:buNone/>
            </a:pPr>
            <a:r>
              <a:rPr lang="en-US" sz="950">
                <a:solidFill>
                  <a:srgbClr val="10B981"/>
                </a:solidFill>
                <a:latin typeface="Trebuchet MS" pitchFamily="34" charset="0"/>
                <a:ea typeface="Trebuchet MS" pitchFamily="34" charset="-122"/>
                <a:cs typeface="Trebuchet MS" pitchFamily="34" charset="-120"/>
              </a:rPr>
              <a:t>&lt; 1 second for 514 vectors</a:t>
            </a:r>
            <a:endParaRPr lang="en-US" sz="950"/>
          </a:p>
        </p:txBody>
      </p:sp>
      <p:sp>
        <p:nvSpPr>
          <p:cNvPr id="31" name="Shape 29"/>
          <p:cNvSpPr/>
          <p:nvPr/>
        </p:nvSpPr>
        <p:spPr>
          <a:xfrm>
            <a:off x="457200" y="3291840"/>
            <a:ext cx="2011680" cy="338328"/>
          </a:xfrm>
          <a:prstGeom prst="rect">
            <a:avLst/>
          </a:prstGeom>
          <a:solidFill>
            <a:srgbClr val="0F172A"/>
          </a:solidFill>
          <a:ln w="12700">
            <a:solidFill>
              <a:srgbClr val="1E293B"/>
            </a:solidFill>
            <a:prstDash val="solid"/>
          </a:ln>
        </p:spPr>
        <p:txBody>
          <a:bodyPr/>
          <a:lstStyle/>
          <a:p>
            <a:endParaRPr lang="en-US"/>
          </a:p>
        </p:txBody>
      </p:sp>
      <p:sp>
        <p:nvSpPr>
          <p:cNvPr id="32" name="Text 30"/>
          <p:cNvSpPr/>
          <p:nvPr/>
        </p:nvSpPr>
        <p:spPr>
          <a:xfrm>
            <a:off x="548640" y="3310128"/>
            <a:ext cx="1874520" cy="301752"/>
          </a:xfrm>
          <a:prstGeom prst="rect">
            <a:avLst/>
          </a:prstGeom>
          <a:noFill/>
          <a:ln/>
        </p:spPr>
        <p:txBody>
          <a:bodyPr wrap="square" lIns="0" tIns="0" rIns="0" bIns="0" rtlCol="0" anchor="ctr"/>
          <a:lstStyle/>
          <a:p>
            <a:pPr marL="0" indent="0" algn="l">
              <a:buNone/>
            </a:pPr>
            <a:r>
              <a:rPr lang="en-US" sz="950" b="1">
                <a:solidFill>
                  <a:srgbClr val="0EA5E9"/>
                </a:solidFill>
                <a:latin typeface="Trebuchet MS" pitchFamily="34" charset="0"/>
                <a:ea typeface="Trebuchet MS" pitchFamily="34" charset="-122"/>
                <a:cs typeface="Trebuchet MS" pitchFamily="34" charset="-120"/>
              </a:rPr>
              <a:t>Use case</a:t>
            </a:r>
            <a:endParaRPr lang="en-US" sz="950"/>
          </a:p>
        </p:txBody>
      </p:sp>
      <p:sp>
        <p:nvSpPr>
          <p:cNvPr id="33" name="Shape 31"/>
          <p:cNvSpPr/>
          <p:nvPr/>
        </p:nvSpPr>
        <p:spPr>
          <a:xfrm>
            <a:off x="2487168" y="3291840"/>
            <a:ext cx="2926080" cy="338328"/>
          </a:xfrm>
          <a:prstGeom prst="rect">
            <a:avLst/>
          </a:prstGeom>
          <a:solidFill>
            <a:srgbClr val="0F172A"/>
          </a:solidFill>
          <a:ln w="12700">
            <a:solidFill>
              <a:srgbClr val="1E293B"/>
            </a:solidFill>
            <a:prstDash val="solid"/>
          </a:ln>
        </p:spPr>
        <p:txBody>
          <a:bodyPr/>
          <a:lstStyle/>
          <a:p>
            <a:endParaRPr lang="en-US"/>
          </a:p>
        </p:txBody>
      </p:sp>
      <p:sp>
        <p:nvSpPr>
          <p:cNvPr id="34" name="Text 32"/>
          <p:cNvSpPr/>
          <p:nvPr/>
        </p:nvSpPr>
        <p:spPr>
          <a:xfrm>
            <a:off x="2578608" y="3310128"/>
            <a:ext cx="2788920" cy="301752"/>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Users, orders, records</a:t>
            </a:r>
            <a:endParaRPr lang="en-US" sz="950"/>
          </a:p>
        </p:txBody>
      </p:sp>
      <p:sp>
        <p:nvSpPr>
          <p:cNvPr id="35" name="Shape 33"/>
          <p:cNvSpPr/>
          <p:nvPr/>
        </p:nvSpPr>
        <p:spPr>
          <a:xfrm>
            <a:off x="5431536" y="3291840"/>
            <a:ext cx="2926080" cy="338328"/>
          </a:xfrm>
          <a:prstGeom prst="rect">
            <a:avLst/>
          </a:prstGeom>
          <a:solidFill>
            <a:srgbClr val="0F172A"/>
          </a:solidFill>
          <a:ln w="12700">
            <a:solidFill>
              <a:srgbClr val="1E293B"/>
            </a:solidFill>
            <a:prstDash val="solid"/>
          </a:ln>
        </p:spPr>
        <p:txBody>
          <a:bodyPr/>
          <a:lstStyle/>
          <a:p>
            <a:endParaRPr lang="en-US"/>
          </a:p>
        </p:txBody>
      </p:sp>
      <p:sp>
        <p:nvSpPr>
          <p:cNvPr id="36" name="Text 34"/>
          <p:cNvSpPr/>
          <p:nvPr/>
        </p:nvSpPr>
        <p:spPr>
          <a:xfrm>
            <a:off x="5522976" y="3310128"/>
            <a:ext cx="2788920" cy="301752"/>
          </a:xfrm>
          <a:prstGeom prst="rect">
            <a:avLst/>
          </a:prstGeom>
          <a:noFill/>
          <a:ln/>
        </p:spPr>
        <p:txBody>
          <a:bodyPr wrap="square" lIns="0" tIns="0" rIns="0" bIns="0" rtlCol="0" anchor="ctr"/>
          <a:lstStyle/>
          <a:p>
            <a:pPr marL="0" indent="0" algn="l">
              <a:buNone/>
            </a:pPr>
            <a:r>
              <a:rPr lang="en-US" sz="950">
                <a:solidFill>
                  <a:srgbClr val="10B981"/>
                </a:solidFill>
                <a:latin typeface="Trebuchet MS" pitchFamily="34" charset="0"/>
                <a:ea typeface="Trebuchet MS" pitchFamily="34" charset="-122"/>
                <a:cs typeface="Trebuchet MS" pitchFamily="34" charset="-120"/>
              </a:rPr>
              <a:t>AI, semantic search, RAG</a:t>
            </a:r>
            <a:endParaRPr lang="en-US" sz="950"/>
          </a:p>
        </p:txBody>
      </p:sp>
      <p:sp>
        <p:nvSpPr>
          <p:cNvPr id="37" name="Shape 35"/>
          <p:cNvSpPr/>
          <p:nvPr/>
        </p:nvSpPr>
        <p:spPr>
          <a:xfrm>
            <a:off x="457200" y="3694176"/>
            <a:ext cx="1920240" cy="114300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38" name="Shape 36"/>
          <p:cNvSpPr/>
          <p:nvPr/>
        </p:nvSpPr>
        <p:spPr>
          <a:xfrm>
            <a:off x="457200" y="3694176"/>
            <a:ext cx="1920240" cy="45720"/>
          </a:xfrm>
          <a:prstGeom prst="rect">
            <a:avLst/>
          </a:prstGeom>
          <a:solidFill>
            <a:srgbClr val="0EA5E9"/>
          </a:solidFill>
          <a:ln w="12700">
            <a:solidFill>
              <a:srgbClr val="0EA5E9"/>
            </a:solidFill>
            <a:prstDash val="solid"/>
          </a:ln>
        </p:spPr>
        <p:txBody>
          <a:bodyPr/>
          <a:lstStyle/>
          <a:p>
            <a:endParaRPr lang="en-US"/>
          </a:p>
        </p:txBody>
      </p:sp>
      <p:sp>
        <p:nvSpPr>
          <p:cNvPr id="39" name="Text 37"/>
          <p:cNvSpPr/>
          <p:nvPr/>
        </p:nvSpPr>
        <p:spPr>
          <a:xfrm>
            <a:off x="457200" y="3822192"/>
            <a:ext cx="1920240" cy="502920"/>
          </a:xfrm>
          <a:prstGeom prst="rect">
            <a:avLst/>
          </a:prstGeom>
          <a:noFill/>
          <a:ln/>
        </p:spPr>
        <p:txBody>
          <a:bodyPr wrap="square" lIns="0" tIns="0" rIns="0" bIns="0" rtlCol="0" anchor="ctr"/>
          <a:lstStyle/>
          <a:p>
            <a:pPr marL="0" indent="0" algn="ctr">
              <a:buNone/>
            </a:pPr>
            <a:r>
              <a:rPr lang="en-US" sz="3000" b="1">
                <a:solidFill>
                  <a:srgbClr val="0EA5E9"/>
                </a:solidFill>
                <a:latin typeface="Trebuchet MS" pitchFamily="34" charset="0"/>
                <a:ea typeface="Trebuchet MS" pitchFamily="34" charset="-122"/>
                <a:cs typeface="Trebuchet MS" pitchFamily="34" charset="-120"/>
              </a:rPr>
              <a:t>~514</a:t>
            </a:r>
            <a:endParaRPr lang="en-US" sz="3000"/>
          </a:p>
        </p:txBody>
      </p:sp>
      <p:sp>
        <p:nvSpPr>
          <p:cNvPr id="40" name="Text 38"/>
          <p:cNvSpPr/>
          <p:nvPr/>
        </p:nvSpPr>
        <p:spPr>
          <a:xfrm>
            <a:off x="457200" y="4343400"/>
            <a:ext cx="1920240" cy="274320"/>
          </a:xfrm>
          <a:prstGeom prst="rect">
            <a:avLst/>
          </a:prstGeom>
          <a:noFill/>
          <a:ln/>
        </p:spPr>
        <p:txBody>
          <a:bodyPr wrap="square" lIns="0" tIns="0" rIns="0" bIns="0" rtlCol="0" anchor="ctr"/>
          <a:lstStyle/>
          <a:p>
            <a:pPr marL="0" indent="0" algn="ctr">
              <a:buNone/>
            </a:pPr>
            <a:r>
              <a:rPr lang="en-US" sz="900">
                <a:solidFill>
                  <a:srgbClr val="64748B"/>
                </a:solidFill>
                <a:latin typeface="Trebuchet MS" pitchFamily="34" charset="0"/>
                <a:ea typeface="Trebuchet MS" pitchFamily="34" charset="-122"/>
                <a:cs typeface="Trebuchet MS" pitchFamily="34" charset="-120"/>
              </a:rPr>
              <a:t>Vectors Stored</a:t>
            </a:r>
            <a:endParaRPr lang="en-US" sz="900"/>
          </a:p>
        </p:txBody>
      </p:sp>
      <p:sp>
        <p:nvSpPr>
          <p:cNvPr id="41" name="Shape 39"/>
          <p:cNvSpPr/>
          <p:nvPr/>
        </p:nvSpPr>
        <p:spPr>
          <a:xfrm>
            <a:off x="2542032" y="3694176"/>
            <a:ext cx="1920240" cy="114300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42" name="Shape 40"/>
          <p:cNvSpPr/>
          <p:nvPr/>
        </p:nvSpPr>
        <p:spPr>
          <a:xfrm>
            <a:off x="2542032" y="3694176"/>
            <a:ext cx="1920240" cy="45720"/>
          </a:xfrm>
          <a:prstGeom prst="rect">
            <a:avLst/>
          </a:prstGeom>
          <a:solidFill>
            <a:srgbClr val="10B981"/>
          </a:solidFill>
          <a:ln w="12700">
            <a:solidFill>
              <a:srgbClr val="10B981"/>
            </a:solidFill>
            <a:prstDash val="solid"/>
          </a:ln>
        </p:spPr>
        <p:txBody>
          <a:bodyPr/>
          <a:lstStyle/>
          <a:p>
            <a:endParaRPr lang="en-US"/>
          </a:p>
        </p:txBody>
      </p:sp>
      <p:sp>
        <p:nvSpPr>
          <p:cNvPr id="43" name="Text 41"/>
          <p:cNvSpPr/>
          <p:nvPr/>
        </p:nvSpPr>
        <p:spPr>
          <a:xfrm>
            <a:off x="2542032" y="3822192"/>
            <a:ext cx="1920240" cy="502920"/>
          </a:xfrm>
          <a:prstGeom prst="rect">
            <a:avLst/>
          </a:prstGeom>
          <a:noFill/>
          <a:ln/>
        </p:spPr>
        <p:txBody>
          <a:bodyPr wrap="square" lIns="0" tIns="0" rIns="0" bIns="0" rtlCol="0" anchor="ctr"/>
          <a:lstStyle/>
          <a:p>
            <a:pPr marL="0" indent="0" algn="ctr">
              <a:buNone/>
            </a:pPr>
            <a:r>
              <a:rPr lang="en-US" sz="3000" b="1">
                <a:solidFill>
                  <a:srgbClr val="10B981"/>
                </a:solidFill>
                <a:latin typeface="Trebuchet MS" pitchFamily="34" charset="0"/>
                <a:ea typeface="Trebuchet MS" pitchFamily="34" charset="-122"/>
                <a:cs typeface="Trebuchet MS" pitchFamily="34" charset="-120"/>
              </a:rPr>
              <a:t>&lt; 1s</a:t>
            </a:r>
            <a:endParaRPr lang="en-US" sz="3000"/>
          </a:p>
        </p:txBody>
      </p:sp>
      <p:sp>
        <p:nvSpPr>
          <p:cNvPr id="44" name="Text 42"/>
          <p:cNvSpPr/>
          <p:nvPr/>
        </p:nvSpPr>
        <p:spPr>
          <a:xfrm>
            <a:off x="2542032" y="4343400"/>
            <a:ext cx="1920240" cy="274320"/>
          </a:xfrm>
          <a:prstGeom prst="rect">
            <a:avLst/>
          </a:prstGeom>
          <a:noFill/>
          <a:ln/>
        </p:spPr>
        <p:txBody>
          <a:bodyPr wrap="square" lIns="0" tIns="0" rIns="0" bIns="0" rtlCol="0" anchor="ctr"/>
          <a:lstStyle/>
          <a:p>
            <a:pPr marL="0" indent="0" algn="ctr">
              <a:buNone/>
            </a:pPr>
            <a:r>
              <a:rPr lang="en-US" sz="900">
                <a:solidFill>
                  <a:srgbClr val="64748B"/>
                </a:solidFill>
                <a:latin typeface="Trebuchet MS" pitchFamily="34" charset="0"/>
                <a:ea typeface="Trebuchet MS" pitchFamily="34" charset="-122"/>
                <a:cs typeface="Trebuchet MS" pitchFamily="34" charset="-120"/>
              </a:rPr>
              <a:t>Search Speed</a:t>
            </a:r>
            <a:endParaRPr lang="en-US" sz="900"/>
          </a:p>
        </p:txBody>
      </p:sp>
      <p:sp>
        <p:nvSpPr>
          <p:cNvPr id="45" name="Shape 43"/>
          <p:cNvSpPr/>
          <p:nvPr/>
        </p:nvSpPr>
        <p:spPr>
          <a:xfrm>
            <a:off x="4626864" y="3694176"/>
            <a:ext cx="1920240" cy="114300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46" name="Shape 44"/>
          <p:cNvSpPr/>
          <p:nvPr/>
        </p:nvSpPr>
        <p:spPr>
          <a:xfrm>
            <a:off x="4626864" y="3694176"/>
            <a:ext cx="1920240" cy="45720"/>
          </a:xfrm>
          <a:prstGeom prst="rect">
            <a:avLst/>
          </a:prstGeom>
          <a:solidFill>
            <a:srgbClr val="F59E0B"/>
          </a:solidFill>
          <a:ln w="12700">
            <a:solidFill>
              <a:srgbClr val="F59E0B"/>
            </a:solidFill>
            <a:prstDash val="solid"/>
          </a:ln>
        </p:spPr>
        <p:txBody>
          <a:bodyPr/>
          <a:lstStyle/>
          <a:p>
            <a:endParaRPr lang="en-US"/>
          </a:p>
        </p:txBody>
      </p:sp>
      <p:sp>
        <p:nvSpPr>
          <p:cNvPr id="47" name="Text 45"/>
          <p:cNvSpPr/>
          <p:nvPr/>
        </p:nvSpPr>
        <p:spPr>
          <a:xfrm>
            <a:off x="4626864" y="3822192"/>
            <a:ext cx="1920240" cy="502920"/>
          </a:xfrm>
          <a:prstGeom prst="rect">
            <a:avLst/>
          </a:prstGeom>
          <a:noFill/>
          <a:ln/>
        </p:spPr>
        <p:txBody>
          <a:bodyPr wrap="square" lIns="0" tIns="0" rIns="0" bIns="0" rtlCol="0" anchor="ctr"/>
          <a:lstStyle/>
          <a:p>
            <a:pPr marL="0" indent="0" algn="ctr">
              <a:buNone/>
            </a:pPr>
            <a:r>
              <a:rPr lang="en-US" sz="3000" b="1">
                <a:solidFill>
                  <a:srgbClr val="F59E0B"/>
                </a:solidFill>
                <a:latin typeface="Trebuchet MS" pitchFamily="34" charset="0"/>
                <a:ea typeface="Trebuchet MS" pitchFamily="34" charset="-122"/>
                <a:cs typeface="Trebuchet MS" pitchFamily="34" charset="-120"/>
              </a:rPr>
              <a:t>Cosine</a:t>
            </a:r>
            <a:endParaRPr lang="en-US" sz="3000"/>
          </a:p>
        </p:txBody>
      </p:sp>
      <p:sp>
        <p:nvSpPr>
          <p:cNvPr id="48" name="Text 46"/>
          <p:cNvSpPr/>
          <p:nvPr/>
        </p:nvSpPr>
        <p:spPr>
          <a:xfrm>
            <a:off x="4626864" y="4343400"/>
            <a:ext cx="1920240" cy="274320"/>
          </a:xfrm>
          <a:prstGeom prst="rect">
            <a:avLst/>
          </a:prstGeom>
          <a:noFill/>
          <a:ln/>
        </p:spPr>
        <p:txBody>
          <a:bodyPr wrap="square" lIns="0" tIns="0" rIns="0" bIns="0" rtlCol="0" anchor="ctr"/>
          <a:lstStyle/>
          <a:p>
            <a:pPr marL="0" indent="0" algn="ctr">
              <a:buNone/>
            </a:pPr>
            <a:r>
              <a:rPr lang="en-US" sz="900">
                <a:solidFill>
                  <a:srgbClr val="64748B"/>
                </a:solidFill>
                <a:latin typeface="Trebuchet MS" pitchFamily="34" charset="0"/>
                <a:ea typeface="Trebuchet MS" pitchFamily="34" charset="-122"/>
                <a:cs typeface="Trebuchet MS" pitchFamily="34" charset="-120"/>
              </a:rPr>
              <a:t>Similarity Metric</a:t>
            </a:r>
            <a:endParaRPr lang="en-US" sz="900"/>
          </a:p>
        </p:txBody>
      </p:sp>
      <p:sp>
        <p:nvSpPr>
          <p:cNvPr id="49" name="Shape 47"/>
          <p:cNvSpPr/>
          <p:nvPr/>
        </p:nvSpPr>
        <p:spPr>
          <a:xfrm>
            <a:off x="6711696" y="3694176"/>
            <a:ext cx="1920240" cy="114300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50" name="Shape 48"/>
          <p:cNvSpPr/>
          <p:nvPr/>
        </p:nvSpPr>
        <p:spPr>
          <a:xfrm>
            <a:off x="6711696" y="3694176"/>
            <a:ext cx="1920240" cy="45720"/>
          </a:xfrm>
          <a:prstGeom prst="rect">
            <a:avLst/>
          </a:prstGeom>
          <a:solidFill>
            <a:srgbClr val="0EA5E9"/>
          </a:solidFill>
          <a:ln w="12700">
            <a:solidFill>
              <a:srgbClr val="0EA5E9"/>
            </a:solidFill>
            <a:prstDash val="solid"/>
          </a:ln>
        </p:spPr>
        <p:txBody>
          <a:bodyPr/>
          <a:lstStyle/>
          <a:p>
            <a:endParaRPr lang="en-US"/>
          </a:p>
        </p:txBody>
      </p:sp>
      <p:sp>
        <p:nvSpPr>
          <p:cNvPr id="51" name="Text 49"/>
          <p:cNvSpPr/>
          <p:nvPr/>
        </p:nvSpPr>
        <p:spPr>
          <a:xfrm>
            <a:off x="6711696" y="3822192"/>
            <a:ext cx="1920240" cy="502920"/>
          </a:xfrm>
          <a:prstGeom prst="rect">
            <a:avLst/>
          </a:prstGeom>
          <a:noFill/>
          <a:ln/>
        </p:spPr>
        <p:txBody>
          <a:bodyPr wrap="square" lIns="0" tIns="0" rIns="0" bIns="0" rtlCol="0" anchor="ctr"/>
          <a:lstStyle/>
          <a:p>
            <a:pPr marL="0" indent="0" algn="ctr">
              <a:buNone/>
            </a:pPr>
            <a:r>
              <a:rPr lang="en-US" sz="3000" b="1">
                <a:solidFill>
                  <a:srgbClr val="0EA5E9"/>
                </a:solidFill>
                <a:latin typeface="Trebuchet MS" pitchFamily="34" charset="0"/>
                <a:ea typeface="Trebuchet MS" pitchFamily="34" charset="-122"/>
                <a:cs typeface="Trebuchet MS" pitchFamily="34" charset="-120"/>
              </a:rPr>
              <a:t>Local</a:t>
            </a:r>
            <a:endParaRPr lang="en-US" sz="3000"/>
          </a:p>
        </p:txBody>
      </p:sp>
      <p:sp>
        <p:nvSpPr>
          <p:cNvPr id="52" name="Text 50"/>
          <p:cNvSpPr/>
          <p:nvPr/>
        </p:nvSpPr>
        <p:spPr>
          <a:xfrm>
            <a:off x="6711696" y="4343400"/>
            <a:ext cx="1920240" cy="274320"/>
          </a:xfrm>
          <a:prstGeom prst="rect">
            <a:avLst/>
          </a:prstGeom>
          <a:noFill/>
          <a:ln/>
        </p:spPr>
        <p:txBody>
          <a:bodyPr wrap="square" lIns="0" tIns="0" rIns="0" bIns="0" rtlCol="0" anchor="ctr"/>
          <a:lstStyle/>
          <a:p>
            <a:pPr marL="0" indent="0" algn="ctr">
              <a:buNone/>
            </a:pPr>
            <a:r>
              <a:rPr lang="en-US" sz="900">
                <a:solidFill>
                  <a:srgbClr val="64748B"/>
                </a:solidFill>
                <a:latin typeface="Trebuchet MS" pitchFamily="34" charset="0"/>
                <a:ea typeface="Trebuchet MS" pitchFamily="34" charset="-122"/>
                <a:cs typeface="Trebuchet MS" pitchFamily="34" charset="-120"/>
              </a:rPr>
              <a:t>chroma_db/ folder</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E"/>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30352"/>
          </a:xfrm>
          <a:prstGeom prst="rect">
            <a:avLst/>
          </a:prstGeom>
          <a:noFill/>
          <a:ln/>
        </p:spPr>
        <p:txBody>
          <a:bodyPr wrap="square" lIns="0" tIns="0" rIns="0" bIns="0" rtlCol="0" anchor="ctr"/>
          <a:lstStyle/>
          <a:p>
            <a:pPr marL="0" indent="0" algn="l">
              <a:buNone/>
            </a:pPr>
            <a:r>
              <a:rPr lang="en-US" sz="2800" b="1">
                <a:solidFill>
                  <a:srgbClr val="0EA5E9"/>
                </a:solidFill>
                <a:latin typeface="Trebuchet MS" pitchFamily="34" charset="0"/>
                <a:ea typeface="Trebuchet MS" pitchFamily="34" charset="-122"/>
                <a:cs typeface="Trebuchet MS" pitchFamily="34" charset="-120"/>
              </a:rPr>
              <a:t>Step 4 — The Language Model: Generating the Answer</a:t>
            </a:r>
            <a:endParaRPr lang="en-US" sz="2800"/>
          </a:p>
        </p:txBody>
      </p:sp>
      <p:sp>
        <p:nvSpPr>
          <p:cNvPr id="3" name="Shape 1"/>
          <p:cNvSpPr/>
          <p:nvPr/>
        </p:nvSpPr>
        <p:spPr>
          <a:xfrm>
            <a:off x="457200" y="896112"/>
            <a:ext cx="8229600" cy="27432"/>
          </a:xfrm>
          <a:prstGeom prst="rect">
            <a:avLst/>
          </a:prstGeom>
          <a:solidFill>
            <a:srgbClr val="0EA5E9">
              <a:alpha val="40000"/>
            </a:srgbClr>
          </a:solidFill>
          <a:ln w="12700">
            <a:solidFill>
              <a:srgbClr val="0EA5E9">
                <a:alpha val="40000"/>
              </a:srgbClr>
            </a:solidFill>
            <a:prstDash val="solid"/>
          </a:ln>
        </p:spPr>
        <p:txBody>
          <a:bodyPr/>
          <a:lstStyle/>
          <a:p>
            <a:endParaRPr lang="en-US"/>
          </a:p>
        </p:txBody>
      </p:sp>
      <p:sp>
        <p:nvSpPr>
          <p:cNvPr id="4" name="Shape 2"/>
          <p:cNvSpPr/>
          <p:nvPr/>
        </p:nvSpPr>
        <p:spPr>
          <a:xfrm>
            <a:off x="457200" y="1024128"/>
            <a:ext cx="3931920" cy="141732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5" name="Shape 3"/>
          <p:cNvSpPr/>
          <p:nvPr/>
        </p:nvSpPr>
        <p:spPr>
          <a:xfrm>
            <a:off x="457200" y="1024128"/>
            <a:ext cx="54864" cy="1417320"/>
          </a:xfrm>
          <a:prstGeom prst="rect">
            <a:avLst/>
          </a:prstGeom>
          <a:solidFill>
            <a:srgbClr val="0EA5E9"/>
          </a:solidFill>
          <a:ln w="12700">
            <a:solidFill>
              <a:srgbClr val="0EA5E9"/>
            </a:solidFill>
            <a:prstDash val="solid"/>
          </a:ln>
        </p:spPr>
        <p:txBody>
          <a:bodyPr/>
          <a:lstStyle/>
          <a:p>
            <a:endParaRPr lang="en-US"/>
          </a:p>
        </p:txBody>
      </p:sp>
      <p:sp>
        <p:nvSpPr>
          <p:cNvPr id="6" name="Text 4"/>
          <p:cNvSpPr/>
          <p:nvPr/>
        </p:nvSpPr>
        <p:spPr>
          <a:xfrm>
            <a:off x="658368" y="1078992"/>
            <a:ext cx="3566160" cy="320040"/>
          </a:xfrm>
          <a:prstGeom prst="rect">
            <a:avLst/>
          </a:prstGeom>
          <a:noFill/>
          <a:ln/>
        </p:spPr>
        <p:txBody>
          <a:bodyPr wrap="square" lIns="0" tIns="0" rIns="0" bIns="0" rtlCol="0" anchor="ctr"/>
          <a:lstStyle/>
          <a:p>
            <a:pPr marL="0" indent="0" algn="l">
              <a:buNone/>
            </a:pPr>
            <a:r>
              <a:rPr lang="en-US" sz="1300" b="1">
                <a:solidFill>
                  <a:srgbClr val="0EA5E9"/>
                </a:solidFill>
                <a:latin typeface="Trebuchet MS" pitchFamily="34" charset="0"/>
                <a:ea typeface="Trebuchet MS" pitchFamily="34" charset="-122"/>
                <a:cs typeface="Trebuchet MS" pitchFamily="34" charset="-120"/>
              </a:rPr>
              <a:t>What the LLM Does</a:t>
            </a:r>
            <a:endParaRPr lang="en-US" sz="1300"/>
          </a:p>
        </p:txBody>
      </p:sp>
      <p:sp>
        <p:nvSpPr>
          <p:cNvPr id="7" name="Text 5"/>
          <p:cNvSpPr/>
          <p:nvPr/>
        </p:nvSpPr>
        <p:spPr>
          <a:xfrm>
            <a:off x="658368" y="1463040"/>
            <a:ext cx="3566160" cy="914400"/>
          </a:xfrm>
          <a:prstGeom prst="rect">
            <a:avLst/>
          </a:prstGeom>
          <a:noFill/>
          <a:ln/>
        </p:spPr>
        <p:txBody>
          <a:bodyPr wrap="square" lIns="0" tIns="0" rIns="0" bIns="0" rtlCol="0" anchor="ctr"/>
          <a:lstStyle/>
          <a:p>
            <a:pPr marL="0" indent="0" algn="l">
              <a:spcAft>
                <a:spcPts val="500"/>
              </a:spcAft>
              <a:buNone/>
            </a:pPr>
            <a:r>
              <a:rPr lang="en-US" sz="1000" b="1">
                <a:solidFill>
                  <a:srgbClr val="0EA5E9"/>
                </a:solidFill>
                <a:latin typeface="Trebuchet MS" pitchFamily="34" charset="0"/>
                <a:ea typeface="Trebuchet MS" pitchFamily="34" charset="-122"/>
                <a:cs typeface="Trebuchet MS" pitchFamily="34" charset="-120"/>
              </a:rPr>
              <a:t>→  </a:t>
            </a:r>
            <a:r>
              <a:rPr lang="en-US" sz="1000">
                <a:solidFill>
                  <a:srgbClr val="64748B"/>
                </a:solidFill>
                <a:latin typeface="Trebuchet MS" pitchFamily="34" charset="0"/>
                <a:ea typeface="Trebuchet MS" pitchFamily="34" charset="-122"/>
                <a:cs typeface="Trebuchet MS" pitchFamily="34" charset="-120"/>
              </a:rPr>
              <a:t>Reads the retrieved chunks + user question</a:t>
            </a:r>
            <a:endParaRPr lang="en-US" sz="1000"/>
          </a:p>
          <a:p>
            <a:pPr marL="0" indent="0" algn="l">
              <a:spcAft>
                <a:spcPts val="500"/>
              </a:spcAft>
              <a:buNone/>
            </a:pPr>
            <a:r>
              <a:rPr lang="en-US" sz="1000" b="1">
                <a:solidFill>
                  <a:srgbClr val="0EA5E9"/>
                </a:solidFill>
                <a:latin typeface="Trebuchet MS" pitchFamily="34" charset="0"/>
                <a:ea typeface="Trebuchet MS" pitchFamily="34" charset="-122"/>
                <a:cs typeface="Trebuchet MS" pitchFamily="34" charset="-120"/>
              </a:rPr>
              <a:t>→  </a:t>
            </a:r>
            <a:r>
              <a:rPr lang="en-US" sz="1000">
                <a:solidFill>
                  <a:srgbClr val="64748B"/>
                </a:solidFill>
                <a:latin typeface="Trebuchet MS" pitchFamily="34" charset="0"/>
                <a:ea typeface="Trebuchet MS" pitchFamily="34" charset="-122"/>
                <a:cs typeface="Trebuchet MS" pitchFamily="34" charset="-120"/>
              </a:rPr>
              <a:t>Follows our system prompt rules strictly</a:t>
            </a:r>
            <a:endParaRPr lang="en-US" sz="1000"/>
          </a:p>
          <a:p>
            <a:pPr marL="0" indent="0" algn="l">
              <a:spcAft>
                <a:spcPts val="500"/>
              </a:spcAft>
              <a:buNone/>
            </a:pPr>
            <a:r>
              <a:rPr lang="en-US" sz="1000" b="1">
                <a:solidFill>
                  <a:srgbClr val="0EA5E9"/>
                </a:solidFill>
                <a:latin typeface="Trebuchet MS" pitchFamily="34" charset="0"/>
                <a:ea typeface="Trebuchet MS" pitchFamily="34" charset="-122"/>
                <a:cs typeface="Trebuchet MS" pitchFamily="34" charset="-120"/>
              </a:rPr>
              <a:t>→  </a:t>
            </a:r>
            <a:r>
              <a:rPr lang="en-US" sz="1000">
                <a:solidFill>
                  <a:srgbClr val="64748B"/>
                </a:solidFill>
                <a:latin typeface="Trebuchet MS" pitchFamily="34" charset="0"/>
                <a:ea typeface="Trebuchet MS" pitchFamily="34" charset="-122"/>
                <a:cs typeface="Trebuchet MS" pitchFamily="34" charset="-120"/>
              </a:rPr>
              <a:t>Writes a clear, human-readable answer</a:t>
            </a:r>
            <a:endParaRPr lang="en-US" sz="1000"/>
          </a:p>
          <a:p>
            <a:pPr marL="0" indent="0" algn="l">
              <a:spcAft>
                <a:spcPts val="500"/>
              </a:spcAft>
              <a:buNone/>
            </a:pPr>
            <a:r>
              <a:rPr lang="en-US" sz="1000" b="1">
                <a:solidFill>
                  <a:srgbClr val="0EA5E9"/>
                </a:solidFill>
                <a:latin typeface="Trebuchet MS" pitchFamily="34" charset="0"/>
                <a:ea typeface="Trebuchet MS" pitchFamily="34" charset="-122"/>
                <a:cs typeface="Trebuchet MS" pitchFamily="34" charset="-120"/>
              </a:rPr>
              <a:t>→  </a:t>
            </a:r>
            <a:r>
              <a:rPr lang="en-US" sz="1000">
                <a:solidFill>
                  <a:srgbClr val="64748B"/>
                </a:solidFill>
                <a:latin typeface="Trebuchet MS" pitchFamily="34" charset="0"/>
                <a:ea typeface="Trebuchet MS" pitchFamily="34" charset="-122"/>
                <a:cs typeface="Trebuchet MS" pitchFamily="34" charset="-120"/>
              </a:rPr>
              <a:t>Answers ONLY from provided context</a:t>
            </a:r>
            <a:endParaRPr lang="en-US" sz="1000"/>
          </a:p>
        </p:txBody>
      </p:sp>
      <p:sp>
        <p:nvSpPr>
          <p:cNvPr id="8" name="Shape 6"/>
          <p:cNvSpPr/>
          <p:nvPr/>
        </p:nvSpPr>
        <p:spPr>
          <a:xfrm>
            <a:off x="4617720" y="1024128"/>
            <a:ext cx="4069080" cy="141732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9" name="Shape 7"/>
          <p:cNvSpPr/>
          <p:nvPr/>
        </p:nvSpPr>
        <p:spPr>
          <a:xfrm>
            <a:off x="4617720" y="1024128"/>
            <a:ext cx="54864" cy="1417320"/>
          </a:xfrm>
          <a:prstGeom prst="rect">
            <a:avLst/>
          </a:prstGeom>
          <a:solidFill>
            <a:srgbClr val="0EA5E9"/>
          </a:solidFill>
          <a:ln w="12700">
            <a:solidFill>
              <a:srgbClr val="0EA5E9"/>
            </a:solidFill>
            <a:prstDash val="solid"/>
          </a:ln>
        </p:spPr>
        <p:txBody>
          <a:bodyPr/>
          <a:lstStyle/>
          <a:p>
            <a:endParaRPr lang="en-US"/>
          </a:p>
        </p:txBody>
      </p:sp>
      <p:sp>
        <p:nvSpPr>
          <p:cNvPr id="10" name="Text 8"/>
          <p:cNvSpPr/>
          <p:nvPr/>
        </p:nvSpPr>
        <p:spPr>
          <a:xfrm>
            <a:off x="4818888" y="1078992"/>
            <a:ext cx="3657600" cy="320040"/>
          </a:xfrm>
          <a:prstGeom prst="rect">
            <a:avLst/>
          </a:prstGeom>
          <a:noFill/>
          <a:ln/>
        </p:spPr>
        <p:txBody>
          <a:bodyPr wrap="square" lIns="0" tIns="0" rIns="0" bIns="0" rtlCol="0" anchor="ctr"/>
          <a:lstStyle/>
          <a:p>
            <a:pPr marL="0" indent="0" algn="l">
              <a:buNone/>
            </a:pPr>
            <a:r>
              <a:rPr lang="en-US" sz="1300" b="1">
                <a:solidFill>
                  <a:srgbClr val="F59E0B"/>
                </a:solidFill>
                <a:latin typeface="Trebuchet MS" pitchFamily="34" charset="0"/>
                <a:ea typeface="Trebuchet MS" pitchFamily="34" charset="-122"/>
                <a:cs typeface="Trebuchet MS" pitchFamily="34" charset="-120"/>
              </a:rPr>
              <a:t>System Prompt Rules</a:t>
            </a:r>
            <a:endParaRPr lang="en-US" sz="1300"/>
          </a:p>
        </p:txBody>
      </p:sp>
      <p:sp>
        <p:nvSpPr>
          <p:cNvPr id="11" name="Text 9"/>
          <p:cNvSpPr/>
          <p:nvPr/>
        </p:nvSpPr>
        <p:spPr>
          <a:xfrm>
            <a:off x="4818888" y="1463040"/>
            <a:ext cx="3749040" cy="914400"/>
          </a:xfrm>
          <a:prstGeom prst="rect">
            <a:avLst/>
          </a:prstGeom>
          <a:noFill/>
          <a:ln/>
        </p:spPr>
        <p:txBody>
          <a:bodyPr wrap="square" lIns="0" tIns="0" rIns="0" bIns="0" rtlCol="0" anchor="ctr"/>
          <a:lstStyle/>
          <a:p>
            <a:pPr marL="0" indent="0" algn="l">
              <a:spcAft>
                <a:spcPts val="500"/>
              </a:spcAft>
              <a:buNone/>
            </a:pPr>
            <a:r>
              <a:rPr lang="en-US" sz="1000" b="1">
                <a:solidFill>
                  <a:srgbClr val="F59E0B"/>
                </a:solidFill>
                <a:latin typeface="Trebuchet MS" pitchFamily="34" charset="0"/>
                <a:ea typeface="Trebuchet MS" pitchFamily="34" charset="-122"/>
                <a:cs typeface="Trebuchet MS" pitchFamily="34" charset="-120"/>
              </a:rPr>
              <a:t>1.  </a:t>
            </a:r>
            <a:r>
              <a:rPr lang="en-US" sz="1000">
                <a:solidFill>
                  <a:srgbClr val="64748B"/>
                </a:solidFill>
                <a:latin typeface="Trebuchet MS" pitchFamily="34" charset="0"/>
                <a:ea typeface="Trebuchet MS" pitchFamily="34" charset="-122"/>
                <a:cs typeface="Trebuchet MS" pitchFamily="34" charset="-120"/>
              </a:rPr>
              <a:t>Answer ONLY from the provided context</a:t>
            </a:r>
            <a:endParaRPr lang="en-US" sz="1000"/>
          </a:p>
          <a:p>
            <a:pPr marL="0" indent="0" algn="l">
              <a:spcAft>
                <a:spcPts val="500"/>
              </a:spcAft>
              <a:buNone/>
            </a:pPr>
            <a:r>
              <a:rPr lang="en-US" sz="1000" b="1">
                <a:solidFill>
                  <a:srgbClr val="F59E0B"/>
                </a:solidFill>
                <a:latin typeface="Trebuchet MS" pitchFamily="34" charset="0"/>
                <a:ea typeface="Trebuchet MS" pitchFamily="34" charset="-122"/>
                <a:cs typeface="Trebuchet MS" pitchFamily="34" charset="-120"/>
              </a:rPr>
              <a:t>2.  </a:t>
            </a:r>
            <a:r>
              <a:rPr lang="en-US" sz="1000">
                <a:solidFill>
                  <a:srgbClr val="64748B"/>
                </a:solidFill>
                <a:latin typeface="Trebuchet MS" pitchFamily="34" charset="0"/>
                <a:ea typeface="Trebuchet MS" pitchFamily="34" charset="-122"/>
                <a:cs typeface="Trebuchet MS" pitchFamily="34" charset="-120"/>
              </a:rPr>
              <a:t>Always mention which park you discuss</a:t>
            </a:r>
            <a:endParaRPr lang="en-US" sz="1000"/>
          </a:p>
          <a:p>
            <a:pPr marL="0" indent="0" algn="l">
              <a:spcAft>
                <a:spcPts val="500"/>
              </a:spcAft>
              <a:buNone/>
            </a:pPr>
            <a:r>
              <a:rPr lang="en-US" sz="1000" b="1">
                <a:solidFill>
                  <a:srgbClr val="F59E0B"/>
                </a:solidFill>
                <a:latin typeface="Trebuchet MS" pitchFamily="34" charset="0"/>
                <a:ea typeface="Trebuchet MS" pitchFamily="34" charset="-122"/>
                <a:cs typeface="Trebuchet MS" pitchFamily="34" charset="-120"/>
              </a:rPr>
              <a:t>3.  </a:t>
            </a:r>
            <a:r>
              <a:rPr lang="en-US" sz="1000">
                <a:solidFill>
                  <a:srgbClr val="64748B"/>
                </a:solidFill>
                <a:latin typeface="Trebuchet MS" pitchFamily="34" charset="0"/>
                <a:ea typeface="Trebuchet MS" pitchFamily="34" charset="-122"/>
                <a:cs typeface="Trebuchet MS" pitchFamily="34" charset="-120"/>
              </a:rPr>
              <a:t>Say 'I don't have that info' if unsure</a:t>
            </a:r>
            <a:endParaRPr lang="en-US" sz="1000"/>
          </a:p>
          <a:p>
            <a:pPr marL="0" indent="0" algn="l">
              <a:spcAft>
                <a:spcPts val="500"/>
              </a:spcAft>
              <a:buNone/>
            </a:pPr>
            <a:r>
              <a:rPr lang="en-US" sz="1000" b="1">
                <a:solidFill>
                  <a:srgbClr val="F59E0B"/>
                </a:solidFill>
                <a:latin typeface="Trebuchet MS" pitchFamily="34" charset="0"/>
                <a:ea typeface="Trebuchet MS" pitchFamily="34" charset="-122"/>
                <a:cs typeface="Trebuchet MS" pitchFamily="34" charset="-120"/>
              </a:rPr>
              <a:t>4.  </a:t>
            </a:r>
            <a:r>
              <a:rPr lang="en-US" sz="1000">
                <a:solidFill>
                  <a:srgbClr val="64748B"/>
                </a:solidFill>
                <a:latin typeface="Trebuchet MS" pitchFamily="34" charset="0"/>
                <a:ea typeface="Trebuchet MS" pitchFamily="34" charset="-122"/>
                <a:cs typeface="Trebuchet MS" pitchFamily="34" charset="-120"/>
              </a:rPr>
              <a:t>Keep answers concise and practical</a:t>
            </a:r>
            <a:endParaRPr lang="en-US" sz="1000"/>
          </a:p>
        </p:txBody>
      </p:sp>
      <p:sp>
        <p:nvSpPr>
          <p:cNvPr id="12" name="Shape 10"/>
          <p:cNvSpPr/>
          <p:nvPr/>
        </p:nvSpPr>
        <p:spPr>
          <a:xfrm>
            <a:off x="457200" y="2542032"/>
            <a:ext cx="1371600" cy="329184"/>
          </a:xfrm>
          <a:prstGeom prst="rect">
            <a:avLst/>
          </a:prstGeom>
          <a:solidFill>
            <a:srgbClr val="0EA5E9">
              <a:alpha val="25000"/>
            </a:srgbClr>
          </a:solidFill>
          <a:ln w="12700">
            <a:solidFill>
              <a:srgbClr val="1E293B"/>
            </a:solidFill>
            <a:prstDash val="solid"/>
          </a:ln>
        </p:spPr>
        <p:txBody>
          <a:bodyPr/>
          <a:lstStyle/>
          <a:p>
            <a:endParaRPr lang="en-US"/>
          </a:p>
        </p:txBody>
      </p:sp>
      <p:sp>
        <p:nvSpPr>
          <p:cNvPr id="13" name="Text 11"/>
          <p:cNvSpPr/>
          <p:nvPr/>
        </p:nvSpPr>
        <p:spPr>
          <a:xfrm>
            <a:off x="530352" y="2542032"/>
            <a:ext cx="1371600" cy="329184"/>
          </a:xfrm>
          <a:prstGeom prst="rect">
            <a:avLst/>
          </a:prstGeom>
          <a:noFill/>
          <a:ln/>
        </p:spPr>
        <p:txBody>
          <a:bodyPr wrap="square" lIns="0" tIns="0" rIns="0" bIns="0" rtlCol="0" anchor="ctr"/>
          <a:lstStyle/>
          <a:p>
            <a:pPr marL="0" indent="0" algn="l">
              <a:buNone/>
            </a:pPr>
            <a:r>
              <a:rPr lang="en-US" sz="950" b="1">
                <a:solidFill>
                  <a:srgbClr val="0EA5E9"/>
                </a:solidFill>
                <a:latin typeface="Trebuchet MS" pitchFamily="34" charset="0"/>
                <a:ea typeface="Trebuchet MS" pitchFamily="34" charset="-122"/>
                <a:cs typeface="Trebuchet MS" pitchFamily="34" charset="-120"/>
              </a:rPr>
              <a:t>Model</a:t>
            </a:r>
            <a:endParaRPr lang="en-US" sz="950"/>
          </a:p>
        </p:txBody>
      </p:sp>
      <p:sp>
        <p:nvSpPr>
          <p:cNvPr id="14" name="Shape 12"/>
          <p:cNvSpPr/>
          <p:nvPr/>
        </p:nvSpPr>
        <p:spPr>
          <a:xfrm>
            <a:off x="1847088" y="2542032"/>
            <a:ext cx="822960" cy="329184"/>
          </a:xfrm>
          <a:prstGeom prst="rect">
            <a:avLst/>
          </a:prstGeom>
          <a:solidFill>
            <a:srgbClr val="0EA5E9">
              <a:alpha val="25000"/>
            </a:srgbClr>
          </a:solidFill>
          <a:ln w="12700">
            <a:solidFill>
              <a:srgbClr val="1E293B"/>
            </a:solidFill>
            <a:prstDash val="solid"/>
          </a:ln>
        </p:spPr>
        <p:txBody>
          <a:bodyPr/>
          <a:lstStyle/>
          <a:p>
            <a:endParaRPr lang="en-US"/>
          </a:p>
        </p:txBody>
      </p:sp>
      <p:sp>
        <p:nvSpPr>
          <p:cNvPr id="15" name="Text 13"/>
          <p:cNvSpPr/>
          <p:nvPr/>
        </p:nvSpPr>
        <p:spPr>
          <a:xfrm>
            <a:off x="1920240" y="2542032"/>
            <a:ext cx="822960" cy="329184"/>
          </a:xfrm>
          <a:prstGeom prst="rect">
            <a:avLst/>
          </a:prstGeom>
          <a:noFill/>
          <a:ln/>
        </p:spPr>
        <p:txBody>
          <a:bodyPr wrap="square" lIns="0" tIns="0" rIns="0" bIns="0" rtlCol="0" anchor="ctr"/>
          <a:lstStyle/>
          <a:p>
            <a:pPr marL="0" indent="0" algn="l">
              <a:buNone/>
            </a:pPr>
            <a:r>
              <a:rPr lang="en-US" sz="950" b="1">
                <a:solidFill>
                  <a:srgbClr val="0EA5E9"/>
                </a:solidFill>
                <a:latin typeface="Trebuchet MS" pitchFamily="34" charset="0"/>
                <a:ea typeface="Trebuchet MS" pitchFamily="34" charset="-122"/>
                <a:cs typeface="Trebuchet MS" pitchFamily="34" charset="-120"/>
              </a:rPr>
              <a:t>Size</a:t>
            </a:r>
            <a:endParaRPr lang="en-US" sz="950"/>
          </a:p>
        </p:txBody>
      </p:sp>
      <p:sp>
        <p:nvSpPr>
          <p:cNvPr id="16" name="Shape 14"/>
          <p:cNvSpPr/>
          <p:nvPr/>
        </p:nvSpPr>
        <p:spPr>
          <a:xfrm>
            <a:off x="2688336" y="2542032"/>
            <a:ext cx="1371600" cy="329184"/>
          </a:xfrm>
          <a:prstGeom prst="rect">
            <a:avLst/>
          </a:prstGeom>
          <a:solidFill>
            <a:srgbClr val="0EA5E9">
              <a:alpha val="25000"/>
            </a:srgbClr>
          </a:solidFill>
          <a:ln w="12700">
            <a:solidFill>
              <a:srgbClr val="1E293B"/>
            </a:solidFill>
            <a:prstDash val="solid"/>
          </a:ln>
        </p:spPr>
        <p:txBody>
          <a:bodyPr/>
          <a:lstStyle/>
          <a:p>
            <a:endParaRPr lang="en-US"/>
          </a:p>
        </p:txBody>
      </p:sp>
      <p:sp>
        <p:nvSpPr>
          <p:cNvPr id="17" name="Text 15"/>
          <p:cNvSpPr/>
          <p:nvPr/>
        </p:nvSpPr>
        <p:spPr>
          <a:xfrm>
            <a:off x="2761488" y="2542032"/>
            <a:ext cx="1371600" cy="329184"/>
          </a:xfrm>
          <a:prstGeom prst="rect">
            <a:avLst/>
          </a:prstGeom>
          <a:noFill/>
          <a:ln/>
        </p:spPr>
        <p:txBody>
          <a:bodyPr wrap="square" lIns="0" tIns="0" rIns="0" bIns="0" rtlCol="0" anchor="ctr"/>
          <a:lstStyle/>
          <a:p>
            <a:pPr marL="0" indent="0" algn="l">
              <a:buNone/>
            </a:pPr>
            <a:r>
              <a:rPr lang="en-US" sz="950" b="1">
                <a:solidFill>
                  <a:srgbClr val="0EA5E9"/>
                </a:solidFill>
                <a:latin typeface="Trebuchet MS" pitchFamily="34" charset="0"/>
                <a:ea typeface="Trebuchet MS" pitchFamily="34" charset="-122"/>
                <a:cs typeface="Trebuchet MS" pitchFamily="34" charset="-120"/>
              </a:rPr>
              <a:t>Speed on CPU</a:t>
            </a:r>
            <a:endParaRPr lang="en-US" sz="950"/>
          </a:p>
        </p:txBody>
      </p:sp>
      <p:sp>
        <p:nvSpPr>
          <p:cNvPr id="18" name="Shape 16"/>
          <p:cNvSpPr/>
          <p:nvPr/>
        </p:nvSpPr>
        <p:spPr>
          <a:xfrm>
            <a:off x="4078224" y="2542032"/>
            <a:ext cx="1005840" cy="329184"/>
          </a:xfrm>
          <a:prstGeom prst="rect">
            <a:avLst/>
          </a:prstGeom>
          <a:solidFill>
            <a:srgbClr val="0EA5E9">
              <a:alpha val="25000"/>
            </a:srgbClr>
          </a:solidFill>
          <a:ln w="12700">
            <a:solidFill>
              <a:srgbClr val="1E293B"/>
            </a:solidFill>
            <a:prstDash val="solid"/>
          </a:ln>
        </p:spPr>
        <p:txBody>
          <a:bodyPr/>
          <a:lstStyle/>
          <a:p>
            <a:endParaRPr lang="en-US"/>
          </a:p>
        </p:txBody>
      </p:sp>
      <p:sp>
        <p:nvSpPr>
          <p:cNvPr id="19" name="Text 17"/>
          <p:cNvSpPr/>
          <p:nvPr/>
        </p:nvSpPr>
        <p:spPr>
          <a:xfrm>
            <a:off x="4151376" y="2542032"/>
            <a:ext cx="1005840" cy="329184"/>
          </a:xfrm>
          <a:prstGeom prst="rect">
            <a:avLst/>
          </a:prstGeom>
          <a:noFill/>
          <a:ln/>
        </p:spPr>
        <p:txBody>
          <a:bodyPr wrap="square" lIns="0" tIns="0" rIns="0" bIns="0" rtlCol="0" anchor="ctr"/>
          <a:lstStyle/>
          <a:p>
            <a:pPr marL="0" indent="0" algn="l">
              <a:buNone/>
            </a:pPr>
            <a:r>
              <a:rPr lang="en-US" sz="950" b="1">
                <a:solidFill>
                  <a:srgbClr val="0EA5E9"/>
                </a:solidFill>
                <a:latin typeface="Trebuchet MS" pitchFamily="34" charset="0"/>
                <a:ea typeface="Trebuchet MS" pitchFamily="34" charset="-122"/>
                <a:cs typeface="Trebuchet MS" pitchFamily="34" charset="-120"/>
              </a:rPr>
              <a:t>Quality</a:t>
            </a:r>
            <a:endParaRPr lang="en-US" sz="950"/>
          </a:p>
        </p:txBody>
      </p:sp>
      <p:sp>
        <p:nvSpPr>
          <p:cNvPr id="20" name="Shape 18"/>
          <p:cNvSpPr/>
          <p:nvPr/>
        </p:nvSpPr>
        <p:spPr>
          <a:xfrm>
            <a:off x="5102352" y="2542032"/>
            <a:ext cx="3200400" cy="329184"/>
          </a:xfrm>
          <a:prstGeom prst="rect">
            <a:avLst/>
          </a:prstGeom>
          <a:solidFill>
            <a:srgbClr val="0EA5E9">
              <a:alpha val="25000"/>
            </a:srgbClr>
          </a:solidFill>
          <a:ln w="12700">
            <a:solidFill>
              <a:srgbClr val="1E293B"/>
            </a:solidFill>
            <a:prstDash val="solid"/>
          </a:ln>
        </p:spPr>
        <p:txBody>
          <a:bodyPr/>
          <a:lstStyle/>
          <a:p>
            <a:endParaRPr lang="en-US"/>
          </a:p>
        </p:txBody>
      </p:sp>
      <p:sp>
        <p:nvSpPr>
          <p:cNvPr id="21" name="Text 19"/>
          <p:cNvSpPr/>
          <p:nvPr/>
        </p:nvSpPr>
        <p:spPr>
          <a:xfrm>
            <a:off x="5175504" y="2542032"/>
            <a:ext cx="3200400" cy="329184"/>
          </a:xfrm>
          <a:prstGeom prst="rect">
            <a:avLst/>
          </a:prstGeom>
          <a:noFill/>
          <a:ln/>
        </p:spPr>
        <p:txBody>
          <a:bodyPr wrap="square" lIns="0" tIns="0" rIns="0" bIns="0" rtlCol="0" anchor="ctr"/>
          <a:lstStyle/>
          <a:p>
            <a:pPr marL="0" indent="0" algn="l">
              <a:buNone/>
            </a:pPr>
            <a:r>
              <a:rPr lang="en-US" sz="950" b="1">
                <a:solidFill>
                  <a:srgbClr val="0EA5E9"/>
                </a:solidFill>
                <a:latin typeface="Trebuchet MS" pitchFamily="34" charset="0"/>
                <a:ea typeface="Trebuchet MS" pitchFamily="34" charset="-122"/>
                <a:cs typeface="Trebuchet MS" pitchFamily="34" charset="-120"/>
              </a:rPr>
              <a:t>Decision</a:t>
            </a:r>
            <a:endParaRPr lang="en-US" sz="950"/>
          </a:p>
        </p:txBody>
      </p:sp>
      <p:sp>
        <p:nvSpPr>
          <p:cNvPr id="22" name="Shape 20"/>
          <p:cNvSpPr/>
          <p:nvPr/>
        </p:nvSpPr>
        <p:spPr>
          <a:xfrm>
            <a:off x="457200" y="2871216"/>
            <a:ext cx="1371600" cy="365760"/>
          </a:xfrm>
          <a:prstGeom prst="rect">
            <a:avLst/>
          </a:prstGeom>
          <a:solidFill>
            <a:srgbClr val="111827"/>
          </a:solidFill>
          <a:ln w="12700">
            <a:solidFill>
              <a:srgbClr val="1E293B"/>
            </a:solidFill>
            <a:prstDash val="solid"/>
          </a:ln>
        </p:spPr>
        <p:txBody>
          <a:bodyPr/>
          <a:lstStyle/>
          <a:p>
            <a:endParaRPr lang="en-US"/>
          </a:p>
        </p:txBody>
      </p:sp>
      <p:sp>
        <p:nvSpPr>
          <p:cNvPr id="23" name="Text 21"/>
          <p:cNvSpPr/>
          <p:nvPr/>
        </p:nvSpPr>
        <p:spPr>
          <a:xfrm>
            <a:off x="530352" y="2889504"/>
            <a:ext cx="1280160" cy="329184"/>
          </a:xfrm>
          <a:prstGeom prst="rect">
            <a:avLst/>
          </a:prstGeom>
          <a:noFill/>
          <a:ln/>
        </p:spPr>
        <p:txBody>
          <a:bodyPr wrap="square" lIns="0" tIns="0" rIns="0" bIns="0" rtlCol="0" anchor="ctr"/>
          <a:lstStyle/>
          <a:p>
            <a:pPr marL="0" indent="0" algn="l">
              <a:buNone/>
            </a:pPr>
            <a:r>
              <a:rPr lang="en-US" sz="950" b="1">
                <a:solidFill>
                  <a:srgbClr val="F1F5F9"/>
                </a:solidFill>
                <a:latin typeface="Trebuchet MS" pitchFamily="34" charset="0"/>
                <a:ea typeface="Trebuchet MS" pitchFamily="34" charset="-122"/>
                <a:cs typeface="Trebuchet MS" pitchFamily="34" charset="-120"/>
              </a:rPr>
              <a:t>llama3.2:3b</a:t>
            </a:r>
            <a:endParaRPr lang="en-US" sz="950"/>
          </a:p>
        </p:txBody>
      </p:sp>
      <p:sp>
        <p:nvSpPr>
          <p:cNvPr id="24" name="Shape 22"/>
          <p:cNvSpPr/>
          <p:nvPr/>
        </p:nvSpPr>
        <p:spPr>
          <a:xfrm>
            <a:off x="1847088" y="2871216"/>
            <a:ext cx="822960" cy="365760"/>
          </a:xfrm>
          <a:prstGeom prst="rect">
            <a:avLst/>
          </a:prstGeom>
          <a:solidFill>
            <a:srgbClr val="111827"/>
          </a:solidFill>
          <a:ln w="12700">
            <a:solidFill>
              <a:srgbClr val="1E293B"/>
            </a:solidFill>
            <a:prstDash val="solid"/>
          </a:ln>
        </p:spPr>
        <p:txBody>
          <a:bodyPr/>
          <a:lstStyle/>
          <a:p>
            <a:endParaRPr lang="en-US"/>
          </a:p>
        </p:txBody>
      </p:sp>
      <p:sp>
        <p:nvSpPr>
          <p:cNvPr id="25" name="Text 23"/>
          <p:cNvSpPr/>
          <p:nvPr/>
        </p:nvSpPr>
        <p:spPr>
          <a:xfrm>
            <a:off x="1920240" y="2889504"/>
            <a:ext cx="731520" cy="329184"/>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2.0 GB</a:t>
            </a:r>
            <a:endParaRPr lang="en-US" sz="950"/>
          </a:p>
        </p:txBody>
      </p:sp>
      <p:sp>
        <p:nvSpPr>
          <p:cNvPr id="26" name="Shape 24"/>
          <p:cNvSpPr/>
          <p:nvPr/>
        </p:nvSpPr>
        <p:spPr>
          <a:xfrm>
            <a:off x="2688336" y="2871216"/>
            <a:ext cx="1371600" cy="365760"/>
          </a:xfrm>
          <a:prstGeom prst="rect">
            <a:avLst/>
          </a:prstGeom>
          <a:solidFill>
            <a:srgbClr val="111827"/>
          </a:solidFill>
          <a:ln w="12700">
            <a:solidFill>
              <a:srgbClr val="1E293B"/>
            </a:solidFill>
            <a:prstDash val="solid"/>
          </a:ln>
        </p:spPr>
        <p:txBody>
          <a:bodyPr/>
          <a:lstStyle/>
          <a:p>
            <a:endParaRPr lang="en-US"/>
          </a:p>
        </p:txBody>
      </p:sp>
      <p:sp>
        <p:nvSpPr>
          <p:cNvPr id="27" name="Text 25"/>
          <p:cNvSpPr/>
          <p:nvPr/>
        </p:nvSpPr>
        <p:spPr>
          <a:xfrm>
            <a:off x="2761488" y="2889504"/>
            <a:ext cx="1280160" cy="329184"/>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Slow</a:t>
            </a:r>
            <a:endParaRPr lang="en-US" sz="950"/>
          </a:p>
        </p:txBody>
      </p:sp>
      <p:sp>
        <p:nvSpPr>
          <p:cNvPr id="28" name="Shape 26"/>
          <p:cNvSpPr/>
          <p:nvPr/>
        </p:nvSpPr>
        <p:spPr>
          <a:xfrm>
            <a:off x="4078224" y="2871216"/>
            <a:ext cx="1005840" cy="365760"/>
          </a:xfrm>
          <a:prstGeom prst="rect">
            <a:avLst/>
          </a:prstGeom>
          <a:solidFill>
            <a:srgbClr val="111827"/>
          </a:solidFill>
          <a:ln w="12700">
            <a:solidFill>
              <a:srgbClr val="1E293B"/>
            </a:solidFill>
            <a:prstDash val="solid"/>
          </a:ln>
        </p:spPr>
        <p:txBody>
          <a:bodyPr/>
          <a:lstStyle/>
          <a:p>
            <a:endParaRPr lang="en-US"/>
          </a:p>
        </p:txBody>
      </p:sp>
      <p:sp>
        <p:nvSpPr>
          <p:cNvPr id="29" name="Text 27"/>
          <p:cNvSpPr/>
          <p:nvPr/>
        </p:nvSpPr>
        <p:spPr>
          <a:xfrm>
            <a:off x="4151376" y="2889504"/>
            <a:ext cx="914400" cy="329184"/>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Very Good</a:t>
            </a:r>
            <a:endParaRPr lang="en-US" sz="950"/>
          </a:p>
        </p:txBody>
      </p:sp>
      <p:sp>
        <p:nvSpPr>
          <p:cNvPr id="30" name="Shape 28"/>
          <p:cNvSpPr/>
          <p:nvPr/>
        </p:nvSpPr>
        <p:spPr>
          <a:xfrm>
            <a:off x="5102352" y="2871216"/>
            <a:ext cx="3200400" cy="365760"/>
          </a:xfrm>
          <a:prstGeom prst="rect">
            <a:avLst/>
          </a:prstGeom>
          <a:solidFill>
            <a:srgbClr val="111827"/>
          </a:solidFill>
          <a:ln w="12700">
            <a:solidFill>
              <a:srgbClr val="1E293B"/>
            </a:solidFill>
            <a:prstDash val="solid"/>
          </a:ln>
        </p:spPr>
        <p:txBody>
          <a:bodyPr/>
          <a:lstStyle/>
          <a:p>
            <a:endParaRPr lang="en-US"/>
          </a:p>
        </p:txBody>
      </p:sp>
      <p:sp>
        <p:nvSpPr>
          <p:cNvPr id="31" name="Text 29"/>
          <p:cNvSpPr/>
          <p:nvPr/>
        </p:nvSpPr>
        <p:spPr>
          <a:xfrm>
            <a:off x="5175504" y="2889504"/>
            <a:ext cx="3108960" cy="329184"/>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Too large for 8GB RAM</a:t>
            </a:r>
            <a:endParaRPr lang="en-US" sz="950"/>
          </a:p>
        </p:txBody>
      </p:sp>
      <p:sp>
        <p:nvSpPr>
          <p:cNvPr id="32" name="Shape 30"/>
          <p:cNvSpPr/>
          <p:nvPr/>
        </p:nvSpPr>
        <p:spPr>
          <a:xfrm>
            <a:off x="457200" y="3255264"/>
            <a:ext cx="1371600" cy="365760"/>
          </a:xfrm>
          <a:prstGeom prst="rect">
            <a:avLst/>
          </a:prstGeom>
          <a:solidFill>
            <a:srgbClr val="10B981">
              <a:alpha val="15000"/>
            </a:srgbClr>
          </a:solidFill>
          <a:ln w="12700">
            <a:solidFill>
              <a:srgbClr val="10B981"/>
            </a:solidFill>
            <a:prstDash val="solid"/>
          </a:ln>
        </p:spPr>
        <p:txBody>
          <a:bodyPr/>
          <a:lstStyle/>
          <a:p>
            <a:endParaRPr lang="en-US"/>
          </a:p>
        </p:txBody>
      </p:sp>
      <p:sp>
        <p:nvSpPr>
          <p:cNvPr id="33" name="Text 31"/>
          <p:cNvSpPr/>
          <p:nvPr/>
        </p:nvSpPr>
        <p:spPr>
          <a:xfrm>
            <a:off x="530352" y="3273552"/>
            <a:ext cx="1280160" cy="329184"/>
          </a:xfrm>
          <a:prstGeom prst="rect">
            <a:avLst/>
          </a:prstGeom>
          <a:noFill/>
          <a:ln/>
        </p:spPr>
        <p:txBody>
          <a:bodyPr wrap="square" lIns="0" tIns="0" rIns="0" bIns="0" rtlCol="0" anchor="ctr"/>
          <a:lstStyle/>
          <a:p>
            <a:pPr marL="0" indent="0" algn="l">
              <a:buNone/>
            </a:pPr>
            <a:r>
              <a:rPr lang="en-US" sz="950" b="1">
                <a:solidFill>
                  <a:srgbClr val="F1F5F9"/>
                </a:solidFill>
                <a:latin typeface="Trebuchet MS" pitchFamily="34" charset="0"/>
                <a:ea typeface="Trebuchet MS" pitchFamily="34" charset="-122"/>
                <a:cs typeface="Trebuchet MS" pitchFamily="34" charset="-120"/>
              </a:rPr>
              <a:t>gemma2:2b</a:t>
            </a:r>
            <a:endParaRPr lang="en-US" sz="950"/>
          </a:p>
        </p:txBody>
      </p:sp>
      <p:sp>
        <p:nvSpPr>
          <p:cNvPr id="34" name="Shape 32"/>
          <p:cNvSpPr/>
          <p:nvPr/>
        </p:nvSpPr>
        <p:spPr>
          <a:xfrm>
            <a:off x="1847088" y="3255264"/>
            <a:ext cx="822960" cy="365760"/>
          </a:xfrm>
          <a:prstGeom prst="rect">
            <a:avLst/>
          </a:prstGeom>
          <a:solidFill>
            <a:srgbClr val="10B981">
              <a:alpha val="15000"/>
            </a:srgbClr>
          </a:solidFill>
          <a:ln w="12700">
            <a:solidFill>
              <a:srgbClr val="10B981"/>
            </a:solidFill>
            <a:prstDash val="solid"/>
          </a:ln>
        </p:spPr>
        <p:txBody>
          <a:bodyPr/>
          <a:lstStyle/>
          <a:p>
            <a:endParaRPr lang="en-US"/>
          </a:p>
        </p:txBody>
      </p:sp>
      <p:sp>
        <p:nvSpPr>
          <p:cNvPr id="35" name="Text 33"/>
          <p:cNvSpPr/>
          <p:nvPr/>
        </p:nvSpPr>
        <p:spPr>
          <a:xfrm>
            <a:off x="1920240" y="3273552"/>
            <a:ext cx="731520" cy="329184"/>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1.6 GB</a:t>
            </a:r>
            <a:endParaRPr lang="en-US" sz="950"/>
          </a:p>
        </p:txBody>
      </p:sp>
      <p:sp>
        <p:nvSpPr>
          <p:cNvPr id="36" name="Shape 34"/>
          <p:cNvSpPr/>
          <p:nvPr/>
        </p:nvSpPr>
        <p:spPr>
          <a:xfrm>
            <a:off x="2688336" y="3255264"/>
            <a:ext cx="1371600" cy="365760"/>
          </a:xfrm>
          <a:prstGeom prst="rect">
            <a:avLst/>
          </a:prstGeom>
          <a:solidFill>
            <a:srgbClr val="10B981">
              <a:alpha val="15000"/>
            </a:srgbClr>
          </a:solidFill>
          <a:ln w="12700">
            <a:solidFill>
              <a:srgbClr val="10B981"/>
            </a:solidFill>
            <a:prstDash val="solid"/>
          </a:ln>
        </p:spPr>
        <p:txBody>
          <a:bodyPr/>
          <a:lstStyle/>
          <a:p>
            <a:endParaRPr lang="en-US"/>
          </a:p>
        </p:txBody>
      </p:sp>
      <p:sp>
        <p:nvSpPr>
          <p:cNvPr id="37" name="Text 35"/>
          <p:cNvSpPr/>
          <p:nvPr/>
        </p:nvSpPr>
        <p:spPr>
          <a:xfrm>
            <a:off x="2761488" y="3273552"/>
            <a:ext cx="1280160" cy="329184"/>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Moderate</a:t>
            </a:r>
            <a:endParaRPr lang="en-US" sz="950"/>
          </a:p>
        </p:txBody>
      </p:sp>
      <p:sp>
        <p:nvSpPr>
          <p:cNvPr id="38" name="Shape 36"/>
          <p:cNvSpPr/>
          <p:nvPr/>
        </p:nvSpPr>
        <p:spPr>
          <a:xfrm>
            <a:off x="4078224" y="3255264"/>
            <a:ext cx="1005840" cy="365760"/>
          </a:xfrm>
          <a:prstGeom prst="rect">
            <a:avLst/>
          </a:prstGeom>
          <a:solidFill>
            <a:srgbClr val="10B981">
              <a:alpha val="15000"/>
            </a:srgbClr>
          </a:solidFill>
          <a:ln w="12700">
            <a:solidFill>
              <a:srgbClr val="10B981"/>
            </a:solidFill>
            <a:prstDash val="solid"/>
          </a:ln>
        </p:spPr>
        <p:txBody>
          <a:bodyPr/>
          <a:lstStyle/>
          <a:p>
            <a:endParaRPr lang="en-US"/>
          </a:p>
        </p:txBody>
      </p:sp>
      <p:sp>
        <p:nvSpPr>
          <p:cNvPr id="39" name="Text 37"/>
          <p:cNvSpPr/>
          <p:nvPr/>
        </p:nvSpPr>
        <p:spPr>
          <a:xfrm>
            <a:off x="4151376" y="3273552"/>
            <a:ext cx="914400" cy="329184"/>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Good</a:t>
            </a:r>
            <a:endParaRPr lang="en-US" sz="950"/>
          </a:p>
        </p:txBody>
      </p:sp>
      <p:sp>
        <p:nvSpPr>
          <p:cNvPr id="40" name="Shape 38"/>
          <p:cNvSpPr/>
          <p:nvPr/>
        </p:nvSpPr>
        <p:spPr>
          <a:xfrm>
            <a:off x="5102352" y="3255264"/>
            <a:ext cx="3200400" cy="365760"/>
          </a:xfrm>
          <a:prstGeom prst="rect">
            <a:avLst/>
          </a:prstGeom>
          <a:solidFill>
            <a:srgbClr val="10B981">
              <a:alpha val="15000"/>
            </a:srgbClr>
          </a:solidFill>
          <a:ln w="12700">
            <a:solidFill>
              <a:srgbClr val="10B981"/>
            </a:solidFill>
            <a:prstDash val="solid"/>
          </a:ln>
        </p:spPr>
        <p:txBody>
          <a:bodyPr/>
          <a:lstStyle/>
          <a:p>
            <a:endParaRPr lang="en-US"/>
          </a:p>
        </p:txBody>
      </p:sp>
      <p:sp>
        <p:nvSpPr>
          <p:cNvPr id="41" name="Text 39"/>
          <p:cNvSpPr/>
          <p:nvPr/>
        </p:nvSpPr>
        <p:spPr>
          <a:xfrm>
            <a:off x="5175504" y="3273552"/>
            <a:ext cx="3108960" cy="329184"/>
          </a:xfrm>
          <a:prstGeom prst="rect">
            <a:avLst/>
          </a:prstGeom>
          <a:noFill/>
          <a:ln/>
        </p:spPr>
        <p:txBody>
          <a:bodyPr wrap="square" lIns="0" tIns="0" rIns="0" bIns="0" rtlCol="0" anchor="ctr"/>
          <a:lstStyle/>
          <a:p>
            <a:pPr marL="0" indent="0" algn="l">
              <a:buNone/>
            </a:pPr>
            <a:r>
              <a:rPr lang="en-US" sz="950" b="1">
                <a:solidFill>
                  <a:srgbClr val="10B981"/>
                </a:solidFill>
                <a:latin typeface="Trebuchet MS" pitchFamily="34" charset="0"/>
                <a:ea typeface="Trebuchet MS" pitchFamily="34" charset="-122"/>
                <a:cs typeface="Trebuchet MS" pitchFamily="34" charset="-120"/>
              </a:rPr>
              <a:t>✓ CHOSEN</a:t>
            </a:r>
            <a:endParaRPr lang="en-US" sz="950"/>
          </a:p>
        </p:txBody>
      </p:sp>
      <p:sp>
        <p:nvSpPr>
          <p:cNvPr id="42" name="Shape 40"/>
          <p:cNvSpPr/>
          <p:nvPr/>
        </p:nvSpPr>
        <p:spPr>
          <a:xfrm>
            <a:off x="457200" y="3639312"/>
            <a:ext cx="1371600" cy="365760"/>
          </a:xfrm>
          <a:prstGeom prst="rect">
            <a:avLst/>
          </a:prstGeom>
          <a:solidFill>
            <a:srgbClr val="111827"/>
          </a:solidFill>
          <a:ln w="12700">
            <a:solidFill>
              <a:srgbClr val="1E293B"/>
            </a:solidFill>
            <a:prstDash val="solid"/>
          </a:ln>
        </p:spPr>
        <p:txBody>
          <a:bodyPr/>
          <a:lstStyle/>
          <a:p>
            <a:endParaRPr lang="en-US"/>
          </a:p>
        </p:txBody>
      </p:sp>
      <p:sp>
        <p:nvSpPr>
          <p:cNvPr id="43" name="Text 41"/>
          <p:cNvSpPr/>
          <p:nvPr/>
        </p:nvSpPr>
        <p:spPr>
          <a:xfrm>
            <a:off x="530352" y="3657600"/>
            <a:ext cx="1280160" cy="329184"/>
          </a:xfrm>
          <a:prstGeom prst="rect">
            <a:avLst/>
          </a:prstGeom>
          <a:noFill/>
          <a:ln/>
        </p:spPr>
        <p:txBody>
          <a:bodyPr wrap="square" lIns="0" tIns="0" rIns="0" bIns="0" rtlCol="0" anchor="ctr"/>
          <a:lstStyle/>
          <a:p>
            <a:pPr marL="0" indent="0" algn="l">
              <a:buNone/>
            </a:pPr>
            <a:r>
              <a:rPr lang="en-US" sz="950" b="1">
                <a:solidFill>
                  <a:srgbClr val="F1F5F9"/>
                </a:solidFill>
                <a:latin typeface="Trebuchet MS" pitchFamily="34" charset="0"/>
                <a:ea typeface="Trebuchet MS" pitchFamily="34" charset="-122"/>
                <a:cs typeface="Trebuchet MS" pitchFamily="34" charset="-120"/>
              </a:rPr>
              <a:t>qwen2:0.5b</a:t>
            </a:r>
            <a:endParaRPr lang="en-US" sz="950"/>
          </a:p>
        </p:txBody>
      </p:sp>
      <p:sp>
        <p:nvSpPr>
          <p:cNvPr id="44" name="Shape 42"/>
          <p:cNvSpPr/>
          <p:nvPr/>
        </p:nvSpPr>
        <p:spPr>
          <a:xfrm>
            <a:off x="1847088" y="3639312"/>
            <a:ext cx="822960" cy="365760"/>
          </a:xfrm>
          <a:prstGeom prst="rect">
            <a:avLst/>
          </a:prstGeom>
          <a:solidFill>
            <a:srgbClr val="111827"/>
          </a:solidFill>
          <a:ln w="12700">
            <a:solidFill>
              <a:srgbClr val="1E293B"/>
            </a:solidFill>
            <a:prstDash val="solid"/>
          </a:ln>
        </p:spPr>
        <p:txBody>
          <a:bodyPr/>
          <a:lstStyle/>
          <a:p>
            <a:endParaRPr lang="en-US"/>
          </a:p>
        </p:txBody>
      </p:sp>
      <p:sp>
        <p:nvSpPr>
          <p:cNvPr id="45" name="Text 43"/>
          <p:cNvSpPr/>
          <p:nvPr/>
        </p:nvSpPr>
        <p:spPr>
          <a:xfrm>
            <a:off x="1920240" y="3657600"/>
            <a:ext cx="731520" cy="329184"/>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352 MB</a:t>
            </a:r>
            <a:endParaRPr lang="en-US" sz="950"/>
          </a:p>
        </p:txBody>
      </p:sp>
      <p:sp>
        <p:nvSpPr>
          <p:cNvPr id="46" name="Shape 44"/>
          <p:cNvSpPr/>
          <p:nvPr/>
        </p:nvSpPr>
        <p:spPr>
          <a:xfrm>
            <a:off x="2688336" y="3639312"/>
            <a:ext cx="1371600" cy="365760"/>
          </a:xfrm>
          <a:prstGeom prst="rect">
            <a:avLst/>
          </a:prstGeom>
          <a:solidFill>
            <a:srgbClr val="111827"/>
          </a:solidFill>
          <a:ln w="12700">
            <a:solidFill>
              <a:srgbClr val="1E293B"/>
            </a:solidFill>
            <a:prstDash val="solid"/>
          </a:ln>
        </p:spPr>
        <p:txBody>
          <a:bodyPr/>
          <a:lstStyle/>
          <a:p>
            <a:endParaRPr lang="en-US"/>
          </a:p>
        </p:txBody>
      </p:sp>
      <p:sp>
        <p:nvSpPr>
          <p:cNvPr id="47" name="Text 45"/>
          <p:cNvSpPr/>
          <p:nvPr/>
        </p:nvSpPr>
        <p:spPr>
          <a:xfrm>
            <a:off x="2761488" y="3657600"/>
            <a:ext cx="1280160" cy="329184"/>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Fast</a:t>
            </a:r>
            <a:endParaRPr lang="en-US" sz="950"/>
          </a:p>
        </p:txBody>
      </p:sp>
      <p:sp>
        <p:nvSpPr>
          <p:cNvPr id="48" name="Shape 46"/>
          <p:cNvSpPr/>
          <p:nvPr/>
        </p:nvSpPr>
        <p:spPr>
          <a:xfrm>
            <a:off x="4078224" y="3639312"/>
            <a:ext cx="1005840" cy="365760"/>
          </a:xfrm>
          <a:prstGeom prst="rect">
            <a:avLst/>
          </a:prstGeom>
          <a:solidFill>
            <a:srgbClr val="111827"/>
          </a:solidFill>
          <a:ln w="12700">
            <a:solidFill>
              <a:srgbClr val="1E293B"/>
            </a:solidFill>
            <a:prstDash val="solid"/>
          </a:ln>
        </p:spPr>
        <p:txBody>
          <a:bodyPr/>
          <a:lstStyle/>
          <a:p>
            <a:endParaRPr lang="en-US"/>
          </a:p>
        </p:txBody>
      </p:sp>
      <p:sp>
        <p:nvSpPr>
          <p:cNvPr id="49" name="Text 47"/>
          <p:cNvSpPr/>
          <p:nvPr/>
        </p:nvSpPr>
        <p:spPr>
          <a:xfrm>
            <a:off x="4151376" y="3657600"/>
            <a:ext cx="914400" cy="329184"/>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Basic</a:t>
            </a:r>
            <a:endParaRPr lang="en-US" sz="950"/>
          </a:p>
        </p:txBody>
      </p:sp>
      <p:sp>
        <p:nvSpPr>
          <p:cNvPr id="50" name="Shape 48"/>
          <p:cNvSpPr/>
          <p:nvPr/>
        </p:nvSpPr>
        <p:spPr>
          <a:xfrm>
            <a:off x="5102352" y="3639312"/>
            <a:ext cx="3200400" cy="365760"/>
          </a:xfrm>
          <a:prstGeom prst="rect">
            <a:avLst/>
          </a:prstGeom>
          <a:solidFill>
            <a:srgbClr val="111827"/>
          </a:solidFill>
          <a:ln w="12700">
            <a:solidFill>
              <a:srgbClr val="1E293B"/>
            </a:solidFill>
            <a:prstDash val="solid"/>
          </a:ln>
        </p:spPr>
        <p:txBody>
          <a:bodyPr/>
          <a:lstStyle/>
          <a:p>
            <a:endParaRPr lang="en-US"/>
          </a:p>
        </p:txBody>
      </p:sp>
      <p:sp>
        <p:nvSpPr>
          <p:cNvPr id="51" name="Text 49"/>
          <p:cNvSpPr/>
          <p:nvPr/>
        </p:nvSpPr>
        <p:spPr>
          <a:xfrm>
            <a:off x="5175504" y="3657600"/>
            <a:ext cx="3108960" cy="329184"/>
          </a:xfrm>
          <a:prstGeom prst="rect">
            <a:avLst/>
          </a:prstGeom>
          <a:noFill/>
          <a:ln/>
        </p:spPr>
        <p:txBody>
          <a:bodyPr wrap="square" lIns="0" tIns="0" rIns="0" bIns="0" rtlCol="0" anchor="ctr"/>
          <a:lstStyle/>
          <a:p>
            <a:pPr marL="0" indent="0" algn="l">
              <a:buNone/>
            </a:pPr>
            <a:r>
              <a:rPr lang="en-US" sz="950">
                <a:solidFill>
                  <a:srgbClr val="64748B"/>
                </a:solidFill>
                <a:latin typeface="Trebuchet MS" pitchFamily="34" charset="0"/>
                <a:ea typeface="Trebuchet MS" pitchFamily="34" charset="-122"/>
                <a:cs typeface="Trebuchet MS" pitchFamily="34" charset="-120"/>
              </a:rPr>
              <a:t>Poor instruction follow</a:t>
            </a:r>
            <a:endParaRPr lang="en-US" sz="950"/>
          </a:p>
        </p:txBody>
      </p:sp>
      <p:sp>
        <p:nvSpPr>
          <p:cNvPr id="52" name="Text 50"/>
          <p:cNvSpPr/>
          <p:nvPr/>
        </p:nvSpPr>
        <p:spPr>
          <a:xfrm>
            <a:off x="457200" y="4041648"/>
            <a:ext cx="8229600" cy="292608"/>
          </a:xfrm>
          <a:prstGeom prst="rect">
            <a:avLst/>
          </a:prstGeom>
          <a:noFill/>
          <a:ln/>
        </p:spPr>
        <p:txBody>
          <a:bodyPr wrap="square" lIns="0" tIns="0" rIns="0" bIns="0" rtlCol="0" anchor="ctr"/>
          <a:lstStyle/>
          <a:p>
            <a:pPr marL="0" indent="0" algn="ctr">
              <a:buNone/>
            </a:pPr>
            <a:r>
              <a:rPr lang="en-US" sz="950" b="1">
                <a:solidFill>
                  <a:srgbClr val="10B981"/>
                </a:solidFill>
                <a:latin typeface="Trebuchet MS" pitchFamily="34" charset="0"/>
                <a:ea typeface="Trebuchet MS" pitchFamily="34" charset="-122"/>
                <a:cs typeface="Trebuchet MS" pitchFamily="34" charset="-120"/>
              </a:rPr>
              <a:t>Why gemma2:2b?  Best quality-to-size ratio for 8GB RAM  ·  Reliable instruction following  ·  Runs fully locally via Ollama</a:t>
            </a:r>
            <a:endParaRPr lang="en-US" sz="950"/>
          </a:p>
        </p:txBody>
      </p:sp>
      <p:sp>
        <p:nvSpPr>
          <p:cNvPr id="53" name="Shape 51"/>
          <p:cNvSpPr/>
          <p:nvPr/>
        </p:nvSpPr>
        <p:spPr>
          <a:xfrm>
            <a:off x="457200" y="4407408"/>
            <a:ext cx="8229600" cy="566928"/>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54" name="Text 52"/>
          <p:cNvSpPr/>
          <p:nvPr/>
        </p:nvSpPr>
        <p:spPr>
          <a:xfrm>
            <a:off x="594360" y="4498848"/>
            <a:ext cx="1325880" cy="347472"/>
          </a:xfrm>
          <a:prstGeom prst="rect">
            <a:avLst/>
          </a:prstGeom>
          <a:noFill/>
          <a:ln/>
        </p:spPr>
        <p:txBody>
          <a:bodyPr wrap="square" lIns="0" tIns="0" rIns="0" bIns="0" rtlCol="0" anchor="ctr"/>
          <a:lstStyle/>
          <a:p>
            <a:pPr marL="0" indent="0" algn="ctr">
              <a:buNone/>
            </a:pPr>
            <a:r>
              <a:rPr lang="en-US" sz="900" b="1">
                <a:solidFill>
                  <a:srgbClr val="F59E0B"/>
                </a:solidFill>
                <a:latin typeface="Trebuchet MS" pitchFamily="34" charset="0"/>
                <a:ea typeface="Trebuchet MS" pitchFamily="34" charset="-122"/>
                <a:cs typeface="Trebuchet MS" pitchFamily="34" charset="-120"/>
              </a:rPr>
              <a:t>System Prompt</a:t>
            </a:r>
            <a:endParaRPr lang="en-US" sz="900"/>
          </a:p>
        </p:txBody>
      </p:sp>
      <p:sp>
        <p:nvSpPr>
          <p:cNvPr id="55" name="Text 53"/>
          <p:cNvSpPr/>
          <p:nvPr/>
        </p:nvSpPr>
        <p:spPr>
          <a:xfrm>
            <a:off x="1984248" y="4498848"/>
            <a:ext cx="1325880" cy="347472"/>
          </a:xfrm>
          <a:prstGeom prst="rect">
            <a:avLst/>
          </a:prstGeom>
          <a:noFill/>
          <a:ln/>
        </p:spPr>
        <p:txBody>
          <a:bodyPr wrap="square" lIns="0" tIns="0" rIns="0" bIns="0" rtlCol="0" anchor="ctr"/>
          <a:lstStyle/>
          <a:p>
            <a:pPr marL="0" indent="0" algn="ctr">
              <a:buNone/>
            </a:pPr>
            <a:r>
              <a:rPr lang="en-US" sz="900" b="1">
                <a:solidFill>
                  <a:srgbClr val="0EA5E9"/>
                </a:solidFill>
                <a:latin typeface="Trebuchet MS" pitchFamily="34" charset="0"/>
                <a:ea typeface="Trebuchet MS" pitchFamily="34" charset="-122"/>
                <a:cs typeface="Trebuchet MS" pitchFamily="34" charset="-120"/>
              </a:rPr>
              <a:t>+  Chat History</a:t>
            </a:r>
            <a:endParaRPr lang="en-US" sz="900"/>
          </a:p>
        </p:txBody>
      </p:sp>
      <p:sp>
        <p:nvSpPr>
          <p:cNvPr id="56" name="Text 54"/>
          <p:cNvSpPr/>
          <p:nvPr/>
        </p:nvSpPr>
        <p:spPr>
          <a:xfrm>
            <a:off x="3374136" y="4498848"/>
            <a:ext cx="1325880" cy="347472"/>
          </a:xfrm>
          <a:prstGeom prst="rect">
            <a:avLst/>
          </a:prstGeom>
          <a:noFill/>
          <a:ln/>
        </p:spPr>
        <p:txBody>
          <a:bodyPr wrap="square" lIns="0" tIns="0" rIns="0" bIns="0" rtlCol="0" anchor="ctr"/>
          <a:lstStyle/>
          <a:p>
            <a:pPr marL="0" indent="0" algn="ctr">
              <a:buNone/>
            </a:pPr>
            <a:r>
              <a:rPr lang="en-US" sz="900" b="1">
                <a:solidFill>
                  <a:srgbClr val="0EA5E9"/>
                </a:solidFill>
                <a:latin typeface="Trebuchet MS" pitchFamily="34" charset="0"/>
                <a:ea typeface="Trebuchet MS" pitchFamily="34" charset="-122"/>
                <a:cs typeface="Trebuchet MS" pitchFamily="34" charset="-120"/>
              </a:rPr>
              <a:t>+  Context Chunks</a:t>
            </a:r>
            <a:endParaRPr lang="en-US" sz="900"/>
          </a:p>
        </p:txBody>
      </p:sp>
      <p:sp>
        <p:nvSpPr>
          <p:cNvPr id="57" name="Text 55"/>
          <p:cNvSpPr/>
          <p:nvPr/>
        </p:nvSpPr>
        <p:spPr>
          <a:xfrm>
            <a:off x="4764024" y="4498848"/>
            <a:ext cx="1325880" cy="347472"/>
          </a:xfrm>
          <a:prstGeom prst="rect">
            <a:avLst/>
          </a:prstGeom>
          <a:noFill/>
          <a:ln/>
        </p:spPr>
        <p:txBody>
          <a:bodyPr wrap="square" lIns="0" tIns="0" rIns="0" bIns="0" rtlCol="0" anchor="ctr"/>
          <a:lstStyle/>
          <a:p>
            <a:pPr marL="0" indent="0" algn="ctr">
              <a:buNone/>
            </a:pPr>
            <a:r>
              <a:rPr lang="en-US" sz="900" b="1">
                <a:solidFill>
                  <a:srgbClr val="10B981"/>
                </a:solidFill>
                <a:latin typeface="Trebuchet MS" pitchFamily="34" charset="0"/>
                <a:ea typeface="Trebuchet MS" pitchFamily="34" charset="-122"/>
                <a:cs typeface="Trebuchet MS" pitchFamily="34" charset="-120"/>
              </a:rPr>
              <a:t>+  User Question</a:t>
            </a:r>
            <a:endParaRPr lang="en-US" sz="900"/>
          </a:p>
        </p:txBody>
      </p:sp>
      <p:sp>
        <p:nvSpPr>
          <p:cNvPr id="58" name="Text 56"/>
          <p:cNvSpPr/>
          <p:nvPr/>
        </p:nvSpPr>
        <p:spPr>
          <a:xfrm>
            <a:off x="6153912" y="4498848"/>
            <a:ext cx="1325880" cy="347472"/>
          </a:xfrm>
          <a:prstGeom prst="rect">
            <a:avLst/>
          </a:prstGeom>
          <a:noFill/>
          <a:ln/>
        </p:spPr>
        <p:txBody>
          <a:bodyPr wrap="square" lIns="0" tIns="0" rIns="0" bIns="0" rtlCol="0" anchor="ctr"/>
          <a:lstStyle/>
          <a:p>
            <a:pPr marL="0" indent="0" algn="ctr">
              <a:buNone/>
            </a:pPr>
            <a:r>
              <a:rPr lang="en-US" sz="900" b="1">
                <a:solidFill>
                  <a:srgbClr val="64748B"/>
                </a:solidFill>
                <a:latin typeface="Trebuchet MS" pitchFamily="34" charset="0"/>
                <a:ea typeface="Trebuchet MS" pitchFamily="34" charset="-122"/>
                <a:cs typeface="Trebuchet MS" pitchFamily="34" charset="-120"/>
              </a:rPr>
              <a:t>→  gemma2:2b</a:t>
            </a:r>
            <a:endParaRPr lang="en-US" sz="900"/>
          </a:p>
        </p:txBody>
      </p:sp>
      <p:sp>
        <p:nvSpPr>
          <p:cNvPr id="59" name="Text 57"/>
          <p:cNvSpPr/>
          <p:nvPr/>
        </p:nvSpPr>
        <p:spPr>
          <a:xfrm>
            <a:off x="7543800" y="4498848"/>
            <a:ext cx="1325880" cy="347472"/>
          </a:xfrm>
          <a:prstGeom prst="rect">
            <a:avLst/>
          </a:prstGeom>
          <a:noFill/>
          <a:ln/>
        </p:spPr>
        <p:txBody>
          <a:bodyPr wrap="square" lIns="0" tIns="0" rIns="0" bIns="0" rtlCol="0" anchor="ctr"/>
          <a:lstStyle/>
          <a:p>
            <a:pPr marL="0" indent="0" algn="ctr">
              <a:buNone/>
            </a:pPr>
            <a:r>
              <a:rPr lang="en-US" sz="900" b="1">
                <a:solidFill>
                  <a:srgbClr val="22C55E"/>
                </a:solidFill>
                <a:latin typeface="Trebuchet MS" pitchFamily="34" charset="0"/>
                <a:ea typeface="Trebuchet MS" pitchFamily="34" charset="-122"/>
                <a:cs typeface="Trebuchet MS" pitchFamily="34" charset="-120"/>
              </a:rPr>
              <a:t>→  Answer</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EA5E9"/>
                </a:solidFill>
                <a:effectLst/>
                <a:uLnTx/>
                <a:uFillTx/>
                <a:latin typeface="Trebuchet MS" pitchFamily="34" charset="0"/>
                <a:ea typeface="Trebuchet MS" pitchFamily="34" charset="-122"/>
                <a:cs typeface="Trebuchet MS" pitchFamily="34" charset="-120"/>
              </a:rPr>
              <a:t>Conversation Memory: Making It Feel Natural</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896112"/>
            <a:ext cx="8229600" cy="27432"/>
          </a:xfrm>
          <a:prstGeom prst="rect">
            <a:avLst/>
          </a:prstGeom>
          <a:solidFill>
            <a:srgbClr val="0EA5E9">
              <a:alpha val="40000"/>
            </a:srgbClr>
          </a:solidFill>
          <a:ln w="12700">
            <a:solidFill>
              <a:srgbClr val="0EA5E9">
                <a:alpha val="4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005840"/>
            <a:ext cx="3931920" cy="192024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005840"/>
            <a:ext cx="3931920" cy="45720"/>
          </a:xfrm>
          <a:prstGeom prst="rect">
            <a:avLst/>
          </a:prstGeom>
          <a:solidFill>
            <a:srgbClr val="EF4444"/>
          </a:solidFill>
          <a:ln w="12700">
            <a:solidFill>
              <a:srgbClr val="EF44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640080" y="1078992"/>
            <a:ext cx="35661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EF4444"/>
                </a:solidFill>
                <a:effectLst/>
                <a:uLnTx/>
                <a:uFillTx/>
                <a:latin typeface="Trebuchet MS" pitchFamily="34" charset="0"/>
                <a:ea typeface="Trebuchet MS" pitchFamily="34" charset="-122"/>
                <a:cs typeface="Trebuchet MS" pitchFamily="34" charset="-120"/>
              </a:rPr>
              <a:t>Without Memory</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40080" y="1463040"/>
            <a:ext cx="3566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0EA5E9"/>
                </a:solidFill>
                <a:effectLst/>
                <a:uLnTx/>
                <a:uFillTx/>
                <a:latin typeface="Trebuchet MS" pitchFamily="34" charset="0"/>
                <a:ea typeface="Trebuchet MS" pitchFamily="34" charset="-122"/>
                <a:cs typeface="Trebuchet MS" pitchFamily="34" charset="-120"/>
              </a:rPr>
              <a:t>User:  </a:t>
            </a:r>
            <a:r>
              <a:rPr kumimoji="0" lang="en-US" sz="950" b="0" i="0" u="none" strike="noStrike" kern="1200" cap="none" spc="0" normalizeH="0" baseline="0" noProof="0">
                <a:ln>
                  <a:noFill/>
                </a:ln>
                <a:solidFill>
                  <a:srgbClr val="64748B"/>
                </a:solidFill>
                <a:effectLst/>
                <a:uLnTx/>
                <a:uFillTx/>
                <a:latin typeface="Trebuchet MS" pitchFamily="34" charset="0"/>
                <a:ea typeface="Trebuchet MS" pitchFamily="34" charset="-122"/>
                <a:cs typeface="Trebuchet MS" pitchFamily="34" charset="-120"/>
              </a:rPr>
              <a:t>Where is Yellowstone?</a:t>
            </a:r>
            <a:endParaRPr kumimoji="0" lang="en-US" sz="9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40080" y="1792224"/>
            <a:ext cx="3566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64748B"/>
                </a:solidFill>
                <a:effectLst/>
                <a:uLnTx/>
                <a:uFillTx/>
                <a:latin typeface="Trebuchet MS" pitchFamily="34" charset="0"/>
                <a:ea typeface="Trebuchet MS" pitchFamily="34" charset="-122"/>
                <a:cs typeface="Trebuchet MS" pitchFamily="34" charset="-120"/>
              </a:rPr>
              <a:t>AI:  </a:t>
            </a:r>
            <a:r>
              <a:rPr kumimoji="0" lang="en-US" sz="950" b="0" i="0" u="none" strike="noStrike" kern="1200" cap="none" spc="0" normalizeH="0" baseline="0" noProof="0">
                <a:ln>
                  <a:noFill/>
                </a:ln>
                <a:solidFill>
                  <a:srgbClr val="64748B"/>
                </a:solidFill>
                <a:effectLst/>
                <a:uLnTx/>
                <a:uFillTx/>
                <a:latin typeface="Trebuchet MS" pitchFamily="34" charset="0"/>
                <a:ea typeface="Trebuchet MS" pitchFamily="34" charset="-122"/>
                <a:cs typeface="Trebuchet MS" pitchFamily="34" charset="-120"/>
              </a:rPr>
              <a:t>Yellowstone is in Wyoming...</a:t>
            </a:r>
            <a:endParaRPr kumimoji="0" lang="en-US" sz="9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640080" y="2121408"/>
            <a:ext cx="3566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0EA5E9"/>
                </a:solidFill>
                <a:effectLst/>
                <a:uLnTx/>
                <a:uFillTx/>
                <a:latin typeface="Trebuchet MS" pitchFamily="34" charset="0"/>
                <a:ea typeface="Trebuchet MS" pitchFamily="34" charset="-122"/>
                <a:cs typeface="Trebuchet MS" pitchFamily="34" charset="-120"/>
              </a:rPr>
              <a:t>User:  </a:t>
            </a:r>
            <a:r>
              <a:rPr kumimoji="0" lang="en-US" sz="950" b="0" i="0" u="none" strike="noStrike" kern="1200" cap="none" spc="0" normalizeH="0" baseline="0" noProof="0">
                <a:ln>
                  <a:noFill/>
                </a:ln>
                <a:solidFill>
                  <a:srgbClr val="64748B"/>
                </a:solidFill>
                <a:effectLst/>
                <a:uLnTx/>
                <a:uFillTx/>
                <a:latin typeface="Trebuchet MS" pitchFamily="34" charset="0"/>
                <a:ea typeface="Trebuchet MS" pitchFamily="34" charset="-122"/>
                <a:cs typeface="Trebuchet MS" pitchFamily="34" charset="-120"/>
              </a:rPr>
              <a:t>What are the entry fees?</a:t>
            </a:r>
            <a:endParaRPr kumimoji="0" lang="en-US" sz="9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2450592"/>
            <a:ext cx="3566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EF4444"/>
                </a:solidFill>
                <a:effectLst/>
                <a:uLnTx/>
                <a:uFillTx/>
                <a:latin typeface="Trebuchet MS" pitchFamily="34" charset="0"/>
                <a:ea typeface="Trebuchet MS" pitchFamily="34" charset="-122"/>
                <a:cs typeface="Trebuchet MS" pitchFamily="34" charset="-120"/>
              </a:rPr>
              <a:t>AI:  </a:t>
            </a:r>
            <a:r>
              <a:rPr kumimoji="0" lang="en-US" sz="950" b="0" i="0" u="none" strike="noStrike" kern="1200" cap="none" spc="0" normalizeH="0" baseline="0" noProof="0">
                <a:ln>
                  <a:noFill/>
                </a:ln>
                <a:solidFill>
                  <a:srgbClr val="EF4444"/>
                </a:solidFill>
                <a:effectLst/>
                <a:uLnTx/>
                <a:uFillTx/>
                <a:latin typeface="Trebuchet MS" pitchFamily="34" charset="0"/>
                <a:ea typeface="Trebuchet MS" pitchFamily="34" charset="-122"/>
                <a:cs typeface="Trebuchet MS" pitchFamily="34" charset="-120"/>
              </a:rPr>
              <a:t>I don't know which park you mean ❌</a:t>
            </a:r>
            <a:endParaRPr kumimoji="0" lang="en-US" sz="9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4754880" y="1005840"/>
            <a:ext cx="3931920" cy="192024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754880" y="1005840"/>
            <a:ext cx="3931920" cy="45720"/>
          </a:xfrm>
          <a:prstGeom prst="rect">
            <a:avLst/>
          </a:prstGeom>
          <a:solidFill>
            <a:srgbClr val="10B981"/>
          </a:solidFill>
          <a:ln w="12700">
            <a:solidFill>
              <a:srgbClr val="10B98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4937760" y="1078992"/>
            <a:ext cx="35661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0B981"/>
                </a:solidFill>
                <a:effectLst/>
                <a:uLnTx/>
                <a:uFillTx/>
                <a:latin typeface="Trebuchet MS" pitchFamily="34" charset="0"/>
                <a:ea typeface="Trebuchet MS" pitchFamily="34" charset="-122"/>
                <a:cs typeface="Trebuchet MS" pitchFamily="34" charset="-120"/>
              </a:rPr>
              <a:t>With Memory  ✓</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4937760" y="1463040"/>
            <a:ext cx="3566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0EA5E9"/>
                </a:solidFill>
                <a:effectLst/>
                <a:uLnTx/>
                <a:uFillTx/>
                <a:latin typeface="Trebuchet MS" pitchFamily="34" charset="0"/>
                <a:ea typeface="Trebuchet MS" pitchFamily="34" charset="-122"/>
                <a:cs typeface="Trebuchet MS" pitchFamily="34" charset="-120"/>
              </a:rPr>
              <a:t>User:  </a:t>
            </a:r>
            <a:r>
              <a:rPr kumimoji="0" lang="en-US" sz="950" b="0" i="0" u="none" strike="noStrike" kern="1200" cap="none" spc="0" normalizeH="0" baseline="0" noProof="0">
                <a:ln>
                  <a:noFill/>
                </a:ln>
                <a:solidFill>
                  <a:srgbClr val="0EA5E9"/>
                </a:solidFill>
                <a:effectLst/>
                <a:uLnTx/>
                <a:uFillTx/>
                <a:latin typeface="Trebuchet MS" pitchFamily="34" charset="0"/>
                <a:ea typeface="Trebuchet MS" pitchFamily="34" charset="-122"/>
                <a:cs typeface="Trebuchet MS" pitchFamily="34" charset="-120"/>
              </a:rPr>
              <a:t>Where is Yellowstone?</a:t>
            </a:r>
            <a:endParaRPr kumimoji="0" lang="en-US" sz="9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4937760" y="1792224"/>
            <a:ext cx="3566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64748B"/>
                </a:solidFill>
                <a:effectLst/>
                <a:uLnTx/>
                <a:uFillTx/>
                <a:latin typeface="Trebuchet MS" pitchFamily="34" charset="0"/>
                <a:ea typeface="Trebuchet MS" pitchFamily="34" charset="-122"/>
                <a:cs typeface="Trebuchet MS" pitchFamily="34" charset="-120"/>
              </a:rPr>
              <a:t>AI:  </a:t>
            </a:r>
            <a:r>
              <a:rPr kumimoji="0" lang="en-US" sz="950" b="0" i="0" u="none" strike="noStrike" kern="1200" cap="none" spc="0" normalizeH="0" baseline="0" noProof="0">
                <a:ln>
                  <a:noFill/>
                </a:ln>
                <a:solidFill>
                  <a:srgbClr val="64748B"/>
                </a:solidFill>
                <a:effectLst/>
                <a:uLnTx/>
                <a:uFillTx/>
                <a:latin typeface="Trebuchet MS" pitchFamily="34" charset="0"/>
                <a:ea typeface="Trebuchet MS" pitchFamily="34" charset="-122"/>
                <a:cs typeface="Trebuchet MS" pitchFamily="34" charset="-120"/>
              </a:rPr>
              <a:t>Yellowstone is in Wyoming...</a:t>
            </a:r>
            <a:endParaRPr kumimoji="0" lang="en-US" sz="9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4937760" y="2121408"/>
            <a:ext cx="3566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0EA5E9"/>
                </a:solidFill>
                <a:effectLst/>
                <a:uLnTx/>
                <a:uFillTx/>
                <a:latin typeface="Trebuchet MS" pitchFamily="34" charset="0"/>
                <a:ea typeface="Trebuchet MS" pitchFamily="34" charset="-122"/>
                <a:cs typeface="Trebuchet MS" pitchFamily="34" charset="-120"/>
              </a:rPr>
              <a:t>User:  </a:t>
            </a:r>
            <a:r>
              <a:rPr kumimoji="0" lang="en-US" sz="950" b="0" i="0" u="none" strike="noStrike" kern="1200" cap="none" spc="0" normalizeH="0" baseline="0" noProof="0">
                <a:ln>
                  <a:noFill/>
                </a:ln>
                <a:solidFill>
                  <a:srgbClr val="0EA5E9"/>
                </a:solidFill>
                <a:effectLst/>
                <a:uLnTx/>
                <a:uFillTx/>
                <a:latin typeface="Trebuchet MS" pitchFamily="34" charset="0"/>
                <a:ea typeface="Trebuchet MS" pitchFamily="34" charset="-122"/>
                <a:cs typeface="Trebuchet MS" pitchFamily="34" charset="-120"/>
              </a:rPr>
              <a:t>What are the entry fees?</a:t>
            </a:r>
            <a:endParaRPr kumimoji="0" lang="en-US" sz="9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937760" y="2450592"/>
            <a:ext cx="3566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10B981"/>
                </a:solidFill>
                <a:effectLst/>
                <a:uLnTx/>
                <a:uFillTx/>
                <a:latin typeface="Trebuchet MS" pitchFamily="34" charset="0"/>
                <a:ea typeface="Trebuchet MS" pitchFamily="34" charset="-122"/>
                <a:cs typeface="Trebuchet MS" pitchFamily="34" charset="-120"/>
              </a:rPr>
              <a:t>AI:  </a:t>
            </a:r>
            <a:r>
              <a:rPr kumimoji="0" lang="en-US" sz="950" b="0" i="0" u="none" strike="noStrike" kern="1200" cap="none" spc="0" normalizeH="0" baseline="0" noProof="0">
                <a:ln>
                  <a:noFill/>
                </a:ln>
                <a:solidFill>
                  <a:srgbClr val="10B981"/>
                </a:solidFill>
                <a:effectLst/>
                <a:uLnTx/>
                <a:uFillTx/>
                <a:latin typeface="Trebuchet MS" pitchFamily="34" charset="0"/>
                <a:ea typeface="Trebuchet MS" pitchFamily="34" charset="-122"/>
                <a:cs typeface="Trebuchet MS" pitchFamily="34" charset="-120"/>
              </a:rPr>
              <a:t>Entry fee for Yellowstone is $35 ✓</a:t>
            </a:r>
            <a:endParaRPr kumimoji="0" lang="en-US" sz="9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457200" y="3017520"/>
            <a:ext cx="3931920" cy="182880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3017520"/>
            <a:ext cx="54864" cy="1828800"/>
          </a:xfrm>
          <a:prstGeom prst="rect">
            <a:avLst/>
          </a:prstGeom>
          <a:solidFill>
            <a:srgbClr val="0EA5E9"/>
          </a:solidFill>
          <a:ln w="12700">
            <a:solidFill>
              <a:srgbClr val="0EA5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58368" y="3090672"/>
            <a:ext cx="356616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EA5E9"/>
                </a:solidFill>
                <a:effectLst/>
                <a:uLnTx/>
                <a:uFillTx/>
                <a:latin typeface="Trebuchet MS" pitchFamily="34" charset="0"/>
                <a:ea typeface="Trebuchet MS" pitchFamily="34" charset="-122"/>
                <a:cs typeface="Trebuchet MS" pitchFamily="34" charset="-120"/>
              </a:rPr>
              <a:t>How It Works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658368" y="3456432"/>
            <a:ext cx="356616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EA5E9"/>
                </a:solidFill>
                <a:effectLst/>
                <a:uLnTx/>
                <a:uFillTx/>
                <a:latin typeface="Trebuchet MS" pitchFamily="34" charset="0"/>
                <a:ea typeface="Trebuchet MS" pitchFamily="34" charset="-122"/>
                <a:cs typeface="Trebuchet MS" pitchFamily="34" charset="-120"/>
              </a:rPr>
              <a:t>1.  </a:t>
            </a:r>
            <a:r>
              <a:rPr kumimoji="0" lang="en-US" sz="1000" b="0" i="0" u="none" strike="noStrike" kern="1200" cap="none" spc="0" normalizeH="0" baseline="0" noProof="0">
                <a:ln>
                  <a:noFill/>
                </a:ln>
                <a:solidFill>
                  <a:srgbClr val="64748B"/>
                </a:solidFill>
                <a:effectLst/>
                <a:uLnTx/>
                <a:uFillTx/>
                <a:latin typeface="Trebuchet MS" pitchFamily="34" charset="0"/>
                <a:ea typeface="Trebuchet MS" pitchFamily="34" charset="-122"/>
                <a:cs typeface="Trebuchet MS" pitchFamily="34" charset="-120"/>
              </a:rPr>
              <a:t>Rolling window of last 6 messages (3 exchanges)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EA5E9"/>
                </a:solidFill>
                <a:effectLst/>
                <a:uLnTx/>
                <a:uFillTx/>
                <a:latin typeface="Trebuchet MS" pitchFamily="34" charset="0"/>
                <a:ea typeface="Trebuchet MS" pitchFamily="34" charset="-122"/>
                <a:cs typeface="Trebuchet MS" pitchFamily="34" charset="-120"/>
              </a:rPr>
              <a:t>2.  </a:t>
            </a:r>
            <a:r>
              <a:rPr kumimoji="0" lang="en-US" sz="1000" b="0" i="0" u="none" strike="noStrike" kern="1200" cap="none" spc="0" normalizeH="0" baseline="0" noProof="0">
                <a:ln>
                  <a:noFill/>
                </a:ln>
                <a:solidFill>
                  <a:srgbClr val="64748B"/>
                </a:solidFill>
                <a:effectLst/>
                <a:uLnTx/>
                <a:uFillTx/>
                <a:latin typeface="Trebuchet MS" pitchFamily="34" charset="0"/>
                <a:ea typeface="Trebuchet MS" pitchFamily="34" charset="-122"/>
                <a:cs typeface="Trebuchet MS" pitchFamily="34" charset="-120"/>
              </a:rPr>
              <a:t>History passed with every new LLM call</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EA5E9"/>
                </a:solidFill>
                <a:effectLst/>
                <a:uLnTx/>
                <a:uFillTx/>
                <a:latin typeface="Trebuchet MS" pitchFamily="34" charset="0"/>
                <a:ea typeface="Trebuchet MS" pitchFamily="34" charset="-122"/>
                <a:cs typeface="Trebuchet MS" pitchFamily="34" charset="-120"/>
              </a:rPr>
              <a:t>3.  </a:t>
            </a:r>
            <a:r>
              <a:rPr kumimoji="0" lang="en-US" sz="1000" b="0" i="0" u="none" strike="noStrike" kern="1200" cap="none" spc="0" normalizeH="0" baseline="0" noProof="0">
                <a:ln>
                  <a:noFill/>
                </a:ln>
                <a:solidFill>
                  <a:srgbClr val="64748B"/>
                </a:solidFill>
                <a:effectLst/>
                <a:uLnTx/>
                <a:uFillTx/>
                <a:latin typeface="Trebuchet MS" pitchFamily="34" charset="0"/>
                <a:ea typeface="Trebuchet MS" pitchFamily="34" charset="-122"/>
                <a:cs typeface="Trebuchet MS" pitchFamily="34" charset="-120"/>
              </a:rPr>
              <a:t>LLM understands pronouns and follow-ups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EA5E9"/>
                </a:solidFill>
                <a:effectLst/>
                <a:uLnTx/>
                <a:uFillTx/>
                <a:latin typeface="Trebuchet MS" pitchFamily="34" charset="0"/>
                <a:ea typeface="Trebuchet MS" pitchFamily="34" charset="-122"/>
                <a:cs typeface="Trebuchet MS" pitchFamily="34" charset="-120"/>
              </a:rPr>
              <a:t>4.  </a:t>
            </a:r>
            <a:r>
              <a:rPr kumimoji="0" lang="en-US" sz="1000" b="0" i="0" u="none" strike="noStrike" kern="1200" cap="none" spc="0" normalizeH="0" baseline="0" noProof="0">
                <a:ln>
                  <a:noFill/>
                </a:ln>
                <a:solidFill>
                  <a:srgbClr val="64748B"/>
                </a:solidFill>
                <a:effectLst/>
                <a:uLnTx/>
                <a:uFillTx/>
                <a:latin typeface="Trebuchet MS" pitchFamily="34" charset="0"/>
                <a:ea typeface="Trebuchet MS" pitchFamily="34" charset="-122"/>
                <a:cs typeface="Trebuchet MS" pitchFamily="34" charset="-120"/>
              </a:rPr>
              <a:t>Older messages dropped to save RAM</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4754880" y="3017520"/>
            <a:ext cx="3931920" cy="182880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4754880" y="3017520"/>
            <a:ext cx="54864" cy="1828800"/>
          </a:xfrm>
          <a:prstGeom prst="rect">
            <a:avLst/>
          </a:prstGeom>
          <a:solidFill>
            <a:srgbClr val="0EA5E9"/>
          </a:solidFill>
          <a:ln w="12700">
            <a:solidFill>
              <a:srgbClr val="0EA5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4956048" y="3090672"/>
            <a:ext cx="356616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59E0B"/>
                </a:solidFill>
                <a:effectLst/>
                <a:uLnTx/>
                <a:uFillTx/>
                <a:latin typeface="Trebuchet MS" pitchFamily="34" charset="0"/>
                <a:ea typeface="Trebuchet MS" pitchFamily="34" charset="-122"/>
                <a:cs typeface="Trebuchet MS" pitchFamily="34" charset="-120"/>
              </a:rPr>
              <a:t>The enrich_query() Fix</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4956048" y="3438144"/>
            <a:ext cx="35661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64748B"/>
                </a:solidFill>
                <a:effectLst/>
                <a:uLnTx/>
                <a:uFillTx/>
                <a:latin typeface="Trebuchet MS" pitchFamily="34" charset="0"/>
                <a:ea typeface="Trebuchet MS" pitchFamily="34" charset="-122"/>
                <a:cs typeface="Trebuchet MS" pitchFamily="34" charset="-120"/>
              </a:rPr>
              <a:t>Memory helps the LLM — but ChromaDB</a:t>
            </a:r>
            <a:endParaRPr kumimoji="0" lang="en-US" sz="9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64748B"/>
                </a:solidFill>
                <a:effectLst/>
                <a:uLnTx/>
                <a:uFillTx/>
                <a:latin typeface="Trebuchet MS" pitchFamily="34" charset="0"/>
                <a:ea typeface="Trebuchet MS" pitchFamily="34" charset="-122"/>
                <a:cs typeface="Trebuchet MS" pitchFamily="34" charset="-120"/>
              </a:rPr>
              <a:t>only reads the current question.</a:t>
            </a:r>
            <a:endParaRPr kumimoji="0" lang="en-US" sz="9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4956048" y="3931920"/>
            <a:ext cx="356616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59E0B"/>
                </a:solidFill>
                <a:effectLst/>
                <a:uLnTx/>
                <a:uFillTx/>
                <a:latin typeface="Trebuchet MS" pitchFamily="34" charset="0"/>
                <a:ea typeface="Trebuchet MS" pitchFamily="34" charset="-122"/>
                <a:cs typeface="Trebuchet MS" pitchFamily="34" charset="-120"/>
              </a:rPr>
              <a:t>Solution:  </a:t>
            </a:r>
            <a:r>
              <a:rPr kumimoji="0" lang="en-US" sz="950" b="0" i="0" u="none" strike="noStrike" kern="1200" cap="none" spc="0" normalizeH="0" baseline="0" noProof="0">
                <a:ln>
                  <a:noFill/>
                </a:ln>
                <a:solidFill>
                  <a:srgbClr val="64748B"/>
                </a:solidFill>
                <a:effectLst/>
                <a:uLnTx/>
                <a:uFillTx/>
                <a:latin typeface="Trebuchet MS" pitchFamily="34" charset="0"/>
                <a:ea typeface="Trebuchet MS" pitchFamily="34" charset="-122"/>
                <a:cs typeface="Trebuchet MS" pitchFamily="34" charset="-120"/>
              </a:rPr>
              <a:t>inject recent history INTO the search query so ChromaDB finds the right document for follow-up questions too.</a:t>
            </a:r>
            <a:endParaRPr kumimoji="0" lang="en-US" sz="9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49B447FE-DDA9-4B30-828A-59FC56912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51434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C3D487F7-9050-4871-B351-34A72ADB2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63" y="0"/>
            <a:ext cx="4572001" cy="5143499"/>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F43C27DD-EF6A-4C48-9669-C2970E71A8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4663" y="457201"/>
            <a:ext cx="5143502" cy="4229101"/>
          </a:xfrm>
          <a:prstGeom prst="rect">
            <a:avLst/>
          </a:prstGeom>
          <a:gradFill>
            <a:gsLst>
              <a:gs pos="0">
                <a:schemeClr val="accent1">
                  <a:alpha val="23000"/>
                </a:schemeClr>
              </a:gs>
              <a:gs pos="71000">
                <a:schemeClr val="accent1">
                  <a:lumMod val="50000"/>
                  <a:alpha val="0"/>
                </a:schemeClr>
              </a:gs>
              <a:gs pos="100000">
                <a:srgbClr val="000000">
                  <a:alpha val="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05A1AA86-B7E6-4C02-AA34-F1A25CD4C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5638" y="1663462"/>
            <a:ext cx="4577638" cy="3480037"/>
          </a:xfrm>
          <a:prstGeom prst="rect">
            <a:avLst/>
          </a:prstGeom>
          <a:gradFill>
            <a:gsLst>
              <a:gs pos="0">
                <a:schemeClr val="accent1">
                  <a:alpha val="0"/>
                </a:schemeClr>
              </a:gs>
              <a:gs pos="72000">
                <a:srgbClr val="000000">
                  <a:alpha val="21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86C3B9CB-4E48-4726-B7B9-9E02F71B1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137312">
            <a:off x="423929" y="908567"/>
            <a:ext cx="3480366" cy="3480366"/>
          </a:xfrm>
          <a:prstGeom prst="ellipse">
            <a:avLst/>
          </a:prstGeom>
          <a:gradFill>
            <a:gsLst>
              <a:gs pos="53000">
                <a:schemeClr val="accent1">
                  <a:alpha val="0"/>
                </a:schemeClr>
              </a:gs>
              <a:gs pos="100000">
                <a:schemeClr val="accent1">
                  <a:lumMod val="40000"/>
                  <a:lumOff val="60000"/>
                  <a:alpha val="1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C84384FE-1C88-4CAA-8FB8-2313A3AE7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5639" y="0"/>
            <a:ext cx="4577639" cy="5153025"/>
          </a:xfrm>
          <a:prstGeom prst="rect">
            <a:avLst/>
          </a:prstGeom>
          <a:gradFill>
            <a:gsLst>
              <a:gs pos="24000">
                <a:schemeClr val="accent1">
                  <a:alpha val="0"/>
                </a:schemeClr>
              </a:gs>
              <a:gs pos="100000">
                <a:srgbClr val="000000">
                  <a:alpha val="71000"/>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02341" y="1990868"/>
            <a:ext cx="3123773" cy="2015076"/>
          </a:xfrm>
          <a:prstGeom prst="ellipse">
            <a:avLst/>
          </a:prstGeom>
        </p:spPr>
        <p:txBody>
          <a:bodyPr vert="horz" lIns="91440" tIns="45720" rIns="91440" bIns="45720" rtlCol="0" anchor="t">
            <a:normAutofit/>
          </a:bodyPr>
          <a:lstStyle/>
          <a:p>
            <a:pPr>
              <a:lnSpc>
                <a:spcPct val="90000"/>
              </a:lnSpc>
              <a:spcBef>
                <a:spcPct val="0"/>
              </a:spcBef>
              <a:spcAft>
                <a:spcPts val="600"/>
              </a:spcAft>
            </a:pPr>
            <a:r>
              <a:rPr lang="en-US" sz="3000" b="1">
                <a:solidFill>
                  <a:srgbClr val="FFFFFF"/>
                </a:solidFill>
                <a:latin typeface="+mj-lt"/>
                <a:ea typeface="+mj-ea"/>
                <a:cs typeface="+mj-cs"/>
              </a:rPr>
              <a:t>🏞️Demo🏞️</a:t>
            </a:r>
            <a:endParaRPr lang="en-US" sz="3000">
              <a:solidFill>
                <a:srgbClr val="FFFFFF"/>
              </a:solidFill>
              <a:latin typeface="+mj-lt"/>
              <a:ea typeface="+mj-ea"/>
              <a:cs typeface="+mj-cs"/>
            </a:endParaRPr>
          </a:p>
        </p:txBody>
      </p:sp>
      <p:pic>
        <p:nvPicPr>
          <p:cNvPr id="4" name="Picture 3">
            <a:extLst>
              <a:ext uri="{FF2B5EF4-FFF2-40B4-BE49-F238E27FC236}">
                <a16:creationId xmlns:a16="http://schemas.microsoft.com/office/drawing/2014/main" id="{3A1BA48D-1FC3-7A06-C32E-63E0A043A30D}"/>
              </a:ext>
            </a:extLst>
          </p:cNvPr>
          <p:cNvPicPr>
            <a:picLocks noChangeAspect="1"/>
          </p:cNvPicPr>
          <p:nvPr/>
        </p:nvPicPr>
        <p:blipFill>
          <a:blip r:embed="rId3"/>
          <a:srcRect b="10243"/>
          <a:stretch>
            <a:fillRect/>
          </a:stretch>
        </p:blipFill>
        <p:spPr>
          <a:xfrm>
            <a:off x="4571637" y="-171"/>
            <a:ext cx="4572002" cy="514349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6400800" y="-731520"/>
            <a:ext cx="4114800" cy="4114800"/>
          </a:xfrm>
          <a:prstGeom prst="ellipse">
            <a:avLst/>
          </a:prstGeom>
          <a:solidFill>
            <a:srgbClr val="0EA5E9">
              <a:alpha val="7000"/>
            </a:srgbClr>
          </a:solidFill>
          <a:ln w="12700">
            <a:solidFill>
              <a:srgbClr val="0EA5E9">
                <a:alpha val="12000"/>
              </a:srgbClr>
            </a:solidFill>
            <a:prstDash val="solid"/>
          </a:ln>
        </p:spPr>
        <p:txBody>
          <a:bodyPr/>
          <a:lstStyle/>
          <a:p>
            <a:endParaRPr lang="en-US"/>
          </a:p>
        </p:txBody>
      </p:sp>
      <p:sp>
        <p:nvSpPr>
          <p:cNvPr id="3" name="Shape 1"/>
          <p:cNvSpPr/>
          <p:nvPr/>
        </p:nvSpPr>
        <p:spPr>
          <a:xfrm>
            <a:off x="-731520" y="3200400"/>
            <a:ext cx="3200400" cy="3200400"/>
          </a:xfrm>
          <a:prstGeom prst="ellipse">
            <a:avLst/>
          </a:prstGeom>
          <a:solidFill>
            <a:srgbClr val="10B981">
              <a:alpha val="6000"/>
            </a:srgbClr>
          </a:solidFill>
          <a:ln w="12700">
            <a:solidFill>
              <a:srgbClr val="10B981">
                <a:alpha val="10000"/>
              </a:srgbClr>
            </a:solidFill>
            <a:prstDash val="solid"/>
          </a:ln>
        </p:spPr>
        <p:txBody>
          <a:bodyPr/>
          <a:lstStyle/>
          <a:p>
            <a:endParaRPr lang="en-US"/>
          </a:p>
        </p:txBody>
      </p:sp>
      <p:sp>
        <p:nvSpPr>
          <p:cNvPr id="4" name="Text 2"/>
          <p:cNvSpPr/>
          <p:nvPr/>
        </p:nvSpPr>
        <p:spPr>
          <a:xfrm>
            <a:off x="457200" y="347472"/>
            <a:ext cx="8229600" cy="530352"/>
          </a:xfrm>
          <a:prstGeom prst="rect">
            <a:avLst/>
          </a:prstGeom>
          <a:noFill/>
          <a:ln/>
        </p:spPr>
        <p:txBody>
          <a:bodyPr wrap="square" lIns="0" tIns="0" rIns="0" bIns="0" rtlCol="0" anchor="ctr"/>
          <a:lstStyle/>
          <a:p>
            <a:pPr marL="0" indent="0" algn="l">
              <a:buNone/>
            </a:pPr>
            <a:r>
              <a:rPr lang="en-US" sz="2800" b="1">
                <a:solidFill>
                  <a:srgbClr val="0EA5E9"/>
                </a:solidFill>
                <a:latin typeface="Trebuchet MS" pitchFamily="34" charset="0"/>
                <a:ea typeface="Trebuchet MS" pitchFamily="34" charset="-122"/>
                <a:cs typeface="Trebuchet MS" pitchFamily="34" charset="-120"/>
              </a:rPr>
              <a:t>Summary &amp; Future Work</a:t>
            </a:r>
            <a:endParaRPr lang="en-US" sz="2800"/>
          </a:p>
        </p:txBody>
      </p:sp>
      <p:sp>
        <p:nvSpPr>
          <p:cNvPr id="5" name="Shape 3"/>
          <p:cNvSpPr/>
          <p:nvPr/>
        </p:nvSpPr>
        <p:spPr>
          <a:xfrm>
            <a:off x="457200" y="932688"/>
            <a:ext cx="8229600" cy="27432"/>
          </a:xfrm>
          <a:prstGeom prst="rect">
            <a:avLst/>
          </a:prstGeom>
          <a:solidFill>
            <a:srgbClr val="0EA5E9">
              <a:alpha val="40000"/>
            </a:srgbClr>
          </a:solidFill>
          <a:ln w="12700">
            <a:solidFill>
              <a:srgbClr val="0EA5E9">
                <a:alpha val="40000"/>
              </a:srgbClr>
            </a:solidFill>
            <a:prstDash val="solid"/>
          </a:ln>
        </p:spPr>
        <p:txBody>
          <a:bodyPr/>
          <a:lstStyle/>
          <a:p>
            <a:endParaRPr lang="en-US"/>
          </a:p>
        </p:txBody>
      </p:sp>
      <p:sp>
        <p:nvSpPr>
          <p:cNvPr id="6" name="Shape 4"/>
          <p:cNvSpPr/>
          <p:nvPr/>
        </p:nvSpPr>
        <p:spPr>
          <a:xfrm>
            <a:off x="457200" y="1078992"/>
            <a:ext cx="4023360" cy="333756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7" name="Shape 5"/>
          <p:cNvSpPr/>
          <p:nvPr/>
        </p:nvSpPr>
        <p:spPr>
          <a:xfrm>
            <a:off x="457200" y="1078992"/>
            <a:ext cx="54864" cy="3337560"/>
          </a:xfrm>
          <a:prstGeom prst="rect">
            <a:avLst/>
          </a:prstGeom>
          <a:solidFill>
            <a:srgbClr val="0EA5E9"/>
          </a:solidFill>
          <a:ln w="12700">
            <a:solidFill>
              <a:srgbClr val="0EA5E9"/>
            </a:solidFill>
            <a:prstDash val="solid"/>
          </a:ln>
        </p:spPr>
        <p:txBody>
          <a:bodyPr/>
          <a:lstStyle/>
          <a:p>
            <a:endParaRPr lang="en-US"/>
          </a:p>
        </p:txBody>
      </p:sp>
      <p:sp>
        <p:nvSpPr>
          <p:cNvPr id="8" name="Text 6"/>
          <p:cNvSpPr/>
          <p:nvPr/>
        </p:nvSpPr>
        <p:spPr>
          <a:xfrm>
            <a:off x="658368" y="1152144"/>
            <a:ext cx="3566160" cy="329184"/>
          </a:xfrm>
          <a:prstGeom prst="rect">
            <a:avLst/>
          </a:prstGeom>
          <a:noFill/>
          <a:ln/>
        </p:spPr>
        <p:txBody>
          <a:bodyPr wrap="square" lIns="0" tIns="0" rIns="0" bIns="0" rtlCol="0" anchor="ctr"/>
          <a:lstStyle/>
          <a:p>
            <a:pPr marL="0" indent="0" algn="l">
              <a:buNone/>
            </a:pPr>
            <a:r>
              <a:rPr lang="en-US" sz="1400" b="1">
                <a:solidFill>
                  <a:srgbClr val="0EA5E9"/>
                </a:solidFill>
                <a:latin typeface="Trebuchet MS" pitchFamily="34" charset="0"/>
                <a:ea typeface="Trebuchet MS" pitchFamily="34" charset="-122"/>
                <a:cs typeface="Trebuchet MS" pitchFamily="34" charset="-120"/>
              </a:rPr>
              <a:t>What We Built</a:t>
            </a:r>
            <a:endParaRPr lang="en-US" sz="1400"/>
          </a:p>
        </p:txBody>
      </p:sp>
      <p:sp>
        <p:nvSpPr>
          <p:cNvPr id="9" name="Text 7"/>
          <p:cNvSpPr/>
          <p:nvPr/>
        </p:nvSpPr>
        <p:spPr>
          <a:xfrm>
            <a:off x="658368" y="1554480"/>
            <a:ext cx="3657600" cy="2743200"/>
          </a:xfrm>
          <a:prstGeom prst="rect">
            <a:avLst/>
          </a:prstGeom>
          <a:noFill/>
          <a:ln/>
        </p:spPr>
        <p:txBody>
          <a:bodyPr wrap="square" lIns="0" tIns="0" rIns="0" bIns="0" rtlCol="0" anchor="ctr"/>
          <a:lstStyle/>
          <a:p>
            <a:pPr marL="0" indent="0" algn="l">
              <a:spcAft>
                <a:spcPts val="700"/>
              </a:spcAft>
              <a:buNone/>
            </a:pPr>
            <a:r>
              <a:rPr lang="en-US" sz="1050" b="1">
                <a:solidFill>
                  <a:srgbClr val="10B981"/>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Fully local RAG — no internet, no API keys</a:t>
            </a:r>
            <a:endParaRPr lang="en-US" sz="1050"/>
          </a:p>
          <a:p>
            <a:pPr marL="0" indent="0" algn="l">
              <a:spcAft>
                <a:spcPts val="700"/>
              </a:spcAft>
              <a:buNone/>
            </a:pPr>
            <a:r>
              <a:rPr lang="en-US" sz="1050" b="1">
                <a:solidFill>
                  <a:srgbClr val="10B981"/>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63 US National Parks knowledge base</a:t>
            </a:r>
            <a:endParaRPr lang="en-US" sz="1050"/>
          </a:p>
          <a:p>
            <a:pPr marL="0" indent="0" algn="l">
              <a:spcAft>
                <a:spcPts val="700"/>
              </a:spcAft>
              <a:buNone/>
            </a:pPr>
            <a:r>
              <a:rPr lang="en-US" sz="1050" b="1">
                <a:solidFill>
                  <a:srgbClr val="10B981"/>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Semantic search: ChromaDB + nomic-embed-text</a:t>
            </a:r>
            <a:endParaRPr lang="en-US" sz="1050"/>
          </a:p>
          <a:p>
            <a:pPr marL="0" indent="0" algn="l">
              <a:spcAft>
                <a:spcPts val="700"/>
              </a:spcAft>
              <a:buNone/>
            </a:pPr>
            <a:r>
              <a:rPr lang="en-US" sz="1050" b="1">
                <a:solidFill>
                  <a:srgbClr val="10B981"/>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Local LLM: gemma2:2b via Ollama</a:t>
            </a:r>
            <a:endParaRPr lang="en-US" sz="1050"/>
          </a:p>
          <a:p>
            <a:pPr marL="0" indent="0" algn="l">
              <a:spcAft>
                <a:spcPts val="700"/>
              </a:spcAft>
              <a:buNone/>
            </a:pPr>
            <a:r>
              <a:rPr lang="en-US" sz="1050" b="1">
                <a:solidFill>
                  <a:srgbClr val="10B981"/>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Multi-turn conversation memory</a:t>
            </a:r>
            <a:endParaRPr lang="en-US" sz="1050"/>
          </a:p>
          <a:p>
            <a:pPr marL="0" indent="0" algn="l">
              <a:spcAft>
                <a:spcPts val="700"/>
              </a:spcAft>
              <a:buNone/>
            </a:pPr>
            <a:r>
              <a:rPr lang="en-US" sz="1050" b="1">
                <a:solidFill>
                  <a:srgbClr val="10B981"/>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Streamlit web chat interface</a:t>
            </a:r>
            <a:endParaRPr lang="en-US" sz="1050"/>
          </a:p>
          <a:p>
            <a:pPr marL="0" indent="0" algn="l">
              <a:spcAft>
                <a:spcPts val="700"/>
              </a:spcAft>
              <a:buNone/>
            </a:pPr>
            <a:r>
              <a:rPr lang="en-US" sz="1050" b="1">
                <a:solidFill>
                  <a:srgbClr val="10B981"/>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Evaluation: Precision, Recall, Faithfulness, Latency</a:t>
            </a:r>
            <a:endParaRPr lang="en-US" sz="1050"/>
          </a:p>
        </p:txBody>
      </p:sp>
      <p:sp>
        <p:nvSpPr>
          <p:cNvPr id="10" name="Shape 8"/>
          <p:cNvSpPr/>
          <p:nvPr/>
        </p:nvSpPr>
        <p:spPr>
          <a:xfrm>
            <a:off x="4663440" y="1078992"/>
            <a:ext cx="4023360" cy="3337560"/>
          </a:xfrm>
          <a:prstGeom prst="rect">
            <a:avLst/>
          </a:prstGeom>
          <a:solidFill>
            <a:srgbClr val="111827"/>
          </a:solidFill>
          <a:ln w="12700">
            <a:solidFill>
              <a:srgbClr val="1E293B"/>
            </a:solidFill>
            <a:prstDash val="solid"/>
          </a:ln>
          <a:effectLst>
            <a:outerShdw blurRad="127000" dist="38100" dir="8100000" algn="bl" rotWithShape="0">
              <a:srgbClr val="000000">
                <a:alpha val="35000"/>
              </a:srgbClr>
            </a:outerShdw>
          </a:effectLst>
        </p:spPr>
        <p:txBody>
          <a:bodyPr/>
          <a:lstStyle/>
          <a:p>
            <a:endParaRPr lang="en-US"/>
          </a:p>
        </p:txBody>
      </p:sp>
      <p:sp>
        <p:nvSpPr>
          <p:cNvPr id="11" name="Shape 9"/>
          <p:cNvSpPr/>
          <p:nvPr/>
        </p:nvSpPr>
        <p:spPr>
          <a:xfrm>
            <a:off x="4663440" y="1078992"/>
            <a:ext cx="54864" cy="3337560"/>
          </a:xfrm>
          <a:prstGeom prst="rect">
            <a:avLst/>
          </a:prstGeom>
          <a:solidFill>
            <a:srgbClr val="0EA5E9"/>
          </a:solidFill>
          <a:ln w="12700">
            <a:solidFill>
              <a:srgbClr val="0EA5E9"/>
            </a:solidFill>
            <a:prstDash val="solid"/>
          </a:ln>
        </p:spPr>
        <p:txBody>
          <a:bodyPr/>
          <a:lstStyle/>
          <a:p>
            <a:endParaRPr lang="en-US"/>
          </a:p>
        </p:txBody>
      </p:sp>
      <p:sp>
        <p:nvSpPr>
          <p:cNvPr id="12" name="Text 10"/>
          <p:cNvSpPr/>
          <p:nvPr/>
        </p:nvSpPr>
        <p:spPr>
          <a:xfrm>
            <a:off x="4864608" y="1152144"/>
            <a:ext cx="3566160" cy="329184"/>
          </a:xfrm>
          <a:prstGeom prst="rect">
            <a:avLst/>
          </a:prstGeom>
          <a:noFill/>
          <a:ln/>
        </p:spPr>
        <p:txBody>
          <a:bodyPr wrap="square" lIns="0" tIns="0" rIns="0" bIns="0" rtlCol="0" anchor="ctr"/>
          <a:lstStyle/>
          <a:p>
            <a:pPr marL="0" indent="0" algn="l">
              <a:buNone/>
            </a:pPr>
            <a:r>
              <a:rPr lang="en-US" sz="1400" b="1">
                <a:solidFill>
                  <a:srgbClr val="F59E0B"/>
                </a:solidFill>
                <a:latin typeface="Trebuchet MS" pitchFamily="34" charset="0"/>
                <a:ea typeface="Trebuchet MS" pitchFamily="34" charset="-122"/>
                <a:cs typeface="Trebuchet MS" pitchFamily="34" charset="-120"/>
              </a:rPr>
              <a:t>Future Improvements</a:t>
            </a:r>
            <a:endParaRPr lang="en-US" sz="1400"/>
          </a:p>
        </p:txBody>
      </p:sp>
      <p:sp>
        <p:nvSpPr>
          <p:cNvPr id="13" name="Text 11"/>
          <p:cNvSpPr/>
          <p:nvPr/>
        </p:nvSpPr>
        <p:spPr>
          <a:xfrm>
            <a:off x="4864608" y="1554480"/>
            <a:ext cx="3657600" cy="2743200"/>
          </a:xfrm>
          <a:prstGeom prst="rect">
            <a:avLst/>
          </a:prstGeom>
          <a:noFill/>
          <a:ln/>
        </p:spPr>
        <p:txBody>
          <a:bodyPr wrap="square" lIns="0" tIns="0" rIns="0" bIns="0" rtlCol="0" anchor="ctr"/>
          <a:lstStyle/>
          <a:p>
            <a:pPr marL="0" indent="0" algn="l">
              <a:spcAft>
                <a:spcPts val="700"/>
              </a:spcAft>
              <a:buNone/>
            </a:pPr>
            <a:r>
              <a:rPr lang="en-US" sz="1050" b="1">
                <a:solidFill>
                  <a:srgbClr val="F59E0B"/>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GPU deployment → 8-10 sec vs 3-5 min</a:t>
            </a:r>
            <a:endParaRPr lang="en-US" sz="1050"/>
          </a:p>
          <a:p>
            <a:pPr marL="0" indent="0" algn="l">
              <a:spcAft>
                <a:spcPts val="700"/>
              </a:spcAft>
              <a:buNone/>
            </a:pPr>
            <a:r>
              <a:rPr lang="en-US" sz="1050" b="1">
                <a:solidFill>
                  <a:srgbClr val="F59E0B"/>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PDF and web scraping for richer documents</a:t>
            </a:r>
            <a:endParaRPr lang="en-US" sz="1050"/>
          </a:p>
          <a:p>
            <a:pPr marL="0" indent="0" algn="l">
              <a:spcAft>
                <a:spcPts val="700"/>
              </a:spcAft>
              <a:buNone/>
            </a:pPr>
            <a:r>
              <a:rPr lang="en-US" sz="1050" b="1">
                <a:solidFill>
                  <a:srgbClr val="F59E0B"/>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Upgrade to llama3.1:8b on better hardware</a:t>
            </a:r>
            <a:endParaRPr lang="en-US" sz="1050"/>
          </a:p>
          <a:p>
            <a:pPr marL="0" indent="0" algn="l">
              <a:spcAft>
                <a:spcPts val="700"/>
              </a:spcAft>
              <a:buNone/>
            </a:pPr>
            <a:r>
              <a:rPr lang="en-US" sz="1050" b="1">
                <a:solidFill>
                  <a:srgbClr val="F59E0B"/>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Source citations with page-level references</a:t>
            </a:r>
            <a:endParaRPr lang="en-US" sz="1050"/>
          </a:p>
          <a:p>
            <a:pPr marL="0" indent="0" algn="l">
              <a:spcAft>
                <a:spcPts val="700"/>
              </a:spcAft>
              <a:buNone/>
            </a:pPr>
            <a:r>
              <a:rPr lang="en-US" sz="1050" b="1">
                <a:solidFill>
                  <a:srgbClr val="F59E0B"/>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Expand to all US state parks (1000s of docs)</a:t>
            </a:r>
            <a:endParaRPr lang="en-US" sz="1050"/>
          </a:p>
          <a:p>
            <a:pPr marL="0" indent="0" algn="l">
              <a:spcAft>
                <a:spcPts val="700"/>
              </a:spcAft>
              <a:buNone/>
            </a:pPr>
            <a:r>
              <a:rPr lang="en-US" sz="1050" b="1">
                <a:solidFill>
                  <a:srgbClr val="F59E0B"/>
                </a:solidFill>
                <a:latin typeface="Trebuchet MS" pitchFamily="34" charset="0"/>
                <a:ea typeface="Trebuchet MS" pitchFamily="34" charset="-122"/>
                <a:cs typeface="Trebuchet MS" pitchFamily="34" charset="-120"/>
              </a:rPr>
              <a:t>→  </a:t>
            </a:r>
            <a:r>
              <a:rPr lang="en-US" sz="1050">
                <a:solidFill>
                  <a:srgbClr val="64748B"/>
                </a:solidFill>
                <a:latin typeface="Trebuchet MS" pitchFamily="34" charset="0"/>
                <a:ea typeface="Trebuchet MS" pitchFamily="34" charset="-122"/>
                <a:cs typeface="Trebuchet MS" pitchFamily="34" charset="-120"/>
              </a:rPr>
              <a:t>Re-ranking layer for better precision</a:t>
            </a:r>
            <a:endParaRPr lang="en-US" sz="1050"/>
          </a:p>
        </p:txBody>
      </p:sp>
      <p:sp>
        <p:nvSpPr>
          <p:cNvPr id="14" name="Text 12"/>
          <p:cNvSpPr/>
          <p:nvPr/>
        </p:nvSpPr>
        <p:spPr>
          <a:xfrm>
            <a:off x="457200" y="4572000"/>
            <a:ext cx="8229600" cy="347472"/>
          </a:xfrm>
          <a:prstGeom prst="rect">
            <a:avLst/>
          </a:prstGeom>
          <a:noFill/>
          <a:ln/>
        </p:spPr>
        <p:txBody>
          <a:bodyPr wrap="square" lIns="0" tIns="0" rIns="0" bIns="0" rtlCol="0" anchor="ctr"/>
          <a:lstStyle/>
          <a:p>
            <a:pPr marL="0" indent="0" algn="ctr">
              <a:buNone/>
            </a:pPr>
            <a:r>
              <a:rPr lang="en-US" sz="1100" b="1" i="1">
                <a:solidFill>
                  <a:srgbClr val="0EA5E9"/>
                </a:solidFill>
                <a:latin typeface="Trebuchet MS" pitchFamily="34" charset="0"/>
                <a:ea typeface="Trebuchet MS" pitchFamily="34" charset="-122"/>
                <a:cs typeface="Trebuchet MS" pitchFamily="34" charset="-120"/>
              </a:rPr>
              <a:t>Architecture is modular — swap the LLM, embeddings, or documents by changing one line in CONFIG.</a:t>
            </a:r>
            <a:endParaRPr lang="en-US" sz="1100"/>
          </a:p>
        </p:txBody>
      </p:sp>
      <p:sp>
        <p:nvSpPr>
          <p:cNvPr id="15" name="Text 13"/>
          <p:cNvSpPr/>
          <p:nvPr/>
        </p:nvSpPr>
        <p:spPr>
          <a:xfrm>
            <a:off x="457200" y="4992624"/>
            <a:ext cx="8229600" cy="237744"/>
          </a:xfrm>
          <a:prstGeom prst="rect">
            <a:avLst/>
          </a:prstGeom>
          <a:noFill/>
          <a:ln/>
        </p:spPr>
        <p:txBody>
          <a:bodyPr wrap="square" lIns="0" tIns="0" rIns="0" bIns="0" rtlCol="0" anchor="ctr"/>
          <a:lstStyle/>
          <a:p>
            <a:pPr marL="0" indent="0" algn="ctr">
              <a:buNone/>
            </a:pPr>
            <a:r>
              <a:rPr lang="en-US" sz="800" kern="0" spc="100">
                <a:solidFill>
                  <a:srgbClr val="64748B"/>
                </a:solidFill>
                <a:latin typeface="Trebuchet MS" pitchFamily="34" charset="0"/>
                <a:ea typeface="Trebuchet MS" pitchFamily="34" charset="-122"/>
                <a:cs typeface="Trebuchet MS" pitchFamily="34" charset="-120"/>
              </a:rPr>
              <a:t>BUAN 6V99 Agentic AI  ·  University of Texas at Dallas  ·  Week 6 Assignment</a:t>
            </a:r>
            <a:endParaRPr lang="en-US" sz="8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3054</Words>
  <Application>Microsoft Office PowerPoint</Application>
  <PresentationFormat>On-screen Show (16:9)</PresentationFormat>
  <Paragraphs>299</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USA National Parks RAG Assistant</dc:title>
  <dc:subject>PptxGenJS Presentation</dc:subject>
  <dc:creator>PptxGenJS</dc:creator>
  <cp:lastModifiedBy>Rameshbabu, Naveenkumar</cp:lastModifiedBy>
  <cp:revision>11</cp:revision>
  <dcterms:created xsi:type="dcterms:W3CDTF">2026-03-02T18:23:21Z</dcterms:created>
  <dcterms:modified xsi:type="dcterms:W3CDTF">2026-03-11T16:58:47Z</dcterms:modified>
</cp:coreProperties>
</file>